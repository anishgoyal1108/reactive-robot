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60" r:id="rId6"/>
    <p:sldMasterId id="214748367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4" roundtripDataSignature="AMtx7mgLRzH/soCmbWCHi++Rc9ncrfpRcw=="/>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7" name="Elizabeth Mcglone"/>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1.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11" Type="http://schemas.openxmlformats.org/officeDocument/2006/relationships/slide" Target="slides/slide3.xml"/><Relationship Id="rId33" Type="http://schemas.openxmlformats.org/officeDocument/2006/relationships/slide" Target="slides/slide25.xml"/><Relationship Id="rId10" Type="http://schemas.openxmlformats.org/officeDocument/2006/relationships/slide" Target="slides/slide2.xml"/><Relationship Id="rId32" Type="http://schemas.openxmlformats.org/officeDocument/2006/relationships/slide" Target="slides/slide24.xml"/><Relationship Id="rId13" Type="http://schemas.openxmlformats.org/officeDocument/2006/relationships/slide" Target="slides/slide5.xml"/><Relationship Id="rId12" Type="http://schemas.openxmlformats.org/officeDocument/2006/relationships/slide" Target="slides/slide4.xml"/><Relationship Id="rId34" Type="http://customschemas.google.com/relationships/presentationmetadata" Target="metadata"/><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2-23T23:11:27.344">
    <p:pos x="6000" y="0"/>
    <p:text>Describe the main characteristics of your project (you can use more than one slide)
Keep font size consistent throughout slides
Use Visuals to make presentation engaging!</p:text>
    <p:extLst>
      <p:ext uri="{C676402C-5697-4E1C-873F-D02D1690AC5C}">
        <p15:threadingInfo timeZoneBias="0"/>
      </p:ext>
      <p:ext uri="http://customooxmlschemas.google.com/">
        <go:slidesCustomData xmlns:go="http://customooxmlschemas.google.com/" commentPostId="AAAB0r9D1X4"/>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2-23T23:24:53.427">
    <p:pos x="288" y="893"/>
    <p:text>Describe the main characteristics of your
project (you can use more than one slide)
• Keep font size consistent throughout slides
• Use Visuals to make presentation engaging!</p:text>
    <p:extLst>
      <p:ext uri="{C676402C-5697-4E1C-873F-D02D1690AC5C}">
        <p15:threadingInfo timeZoneBias="0"/>
      </p:ext>
      <p:ext uri="http://customooxmlschemas.google.com/">
        <go:slidesCustomData xmlns:go="http://customooxmlschemas.google.com/" commentPostId="AAAB0sXtBfs"/>
      </p:ext>
    </p:extLs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2-23T23:11:25.015">
    <p:pos x="6000" y="0"/>
    <p:text>What are the reason you decided to propose this project?
Add visuals as appropriate!</p:text>
    <p:extLst>
      <p:ext uri="{C676402C-5697-4E1C-873F-D02D1690AC5C}">
        <p15:threadingInfo timeZoneBias="0"/>
      </p:ext>
      <p:ext uri="http://customooxmlschemas.google.com/">
        <go:slidesCustomData xmlns:go="http://customooxmlschemas.google.com/" commentPostId="AAAB0r9D1X0"/>
      </p:ext>
    </p:extLs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2-23T23:12:06.263">
    <p:pos x="288" y="1008"/>
    <p:text>Discuss about what you consider are the main challenges for the implementation of your project?</p:text>
    <p:extLst>
      <p:ext uri="{C676402C-5697-4E1C-873F-D02D1690AC5C}">
        <p15:threadingInfo timeZoneBias="0"/>
      </p:ext>
      <p:ext uri="http://customooxmlschemas.google.com/">
        <go:slidesCustomData xmlns:go="http://customooxmlschemas.google.com/" commentPostId="AAAB0r9D1YA"/>
      </p:ext>
    </p:extLs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2-23T23:12:29.547">
    <p:pos x="6000" y="0"/>
    <p:text>Talk about any specific design, fabrication, testing implementation details already being solved. 
Include pictures of things implemented with proper labels</p:text>
    <p:extLst>
      <p:ext uri="{C676402C-5697-4E1C-873F-D02D1690AC5C}">
        <p15:threadingInfo timeZoneBias="0"/>
      </p:ext>
      <p:ext uri="http://customooxmlschemas.google.com/">
        <go:slidesCustomData xmlns:go="http://customooxmlschemas.google.com/" commentPostId="AAAB0sXtBfc"/>
      </p:ext>
    </p:extLs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6-02-23T23:12:42.506">
    <p:pos x="288" y="1008"/>
    <p:text>Present any initial results already obtained up to this point (include pictures, video)</p:text>
    <p:extLst>
      <p:ext uri="{C676402C-5697-4E1C-873F-D02D1690AC5C}">
        <p15:threadingInfo timeZoneBias="0"/>
      </p:ext>
      <p:ext uri="http://customooxmlschemas.google.com/">
        <go:slidesCustomData xmlns:go="http://customooxmlschemas.google.com/" commentPostId="AAAB0sXtBfk"/>
      </p:ext>
    </p:extLs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6-02-23T23:13:09.382">
    <p:pos x="287" y="1008"/>
    <p:text>What your team expects to deliver as the final products for your project
Include a guide or manual that will be included in the Appendix section of the final report.</p:text>
    <p:extLst>
      <p:ext uri="{C676402C-5697-4E1C-873F-D02D1690AC5C}">
        <p15:threadingInfo timeZoneBias="0"/>
      </p:ext>
      <p:ext uri="http://customooxmlschemas.google.com/">
        <go:slidesCustomData xmlns:go="http://customooxmlschemas.google.com/" commentPostId="AAAB0sXtBfo"/>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600"/>
              <a:t>Elizabeth:</a:t>
            </a:r>
            <a:r>
              <a:rPr lang="en-US" sz="1600"/>
              <a:t> </a:t>
            </a:r>
            <a:endParaRPr sz="1600"/>
          </a:p>
          <a:p>
            <a:pPr indent="0" lvl="0" marL="0" rtl="0" algn="l">
              <a:spcBef>
                <a:spcPts val="0"/>
              </a:spcBef>
              <a:spcAft>
                <a:spcPts val="0"/>
              </a:spcAft>
              <a:buNone/>
            </a:pPr>
            <a:r>
              <a:rPr lang="en-US" sz="1600">
                <a:solidFill>
                  <a:srgbClr val="222222"/>
                </a:solidFill>
              </a:rPr>
              <a:t>Our project focuses on developing an obstacle-aware robotic arm designed to prevent collisions before contact occurs.</a:t>
            </a:r>
            <a:endParaRPr sz="1600">
              <a:solidFill>
                <a:srgbClr val="222222"/>
              </a:solidFill>
            </a:endParaRPr>
          </a:p>
          <a:p>
            <a:pPr indent="0" lvl="0" marL="0" rtl="0" algn="l">
              <a:lnSpc>
                <a:spcPct val="115000"/>
              </a:lnSpc>
              <a:spcBef>
                <a:spcPts val="1000"/>
              </a:spcBef>
              <a:spcAft>
                <a:spcPts val="0"/>
              </a:spcAft>
              <a:buClr>
                <a:schemeClr val="dk1"/>
              </a:buClr>
              <a:buSzPts val="1100"/>
              <a:buFont typeface="Arial"/>
              <a:buNone/>
            </a:pPr>
            <a:r>
              <a:rPr lang="en-US" sz="1600">
                <a:solidFill>
                  <a:srgbClr val="222222"/>
                </a:solidFill>
              </a:rPr>
              <a:t>Traditional robotic systems either operate inside:</a:t>
            </a:r>
            <a:endParaRPr sz="1600">
              <a:solidFill>
                <a:srgbClr val="222222"/>
              </a:solidFill>
            </a:endParaRPr>
          </a:p>
          <a:p>
            <a:pPr indent="0" lvl="0" marL="0" rtl="0" algn="l">
              <a:lnSpc>
                <a:spcPct val="115000"/>
              </a:lnSpc>
              <a:spcBef>
                <a:spcPts val="1000"/>
              </a:spcBef>
              <a:spcAft>
                <a:spcPts val="0"/>
              </a:spcAft>
              <a:buClr>
                <a:schemeClr val="dk1"/>
              </a:buClr>
              <a:buSzPts val="1100"/>
              <a:buFont typeface="Arial"/>
              <a:buNone/>
            </a:pPr>
            <a:r>
              <a:rPr lang="en-US" sz="1600">
                <a:solidFill>
                  <a:srgbClr val="222222"/>
                </a:solidFill>
              </a:rPr>
              <a:t>physical cages </a:t>
            </a:r>
            <a:endParaRPr sz="1600">
              <a:solidFill>
                <a:srgbClr val="222222"/>
              </a:solidFill>
            </a:endParaRPr>
          </a:p>
          <a:p>
            <a:pPr indent="0" lvl="0" marL="0" rtl="0" algn="l">
              <a:lnSpc>
                <a:spcPct val="115000"/>
              </a:lnSpc>
              <a:spcBef>
                <a:spcPts val="1000"/>
              </a:spcBef>
              <a:spcAft>
                <a:spcPts val="0"/>
              </a:spcAft>
              <a:buClr>
                <a:schemeClr val="dk1"/>
              </a:buClr>
              <a:buSzPts val="1100"/>
              <a:buFont typeface="Arial"/>
              <a:buNone/>
            </a:pPr>
            <a:r>
              <a:rPr lang="en-US" sz="1600">
                <a:solidFill>
                  <a:srgbClr val="222222"/>
                </a:solidFill>
              </a:rPr>
              <a:t>or rely on emergency stops after something goes wrong.</a:t>
            </a:r>
            <a:endParaRPr sz="1600">
              <a:solidFill>
                <a:srgbClr val="222222"/>
              </a:solidFill>
            </a:endParaRPr>
          </a:p>
          <a:p>
            <a:pPr indent="0" lvl="0" marL="0" rtl="0" algn="l">
              <a:lnSpc>
                <a:spcPct val="115000"/>
              </a:lnSpc>
              <a:spcBef>
                <a:spcPts val="1000"/>
              </a:spcBef>
              <a:spcAft>
                <a:spcPts val="0"/>
              </a:spcAft>
              <a:buClr>
                <a:schemeClr val="dk1"/>
              </a:buClr>
              <a:buSzPts val="1100"/>
              <a:buFont typeface="Arial"/>
              <a:buNone/>
            </a:pPr>
            <a:r>
              <a:rPr lang="en-US" sz="1600">
                <a:solidFill>
                  <a:srgbClr val="222222"/>
                </a:solidFill>
              </a:rPr>
              <a:t> Instead of reacting after contact, our system detects obstacles early and adjusts motion in real time.</a:t>
            </a:r>
            <a:endParaRPr sz="1600">
              <a:solidFill>
                <a:srgbClr val="222222"/>
              </a:solidFill>
            </a:endParaRPr>
          </a:p>
          <a:p>
            <a:pPr indent="0" lvl="0" marL="0" rtl="0" algn="l">
              <a:lnSpc>
                <a:spcPct val="115000"/>
              </a:lnSpc>
              <a:spcBef>
                <a:spcPts val="1000"/>
              </a:spcBef>
              <a:spcAft>
                <a:spcPts val="0"/>
              </a:spcAft>
              <a:buClr>
                <a:schemeClr val="dk1"/>
              </a:buClr>
              <a:buSzPts val="1100"/>
              <a:buFont typeface="Arial"/>
              <a:buNone/>
            </a:pPr>
            <a:r>
              <a:rPr lang="en-US" sz="1600">
                <a:solidFill>
                  <a:srgbClr val="222222"/>
                </a:solidFill>
              </a:rPr>
              <a:t>We are using a Braccio 5-degree-of-freedom servo robotic arm as our hardware platform. </a:t>
            </a:r>
            <a:endParaRPr sz="1600">
              <a:solidFill>
                <a:srgbClr val="222222"/>
              </a:solidFill>
            </a:endParaRPr>
          </a:p>
          <a:p>
            <a:pPr indent="0" lvl="0" marL="0" rtl="0" algn="l">
              <a:lnSpc>
                <a:spcPct val="115000"/>
              </a:lnSpc>
              <a:spcBef>
                <a:spcPts val="1000"/>
              </a:spcBef>
              <a:spcAft>
                <a:spcPts val="0"/>
              </a:spcAft>
              <a:buClr>
                <a:schemeClr val="dk1"/>
              </a:buClr>
              <a:buSzPts val="1100"/>
              <a:buFont typeface="Arial"/>
              <a:buNone/>
            </a:pPr>
            <a:r>
              <a:rPr lang="en-US" sz="1600">
                <a:solidFill>
                  <a:srgbClr val="222222"/>
                </a:solidFill>
              </a:rPr>
              <a:t>To improve safety, we integrated both Time-of-Flight and Infrared sensors. </a:t>
            </a:r>
            <a:endParaRPr sz="1600">
              <a:solidFill>
                <a:srgbClr val="222222"/>
              </a:solidFill>
            </a:endParaRPr>
          </a:p>
          <a:p>
            <a:pPr indent="0" lvl="0" marL="0" rtl="0" algn="l">
              <a:lnSpc>
                <a:spcPct val="115000"/>
              </a:lnSpc>
              <a:spcBef>
                <a:spcPts val="1000"/>
              </a:spcBef>
              <a:spcAft>
                <a:spcPts val="0"/>
              </a:spcAft>
              <a:buClr>
                <a:schemeClr val="dk1"/>
              </a:buClr>
              <a:buSzPts val="1100"/>
              <a:buFont typeface="Arial"/>
              <a:buNone/>
            </a:pPr>
            <a:r>
              <a:rPr lang="en-US" sz="1600">
                <a:solidFill>
                  <a:srgbClr val="222222"/>
                </a:solidFill>
              </a:rPr>
              <a:t>These sensors create a two-layer detection system that monitors the workspace continuously.</a:t>
            </a:r>
            <a:endParaRPr sz="1600">
              <a:solidFill>
                <a:srgbClr val="222222"/>
              </a:solidFill>
            </a:endParaRPr>
          </a:p>
          <a:p>
            <a:pPr indent="0" lvl="0" marL="0" rtl="0" algn="l">
              <a:lnSpc>
                <a:spcPct val="115000"/>
              </a:lnSpc>
              <a:spcBef>
                <a:spcPts val="1000"/>
              </a:spcBef>
              <a:spcAft>
                <a:spcPts val="0"/>
              </a:spcAft>
              <a:buClr>
                <a:schemeClr val="dk1"/>
              </a:buClr>
              <a:buSzPts val="1100"/>
              <a:buFont typeface="Arial"/>
              <a:buNone/>
            </a:pPr>
            <a:r>
              <a:rPr lang="en-US" sz="1600">
                <a:solidFill>
                  <a:srgbClr val="222222"/>
                </a:solidFill>
              </a:rPr>
              <a:t>If an object enters the workspace, the arm can automatically slow down and reroute to avoid obstacles, creating proactive safety.</a:t>
            </a:r>
            <a:endParaRPr sz="1600">
              <a:solidFill>
                <a:srgbClr val="222222"/>
              </a:solidFill>
            </a:endParaRPr>
          </a:p>
          <a:p>
            <a:pPr indent="0" lvl="0" marL="0" rtl="0" algn="l">
              <a:spcBef>
                <a:spcPts val="1000"/>
              </a:spcBef>
              <a:spcAft>
                <a:spcPts val="0"/>
              </a:spcAft>
              <a:buNone/>
            </a:pPr>
            <a:r>
              <a:t/>
            </a:r>
            <a:endParaRPr sz="1600">
              <a:solidFill>
                <a:schemeClr val="dk1"/>
              </a:solidFill>
            </a:endParaRPr>
          </a:p>
        </p:txBody>
      </p:sp>
      <p:sp>
        <p:nvSpPr>
          <p:cNvPr id="226" name="Google Shape;22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ca920755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700">
                <a:solidFill>
                  <a:schemeClr val="dk1"/>
                </a:solidFill>
              </a:rPr>
              <a:t>Elizabeth: </a:t>
            </a:r>
            <a:r>
              <a:rPr lang="en-US" sz="1700"/>
              <a:t>“</a:t>
            </a:r>
            <a:endParaRPr sz="1700"/>
          </a:p>
          <a:p>
            <a:pPr indent="0" lvl="0" marL="0" rtl="0" algn="l">
              <a:lnSpc>
                <a:spcPct val="115000"/>
              </a:lnSpc>
              <a:spcBef>
                <a:spcPts val="1000"/>
              </a:spcBef>
              <a:spcAft>
                <a:spcPts val="0"/>
              </a:spcAft>
              <a:buClr>
                <a:schemeClr val="dk1"/>
              </a:buClr>
              <a:buSzPts val="1100"/>
              <a:buFont typeface="Arial"/>
              <a:buNone/>
            </a:pPr>
            <a:r>
              <a:rPr lang="en-US" sz="1600">
                <a:solidFill>
                  <a:srgbClr val="222222"/>
                </a:solidFill>
              </a:rPr>
              <a:t>At a high level, the robotic arm follows a planned trajectory generated using inverse kinematics.</a:t>
            </a:r>
            <a:endParaRPr sz="1600">
              <a:solidFill>
                <a:srgbClr val="222222"/>
              </a:solidFill>
            </a:endParaRPr>
          </a:p>
          <a:p>
            <a:pPr indent="0" lvl="0" marL="0" rtl="0" algn="l">
              <a:lnSpc>
                <a:spcPct val="115000"/>
              </a:lnSpc>
              <a:spcBef>
                <a:spcPts val="1000"/>
              </a:spcBef>
              <a:spcAft>
                <a:spcPts val="0"/>
              </a:spcAft>
              <a:buClr>
                <a:schemeClr val="dk1"/>
              </a:buClr>
              <a:buSzPts val="1100"/>
              <a:buFont typeface="Arial"/>
              <a:buNone/>
            </a:pPr>
            <a:r>
              <a:t/>
            </a:r>
            <a:endParaRPr sz="1600">
              <a:solidFill>
                <a:srgbClr val="222222"/>
              </a:solidFill>
            </a:endParaRPr>
          </a:p>
          <a:p>
            <a:pPr indent="0" lvl="0" marL="0" rtl="0" algn="l">
              <a:lnSpc>
                <a:spcPct val="115000"/>
              </a:lnSpc>
              <a:spcBef>
                <a:spcPts val="1000"/>
              </a:spcBef>
              <a:spcAft>
                <a:spcPts val="0"/>
              </a:spcAft>
              <a:buClr>
                <a:schemeClr val="dk1"/>
              </a:buClr>
              <a:buSzPts val="1100"/>
              <a:buFont typeface="Arial"/>
              <a:buNone/>
            </a:pPr>
            <a:r>
              <a:rPr lang="en-US" sz="1600">
                <a:solidFill>
                  <a:srgbClr val="222222"/>
                </a:solidFill>
              </a:rPr>
              <a:t>While it operates, the Time-of-Flight and Infrared sensors continuously monitor the workspace and feed real-time distance data to the controller.</a:t>
            </a:r>
            <a:endParaRPr sz="1600">
              <a:solidFill>
                <a:srgbClr val="222222"/>
              </a:solidFill>
            </a:endParaRPr>
          </a:p>
          <a:p>
            <a:pPr indent="0" lvl="0" marL="0" rtl="0" algn="l">
              <a:lnSpc>
                <a:spcPct val="115000"/>
              </a:lnSpc>
              <a:spcBef>
                <a:spcPts val="1000"/>
              </a:spcBef>
              <a:spcAft>
                <a:spcPts val="0"/>
              </a:spcAft>
              <a:buClr>
                <a:schemeClr val="dk1"/>
              </a:buClr>
              <a:buSzPts val="1100"/>
              <a:buFont typeface="Arial"/>
              <a:buNone/>
            </a:pPr>
            <a:r>
              <a:t/>
            </a:r>
            <a:endParaRPr sz="1600">
              <a:solidFill>
                <a:srgbClr val="222222"/>
              </a:solidFill>
            </a:endParaRPr>
          </a:p>
          <a:p>
            <a:pPr indent="0" lvl="0" marL="0" rtl="0" algn="l">
              <a:lnSpc>
                <a:spcPct val="115000"/>
              </a:lnSpc>
              <a:spcBef>
                <a:spcPts val="1000"/>
              </a:spcBef>
              <a:spcAft>
                <a:spcPts val="0"/>
              </a:spcAft>
              <a:buClr>
                <a:schemeClr val="dk1"/>
              </a:buClr>
              <a:buSzPts val="1100"/>
              <a:buFont typeface="Arial"/>
              <a:buNone/>
            </a:pPr>
            <a:r>
              <a:rPr lang="en-US" sz="1600">
                <a:solidFill>
                  <a:srgbClr val="222222"/>
                </a:solidFill>
              </a:rPr>
              <a:t>If an obstacle is detected within a critical region, the system does not simply stop. </a:t>
            </a:r>
            <a:endParaRPr sz="1600">
              <a:solidFill>
                <a:srgbClr val="222222"/>
              </a:solidFill>
            </a:endParaRPr>
          </a:p>
          <a:p>
            <a:pPr indent="0" lvl="0" marL="0" rtl="0" algn="l">
              <a:lnSpc>
                <a:spcPct val="115000"/>
              </a:lnSpc>
              <a:spcBef>
                <a:spcPts val="1000"/>
              </a:spcBef>
              <a:spcAft>
                <a:spcPts val="0"/>
              </a:spcAft>
              <a:buClr>
                <a:schemeClr val="dk1"/>
              </a:buClr>
              <a:buSzPts val="1100"/>
              <a:buFont typeface="Arial"/>
              <a:buNone/>
            </a:pPr>
            <a:r>
              <a:rPr lang="en-US" sz="1600">
                <a:solidFill>
                  <a:srgbClr val="222222"/>
                </a:solidFill>
              </a:rPr>
              <a:t>Instead, it recalculates a safe trajectory and adjusts the joint motion to reroute around the obstacle.</a:t>
            </a:r>
            <a:endParaRPr sz="1600">
              <a:solidFill>
                <a:srgbClr val="222222"/>
              </a:solidFill>
            </a:endParaRPr>
          </a:p>
          <a:p>
            <a:pPr indent="0" lvl="0" marL="0" rtl="0" algn="l">
              <a:lnSpc>
                <a:spcPct val="115000"/>
              </a:lnSpc>
              <a:spcBef>
                <a:spcPts val="1000"/>
              </a:spcBef>
              <a:spcAft>
                <a:spcPts val="0"/>
              </a:spcAft>
              <a:buClr>
                <a:schemeClr val="dk1"/>
              </a:buClr>
              <a:buSzPts val="1100"/>
              <a:buFont typeface="Arial"/>
              <a:buNone/>
            </a:pPr>
            <a:r>
              <a:t/>
            </a:r>
            <a:endParaRPr sz="1600">
              <a:solidFill>
                <a:srgbClr val="222222"/>
              </a:solidFill>
            </a:endParaRPr>
          </a:p>
          <a:p>
            <a:pPr indent="0" lvl="0" marL="0" rtl="0" algn="l">
              <a:lnSpc>
                <a:spcPct val="115000"/>
              </a:lnSpc>
              <a:spcBef>
                <a:spcPts val="1000"/>
              </a:spcBef>
              <a:spcAft>
                <a:spcPts val="0"/>
              </a:spcAft>
              <a:buClr>
                <a:schemeClr val="dk1"/>
              </a:buClr>
              <a:buSzPts val="1100"/>
              <a:buFont typeface="Arial"/>
              <a:buNone/>
            </a:pPr>
            <a:r>
              <a:rPr lang="en-US" sz="1600">
                <a:solidFill>
                  <a:srgbClr val="222222"/>
                </a:solidFill>
              </a:rPr>
              <a:t>Only if a safe path cannot be determined does the arm enter a controlled stop state.</a:t>
            </a:r>
            <a:endParaRPr sz="1600">
              <a:solidFill>
                <a:srgbClr val="222222"/>
              </a:solidFill>
            </a:endParaRPr>
          </a:p>
          <a:p>
            <a:pPr indent="0" lvl="0" marL="0" rtl="0" algn="l">
              <a:lnSpc>
                <a:spcPct val="115000"/>
              </a:lnSpc>
              <a:spcBef>
                <a:spcPts val="1000"/>
              </a:spcBef>
              <a:spcAft>
                <a:spcPts val="0"/>
              </a:spcAft>
              <a:buClr>
                <a:schemeClr val="dk1"/>
              </a:buClr>
              <a:buSzPts val="1100"/>
              <a:buFont typeface="Arial"/>
              <a:buNone/>
            </a:pPr>
            <a:r>
              <a:t/>
            </a:r>
            <a:endParaRPr sz="1600">
              <a:solidFill>
                <a:srgbClr val="222222"/>
              </a:solidFill>
            </a:endParaRPr>
          </a:p>
          <a:p>
            <a:pPr indent="0" lvl="0" marL="0" rtl="0" algn="l">
              <a:lnSpc>
                <a:spcPct val="115000"/>
              </a:lnSpc>
              <a:spcBef>
                <a:spcPts val="1000"/>
              </a:spcBef>
              <a:spcAft>
                <a:spcPts val="0"/>
              </a:spcAft>
              <a:buClr>
                <a:schemeClr val="dk1"/>
              </a:buClr>
              <a:buSzPts val="1100"/>
              <a:buFont typeface="Arial"/>
              <a:buNone/>
            </a:pPr>
            <a:r>
              <a:rPr lang="en-US" sz="1600">
                <a:solidFill>
                  <a:srgbClr val="222222"/>
                </a:solidFill>
              </a:rPr>
              <a:t>This allows the system to maintain productivity while intelligently adapting to changes in its environment.</a:t>
            </a:r>
            <a:endParaRPr sz="1600">
              <a:solidFill>
                <a:srgbClr val="222222"/>
              </a:solidFill>
            </a:endParaRPr>
          </a:p>
          <a:p>
            <a:pPr indent="0" lvl="0" marL="0" rtl="0" algn="l">
              <a:spcBef>
                <a:spcPts val="1000"/>
              </a:spcBef>
              <a:spcAft>
                <a:spcPts val="0"/>
              </a:spcAft>
              <a:buNone/>
            </a:pPr>
            <a:r>
              <a:t/>
            </a:r>
            <a:endParaRPr sz="1700">
              <a:solidFill>
                <a:schemeClr val="dk1"/>
              </a:solidFill>
            </a:endParaRPr>
          </a:p>
        </p:txBody>
      </p:sp>
      <p:sp>
        <p:nvSpPr>
          <p:cNvPr id="237" name="Google Shape;237;g3ca9207558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700"/>
              <a:t>Elizabeth</a:t>
            </a:r>
            <a:r>
              <a:rPr b="1" lang="en-US" sz="1700"/>
              <a:t>:</a:t>
            </a:r>
            <a:endParaRPr b="1" sz="1700"/>
          </a:p>
          <a:p>
            <a:pPr indent="0" lvl="0" marL="0" rtl="0" algn="l">
              <a:spcBef>
                <a:spcPts val="0"/>
              </a:spcBef>
              <a:spcAft>
                <a:spcPts val="0"/>
              </a:spcAft>
              <a:buNone/>
            </a:pPr>
            <a:r>
              <a:rPr lang="en-US" sz="1600">
                <a:solidFill>
                  <a:srgbClr val="222222"/>
                </a:solidFill>
              </a:rPr>
              <a:t>Our motivation comes from the way industrial robots are traditionally deployed.</a:t>
            </a:r>
            <a:endParaRPr sz="1600">
              <a:solidFill>
                <a:srgbClr val="222222"/>
              </a:solidFill>
            </a:endParaRPr>
          </a:p>
          <a:p>
            <a:pPr indent="0" lvl="0" marL="0" rtl="0" algn="l">
              <a:lnSpc>
                <a:spcPct val="115000"/>
              </a:lnSpc>
              <a:spcBef>
                <a:spcPts val="1000"/>
              </a:spcBef>
              <a:spcAft>
                <a:spcPts val="0"/>
              </a:spcAft>
              <a:buClr>
                <a:schemeClr val="dk1"/>
              </a:buClr>
              <a:buSzPts val="1100"/>
              <a:buFont typeface="Arial"/>
              <a:buNone/>
            </a:pPr>
            <a:r>
              <a:rPr lang="en-US" sz="1600">
                <a:solidFill>
                  <a:srgbClr val="222222"/>
                </a:solidFill>
              </a:rPr>
              <a:t>Most industrial robots operate inside cages or rely heavily on emergency stop systems. </a:t>
            </a:r>
            <a:endParaRPr sz="1600">
              <a:solidFill>
                <a:srgbClr val="222222"/>
              </a:solidFill>
            </a:endParaRPr>
          </a:p>
          <a:p>
            <a:pPr indent="0" lvl="0" marL="0" rtl="0" algn="l">
              <a:lnSpc>
                <a:spcPct val="115000"/>
              </a:lnSpc>
              <a:spcBef>
                <a:spcPts val="1000"/>
              </a:spcBef>
              <a:spcAft>
                <a:spcPts val="0"/>
              </a:spcAft>
              <a:buClr>
                <a:schemeClr val="dk1"/>
              </a:buClr>
              <a:buSzPts val="1100"/>
              <a:buFont typeface="Arial"/>
              <a:buNone/>
            </a:pPr>
            <a:r>
              <a:rPr lang="en-US" sz="1600">
                <a:solidFill>
                  <a:srgbClr val="222222"/>
                </a:solidFill>
              </a:rPr>
              <a:t>While these approaches improve safety, they reduce flexibility and productivity.</a:t>
            </a:r>
            <a:endParaRPr sz="1600">
              <a:solidFill>
                <a:srgbClr val="222222"/>
              </a:solidFill>
            </a:endParaRPr>
          </a:p>
          <a:p>
            <a:pPr indent="0" lvl="0" marL="0" rtl="0" algn="l">
              <a:lnSpc>
                <a:spcPct val="115000"/>
              </a:lnSpc>
              <a:spcBef>
                <a:spcPts val="1000"/>
              </a:spcBef>
              <a:spcAft>
                <a:spcPts val="0"/>
              </a:spcAft>
              <a:buClr>
                <a:schemeClr val="dk1"/>
              </a:buClr>
              <a:buSzPts val="1100"/>
              <a:buFont typeface="Arial"/>
              <a:buNone/>
            </a:pPr>
            <a:r>
              <a:rPr lang="en-US" sz="1600">
                <a:solidFill>
                  <a:srgbClr val="222222"/>
                </a:solidFill>
              </a:rPr>
              <a:t>At the same time, human–robot shared workspaces are becoming more common, especially in collaborative robotics.</a:t>
            </a:r>
            <a:endParaRPr sz="1600">
              <a:solidFill>
                <a:srgbClr val="222222"/>
              </a:solidFill>
            </a:endParaRPr>
          </a:p>
          <a:p>
            <a:pPr indent="0" lvl="0" marL="0" rtl="0" algn="l">
              <a:lnSpc>
                <a:spcPct val="115000"/>
              </a:lnSpc>
              <a:spcBef>
                <a:spcPts val="1000"/>
              </a:spcBef>
              <a:spcAft>
                <a:spcPts val="0"/>
              </a:spcAft>
              <a:buClr>
                <a:schemeClr val="dk1"/>
              </a:buClr>
              <a:buSzPts val="1100"/>
              <a:buFont typeface="Arial"/>
              <a:buNone/>
            </a:pPr>
            <a:r>
              <a:rPr lang="en-US" sz="1600">
                <a:solidFill>
                  <a:srgbClr val="222222"/>
                </a:solidFill>
              </a:rPr>
              <a:t>This creates a need for safer and smarter interaction methods.</a:t>
            </a:r>
            <a:endParaRPr sz="1600">
              <a:solidFill>
                <a:srgbClr val="222222"/>
              </a:solidFill>
            </a:endParaRPr>
          </a:p>
          <a:p>
            <a:pPr indent="0" lvl="0" marL="0" rtl="0" algn="l">
              <a:lnSpc>
                <a:spcPct val="115000"/>
              </a:lnSpc>
              <a:spcBef>
                <a:spcPts val="1000"/>
              </a:spcBef>
              <a:spcAft>
                <a:spcPts val="0"/>
              </a:spcAft>
              <a:buClr>
                <a:schemeClr val="dk1"/>
              </a:buClr>
              <a:buSzPts val="1100"/>
              <a:buFont typeface="Arial"/>
              <a:buNone/>
            </a:pPr>
            <a:r>
              <a:rPr lang="en-US" sz="1600">
                <a:solidFill>
                  <a:srgbClr val="222222"/>
                </a:solidFill>
              </a:rPr>
              <a:t>Our goal was to build a low-cost platform that allows us to test and demonstrate proactive safety concepts — essentially creating a scaled-down model of how intelligent industrial safety systems could work.”</a:t>
            </a:r>
            <a:endParaRPr sz="1600">
              <a:solidFill>
                <a:srgbClr val="222222"/>
              </a:solidFill>
            </a:endParaRPr>
          </a:p>
          <a:p>
            <a:pPr indent="0" lvl="0" marL="0" rtl="0" algn="l">
              <a:lnSpc>
                <a:spcPct val="115000"/>
              </a:lnSpc>
              <a:spcBef>
                <a:spcPts val="10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sz="1700"/>
          </a:p>
        </p:txBody>
      </p:sp>
      <p:sp>
        <p:nvSpPr>
          <p:cNvPr id="244" name="Google Shape;24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1600"/>
              <a:t>Ariana:</a:t>
            </a:r>
            <a:br>
              <a:rPr lang="en-US" sz="1600"/>
            </a:br>
            <a:br>
              <a:rPr lang="en-US" sz="1600"/>
            </a:br>
            <a:r>
              <a:rPr lang="en-US" sz="1600">
                <a:solidFill>
                  <a:schemeClr val="dk1"/>
                </a:solidFill>
              </a:rPr>
              <a:t>For obstacle detection, we use two different sensor types to provide </a:t>
            </a:r>
            <a:r>
              <a:rPr b="1" lang="en-US" sz="1600">
                <a:solidFill>
                  <a:schemeClr val="dk1"/>
                </a:solidFill>
              </a:rPr>
              <a:t>multi-layer protection</a:t>
            </a:r>
            <a:endParaRPr b="1"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sz="1600">
                <a:solidFill>
                  <a:schemeClr val="dk1"/>
                </a:solidFill>
              </a:rPr>
              <a:t>1. The </a:t>
            </a:r>
            <a:r>
              <a:rPr b="1" lang="en-US" sz="1600">
                <a:solidFill>
                  <a:schemeClr val="dk1"/>
                </a:solidFill>
              </a:rPr>
              <a:t>Time of Flight</a:t>
            </a:r>
            <a:r>
              <a:rPr lang="en-US" sz="1600">
                <a:solidFill>
                  <a:schemeClr val="dk1"/>
                </a:solidFill>
              </a:rPr>
              <a:t> (TOF) sensors - allow the system to detect </a:t>
            </a:r>
            <a:r>
              <a:rPr b="1" lang="en-US" sz="1600">
                <a:solidFill>
                  <a:schemeClr val="dk1"/>
                </a:solidFill>
              </a:rPr>
              <a:t>obstacles</a:t>
            </a:r>
            <a:r>
              <a:rPr lang="en-US" sz="1600">
                <a:solidFill>
                  <a:schemeClr val="dk1"/>
                </a:solidFill>
              </a:rPr>
              <a:t> much sooner. They are highly </a:t>
            </a:r>
            <a:r>
              <a:rPr b="1" lang="en-US" sz="1600">
                <a:solidFill>
                  <a:schemeClr val="dk1"/>
                </a:solidFill>
              </a:rPr>
              <a:t>accurate </a:t>
            </a:r>
            <a:r>
              <a:rPr lang="en-US" sz="1600">
                <a:solidFill>
                  <a:schemeClr val="dk1"/>
                </a:solidFill>
              </a:rPr>
              <a:t>and are less affected by poor lighting conditions or the color of the object's surface. They can detect objects up to </a:t>
            </a:r>
            <a:r>
              <a:rPr b="1" lang="en-US" sz="1600">
                <a:solidFill>
                  <a:schemeClr val="dk1"/>
                </a:solidFill>
              </a:rPr>
              <a:t>4 meters</a:t>
            </a:r>
            <a:r>
              <a:rPr lang="en-US" sz="1600">
                <a:solidFill>
                  <a:schemeClr val="dk1"/>
                </a:solidFill>
              </a:rPr>
              <a:t> away, giving the robot</a:t>
            </a:r>
            <a:r>
              <a:rPr b="1" lang="en-US" sz="1600">
                <a:solidFill>
                  <a:schemeClr val="dk1"/>
                </a:solidFill>
              </a:rPr>
              <a:t> time to move around the object </a:t>
            </a:r>
            <a:r>
              <a:rPr lang="en-US" sz="1600">
                <a:solidFill>
                  <a:schemeClr val="dk1"/>
                </a:solidFill>
              </a:rPr>
              <a:t>rather than stopping abruptly.</a:t>
            </a:r>
            <a:br>
              <a:rPr lang="en-US" sz="1600">
                <a:solidFill>
                  <a:schemeClr val="dk1"/>
                </a:solidFill>
              </a:rPr>
            </a:br>
            <a:br>
              <a:rPr lang="en-US" sz="1600">
                <a:solidFill>
                  <a:schemeClr val="dk1"/>
                </a:solidFill>
              </a:rPr>
            </a:br>
            <a:r>
              <a:rPr lang="en-US" sz="1600">
                <a:solidFill>
                  <a:schemeClr val="dk1"/>
                </a:solidFill>
              </a:rPr>
              <a:t>2. The </a:t>
            </a:r>
            <a:r>
              <a:rPr b="1" lang="en-US" sz="1600">
                <a:solidFill>
                  <a:schemeClr val="dk1"/>
                </a:solidFill>
              </a:rPr>
              <a:t>infrared </a:t>
            </a:r>
            <a:r>
              <a:rPr lang="en-US" sz="1600">
                <a:solidFill>
                  <a:schemeClr val="dk1"/>
                </a:solidFill>
              </a:rPr>
              <a:t>sensors provide </a:t>
            </a:r>
            <a:r>
              <a:rPr b="1" lang="en-US" sz="1600">
                <a:solidFill>
                  <a:schemeClr val="dk1"/>
                </a:solidFill>
              </a:rPr>
              <a:t>360 degree close-range coverage</a:t>
            </a:r>
            <a:r>
              <a:rPr lang="en-US" sz="1600">
                <a:solidFill>
                  <a:schemeClr val="dk1"/>
                </a:solidFill>
              </a:rPr>
              <a:t>. They are also </a:t>
            </a:r>
            <a:r>
              <a:rPr b="1" lang="en-US" sz="1600">
                <a:solidFill>
                  <a:schemeClr val="dk1"/>
                </a:solidFill>
              </a:rPr>
              <a:t>cheap</a:t>
            </a:r>
            <a:r>
              <a:rPr lang="en-US" sz="1600">
                <a:solidFill>
                  <a:schemeClr val="dk1"/>
                </a:solidFill>
              </a:rPr>
              <a:t>, </a:t>
            </a:r>
            <a:r>
              <a:rPr b="1" lang="en-US" sz="1600">
                <a:solidFill>
                  <a:schemeClr val="dk1"/>
                </a:solidFill>
              </a:rPr>
              <a:t>lightweight</a:t>
            </a:r>
            <a:r>
              <a:rPr lang="en-US" sz="1600">
                <a:solidFill>
                  <a:schemeClr val="dk1"/>
                </a:solidFill>
              </a:rPr>
              <a:t>, and easy to </a:t>
            </a:r>
            <a:r>
              <a:rPr b="1" lang="en-US" sz="1600">
                <a:solidFill>
                  <a:schemeClr val="dk1"/>
                </a:solidFill>
              </a:rPr>
              <a:t>mount </a:t>
            </a:r>
            <a:r>
              <a:rPr lang="en-US" sz="1600">
                <a:solidFill>
                  <a:schemeClr val="dk1"/>
                </a:solidFill>
              </a:rPr>
              <a:t>on individual arm links. These sensors are effective at ranges from</a:t>
            </a:r>
            <a:r>
              <a:rPr b="1" lang="en-US" sz="1600">
                <a:solidFill>
                  <a:schemeClr val="dk1"/>
                </a:solidFill>
              </a:rPr>
              <a:t> 4 - 80 centimeters</a:t>
            </a:r>
            <a:r>
              <a:rPr lang="en-US" sz="1600">
                <a:solidFill>
                  <a:schemeClr val="dk1"/>
                </a:solidFill>
              </a:rPr>
              <a:t>.</a:t>
            </a:r>
            <a:br>
              <a:rPr lang="en-US" sz="1600">
                <a:solidFill>
                  <a:schemeClr val="dk1"/>
                </a:solidFill>
              </a:rPr>
            </a:br>
            <a:br>
              <a:rPr lang="en-US" sz="1600">
                <a:solidFill>
                  <a:schemeClr val="dk1"/>
                </a:solidFill>
              </a:rPr>
            </a:br>
            <a:br>
              <a:rPr lang="en-US" sz="1600">
                <a:solidFill>
                  <a:schemeClr val="dk1"/>
                </a:solidFill>
              </a:rPr>
            </a:br>
            <a:r>
              <a:rPr lang="en-US" sz="1600">
                <a:solidFill>
                  <a:schemeClr val="dk1"/>
                </a:solidFill>
              </a:rPr>
              <a:t>Using these two sensors together allows for </a:t>
            </a:r>
            <a:r>
              <a:rPr b="1" lang="en-US" sz="1600">
                <a:solidFill>
                  <a:schemeClr val="dk1"/>
                </a:solidFill>
              </a:rPr>
              <a:t>safe operation</a:t>
            </a:r>
            <a:r>
              <a:rPr lang="en-US" sz="1600">
                <a:solidFill>
                  <a:schemeClr val="dk1"/>
                </a:solidFill>
              </a:rPr>
              <a:t> regardless of the type of </a:t>
            </a:r>
            <a:r>
              <a:rPr b="1" lang="en-US" sz="1600">
                <a:solidFill>
                  <a:schemeClr val="dk1"/>
                </a:solidFill>
              </a:rPr>
              <a:t>interruption.</a:t>
            </a:r>
            <a:endParaRPr b="1" sz="1600"/>
          </a:p>
        </p:txBody>
      </p:sp>
      <p:sp>
        <p:nvSpPr>
          <p:cNvPr id="251" name="Google Shape;25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ca92075584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1600"/>
              <a:t>Ariana:</a:t>
            </a:r>
            <a:r>
              <a:rPr lang="en-US" sz="1600"/>
              <a:t> </a:t>
            </a:r>
            <a:br>
              <a:rPr lang="en-US" sz="1600"/>
            </a:br>
            <a:br>
              <a:rPr lang="en-US" sz="1600"/>
            </a:br>
            <a:r>
              <a:rPr lang="en-US" sz="1600"/>
              <a:t>Although the object avoidance feature has not been</a:t>
            </a:r>
            <a:r>
              <a:rPr b="1" lang="en-US" sz="1600"/>
              <a:t> implemented </a:t>
            </a:r>
            <a:r>
              <a:rPr lang="en-US" sz="1600"/>
              <a:t>yet, here are some of the </a:t>
            </a:r>
            <a:r>
              <a:rPr b="1" lang="en-US" sz="1600"/>
              <a:t>strategies </a:t>
            </a:r>
            <a:r>
              <a:rPr lang="en-US" sz="1600"/>
              <a:t>that we are considering:</a:t>
            </a:r>
            <a:endParaRPr sz="1600"/>
          </a:p>
          <a:p>
            <a:pPr indent="0" lvl="0" marL="0" rtl="0" algn="l">
              <a:lnSpc>
                <a:spcPct val="115000"/>
              </a:lnSpc>
              <a:spcBef>
                <a:spcPts val="1200"/>
              </a:spcBef>
              <a:spcAft>
                <a:spcPts val="0"/>
              </a:spcAft>
              <a:buNone/>
            </a:pPr>
            <a:r>
              <a:rPr lang="en-US" sz="1600"/>
              <a:t>Threshold-based stopping is a simple </a:t>
            </a:r>
            <a:r>
              <a:rPr b="1" lang="en-US" sz="1600"/>
              <a:t>reactive </a:t>
            </a:r>
            <a:r>
              <a:rPr lang="en-US" sz="1600"/>
              <a:t>method which stops the movement of the arm if an object </a:t>
            </a:r>
            <a:r>
              <a:rPr b="1" lang="en-US" sz="1600"/>
              <a:t>breaches </a:t>
            </a:r>
            <a:r>
              <a:rPr lang="en-US" sz="1600"/>
              <a:t>the </a:t>
            </a:r>
            <a:r>
              <a:rPr b="1" lang="en-US" sz="1600"/>
              <a:t>threshold</a:t>
            </a:r>
            <a:r>
              <a:rPr lang="en-US" sz="1600"/>
              <a:t>.</a:t>
            </a:r>
            <a:r>
              <a:rPr lang="en-US" sz="1600"/>
              <a:t> This is common in safety-focused designs, as stated by </a:t>
            </a:r>
            <a:r>
              <a:rPr b="1" lang="en-US" sz="1600"/>
              <a:t>ISO 10 2 18 dash 2</a:t>
            </a:r>
            <a:r>
              <a:rPr lang="en-US" sz="1600"/>
              <a:t>.</a:t>
            </a:r>
            <a:endParaRPr sz="1600"/>
          </a:p>
          <a:p>
            <a:pPr indent="0" lvl="0" marL="0" rtl="0" algn="l">
              <a:lnSpc>
                <a:spcPct val="115000"/>
              </a:lnSpc>
              <a:spcBef>
                <a:spcPts val="1200"/>
              </a:spcBef>
              <a:spcAft>
                <a:spcPts val="0"/>
              </a:spcAft>
              <a:buNone/>
            </a:pPr>
            <a:r>
              <a:rPr b="1" lang="en-US" sz="1600"/>
              <a:t>The Artificial potential fields</a:t>
            </a:r>
            <a:r>
              <a:rPr lang="en-US" sz="1600"/>
              <a:t> models obstacles as </a:t>
            </a:r>
            <a:r>
              <a:rPr b="1" lang="en-US" sz="1600"/>
              <a:t>repulsive forces </a:t>
            </a:r>
            <a:r>
              <a:rPr lang="en-US" sz="1600"/>
              <a:t>and goals as </a:t>
            </a:r>
            <a:r>
              <a:rPr b="1" lang="en-US" sz="1600"/>
              <a:t>attractive forces.</a:t>
            </a:r>
            <a:r>
              <a:rPr lang="en-US" sz="1600"/>
              <a:t> This allows for smoother avoidance behavior.</a:t>
            </a:r>
            <a:endParaRPr sz="1600"/>
          </a:p>
          <a:p>
            <a:pPr indent="0" lvl="0" marL="0" rtl="0" algn="l">
              <a:lnSpc>
                <a:spcPct val="115000"/>
              </a:lnSpc>
              <a:spcBef>
                <a:spcPts val="1200"/>
              </a:spcBef>
              <a:spcAft>
                <a:spcPts val="0"/>
              </a:spcAft>
              <a:buNone/>
            </a:pPr>
            <a:r>
              <a:rPr lang="en-US" sz="1600"/>
              <a:t>Various trajectory replanning approaches, such as </a:t>
            </a:r>
            <a:r>
              <a:rPr b="1" lang="en-US" sz="1600">
                <a:solidFill>
                  <a:schemeClr val="dk1"/>
                </a:solidFill>
              </a:rPr>
              <a:t>s</a:t>
            </a:r>
            <a:r>
              <a:rPr b="1" lang="en-US" sz="1600">
                <a:solidFill>
                  <a:schemeClr val="dk1"/>
                </a:solidFill>
              </a:rPr>
              <a:t>ampling-based,</a:t>
            </a:r>
            <a:r>
              <a:rPr lang="en-US" sz="1600">
                <a:solidFill>
                  <a:schemeClr val="dk1"/>
                </a:solidFill>
              </a:rPr>
              <a:t> are also commonly used in robotics.</a:t>
            </a:r>
            <a:endParaRPr sz="1600"/>
          </a:p>
          <a:p>
            <a:pPr indent="0" lvl="0" marL="0" rtl="0" algn="l">
              <a:spcBef>
                <a:spcPts val="1200"/>
              </a:spcBef>
              <a:spcAft>
                <a:spcPts val="0"/>
              </a:spcAft>
              <a:buNone/>
            </a:pPr>
            <a:r>
              <a:t/>
            </a:r>
            <a:endParaRPr/>
          </a:p>
        </p:txBody>
      </p:sp>
      <p:sp>
        <p:nvSpPr>
          <p:cNvPr id="258" name="Google Shape;258;g3ca92075584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ca9207558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1600"/>
              <a:t>Ariana</a:t>
            </a:r>
            <a:r>
              <a:rPr lang="en-US" sz="1600"/>
              <a:t>: </a:t>
            </a:r>
            <a:endParaRPr sz="1600"/>
          </a:p>
          <a:p>
            <a:pPr indent="0" lvl="0" marL="0" rtl="0" algn="l">
              <a:lnSpc>
                <a:spcPct val="115000"/>
              </a:lnSpc>
              <a:spcBef>
                <a:spcPts val="1200"/>
              </a:spcBef>
              <a:spcAft>
                <a:spcPts val="0"/>
              </a:spcAft>
              <a:buNone/>
            </a:pPr>
            <a:r>
              <a:rPr lang="en-US" sz="1600"/>
              <a:t>Many robotic systems separate sensing and actuation tasks to </a:t>
            </a:r>
            <a:r>
              <a:rPr b="1" lang="en-US" sz="1600"/>
              <a:t>improve reliability </a:t>
            </a:r>
            <a:r>
              <a:rPr lang="en-US" sz="1600"/>
              <a:t>and </a:t>
            </a:r>
            <a:r>
              <a:rPr b="1" lang="en-US" sz="1600"/>
              <a:t>speed</a:t>
            </a:r>
            <a:r>
              <a:rPr lang="en-US" sz="1600"/>
              <a:t>. Embedded control research demonstrate these benefits of </a:t>
            </a:r>
            <a:r>
              <a:rPr b="1" lang="en-US" sz="1600"/>
              <a:t>high-frequency</a:t>
            </a:r>
            <a:r>
              <a:rPr lang="en-US" sz="1600"/>
              <a:t> motor control loops on microcontrollers.</a:t>
            </a:r>
            <a:endParaRPr sz="1600"/>
          </a:p>
          <a:p>
            <a:pPr indent="0" lvl="0" marL="0" rtl="0" algn="l">
              <a:lnSpc>
                <a:spcPct val="115000"/>
              </a:lnSpc>
              <a:spcBef>
                <a:spcPts val="1200"/>
              </a:spcBef>
              <a:spcAft>
                <a:spcPts val="0"/>
              </a:spcAft>
              <a:buNone/>
            </a:pPr>
            <a:r>
              <a:rPr lang="en-US" sz="1600"/>
              <a:t>Evaluation studies also emphasize the importance of feedback and fast response time for </a:t>
            </a:r>
            <a:r>
              <a:rPr b="1" lang="en-US" sz="1600"/>
              <a:t>safety-critical systems</a:t>
            </a:r>
            <a:r>
              <a:rPr lang="en-US" sz="1600"/>
              <a:t>.</a:t>
            </a:r>
            <a:endParaRPr sz="1600"/>
          </a:p>
          <a:p>
            <a:pPr indent="0" lvl="0" marL="0" rtl="0" algn="l">
              <a:lnSpc>
                <a:spcPct val="115000"/>
              </a:lnSpc>
              <a:spcBef>
                <a:spcPts val="1200"/>
              </a:spcBef>
              <a:spcAft>
                <a:spcPts val="0"/>
              </a:spcAft>
              <a:buNone/>
            </a:pPr>
            <a:r>
              <a:rPr lang="en-US" sz="1600"/>
              <a:t>This layered approach directly influenced our architecture: the </a:t>
            </a:r>
            <a:r>
              <a:rPr b="1" lang="en-US" sz="1600"/>
              <a:t>microcontroller </a:t>
            </a:r>
            <a:r>
              <a:rPr lang="en-US" sz="1600"/>
              <a:t>enables </a:t>
            </a:r>
            <a:r>
              <a:rPr b="1" lang="en-US" sz="1600"/>
              <a:t>rapid safety measures</a:t>
            </a:r>
            <a:r>
              <a:rPr lang="en-US" sz="1600"/>
              <a:t>, while the </a:t>
            </a:r>
            <a:r>
              <a:rPr b="1" lang="en-US" sz="1600"/>
              <a:t>PC </a:t>
            </a:r>
            <a:r>
              <a:rPr lang="en-US" sz="1600"/>
              <a:t>enables </a:t>
            </a:r>
            <a:r>
              <a:rPr b="1" lang="en-US" sz="1600"/>
              <a:t>advanced decision making.</a:t>
            </a:r>
            <a:endParaRPr b="1" sz="1600"/>
          </a:p>
          <a:p>
            <a:pPr indent="0" lvl="0" marL="0" rtl="0" algn="l">
              <a:lnSpc>
                <a:spcPct val="115000"/>
              </a:lnSpc>
              <a:spcBef>
                <a:spcPts val="1200"/>
              </a:spcBef>
              <a:spcAft>
                <a:spcPts val="0"/>
              </a:spcAft>
              <a:buNone/>
            </a:pPr>
            <a:r>
              <a:t/>
            </a:r>
            <a:endParaRPr/>
          </a:p>
          <a:p>
            <a:pPr indent="0" lvl="0" marL="0" rtl="0" algn="l">
              <a:spcBef>
                <a:spcPts val="1200"/>
              </a:spcBef>
              <a:spcAft>
                <a:spcPts val="0"/>
              </a:spcAft>
              <a:buNone/>
            </a:pPr>
            <a:r>
              <a:t/>
            </a:r>
            <a:endParaRPr/>
          </a:p>
        </p:txBody>
      </p:sp>
      <p:sp>
        <p:nvSpPr>
          <p:cNvPr id="264" name="Google Shape;264;g3ca92075584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cb2a89b04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Sebastian:</a:t>
            </a:r>
            <a:r>
              <a:rPr lang="en-US">
                <a:solidFill>
                  <a:schemeClr val="dk1"/>
                </a:solidFill>
              </a:rPr>
              <a:t> </a:t>
            </a:r>
            <a:r>
              <a:rPr lang="en-US">
                <a:solidFill>
                  <a:schemeClr val="dk1"/>
                </a:solidFill>
              </a:rPr>
              <a:t>“This slide shows the overall hardware architecture of our robotic arm system. The system is divided into two major sections: the Robotic Arm System on the left and the Sensor Array System on the right. At the center is the Host PC, which acts as the main processing and decision-making unit.”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Robotic Arm System (Left Side)</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“Starting on the left side, this is the robotic arm subsystem.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 are using a 6-degree-of-freedom servo-based robotic arm. Each joint is driven by a servo motor, which provides position control.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To improve feedback and accuracy, we integrate encoders on the joints. These encoders measure the angular position, theta, of each joint. That feedback is sent into the Teensy 4.1 microcontroller.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Teensy acts as the low-level controller. It handles: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PWM signal generation for the motor drivers,</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Data acquisition from the encoders,</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And real-time feedback control of joint positions.</a:t>
            </a:r>
            <a:br>
              <a:rPr lang="en-US">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motor drivers receive control signals from the Teensy and supply the required power to the servos.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So essentially:</a:t>
            </a:r>
            <a:br>
              <a:rPr lang="en-US">
                <a:solidFill>
                  <a:schemeClr val="dk1"/>
                </a:solidFill>
              </a:rPr>
            </a:br>
            <a:r>
              <a:rPr lang="en-US">
                <a:solidFill>
                  <a:schemeClr val="dk1"/>
                </a:solidFill>
              </a:rPr>
              <a:t> Encoders → Teensy → Motor Drivers → Servos → Mechanical Motion.”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Power System</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“In the center of the diagram, we show the 9V DC power supply. This powers the control electronics and motor driver circuitry. Proper power isolation and regulation are important here to reduce noise affecting sensor readings.”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Host PC (Central Intelligence)</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Host PC is the high-level decision-making unit of the system.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It performs three main functions: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US">
                <a:solidFill>
                  <a:schemeClr val="dk1"/>
                </a:solidFill>
              </a:rPr>
              <a:t>Sensor Signal Processing</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Control System Computation</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Trajectory Optimization</a:t>
            </a:r>
            <a:br>
              <a:rPr lang="en-US">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PC receives sensor data from the sensor array and encoder feedback from the arm.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Based on obstacle detection and joint position feedback, it dynamically adjusts the trajectory to prevent collisions in real time.”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Sensor Array System (Right Side)</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“On the right side is our Sensor Array System, which is responsible for environmental awareness.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 divide sensing into two layers: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First, Early Warning ToF Sensors.</a:t>
            </a:r>
            <a:br>
              <a:rPr lang="en-US">
                <a:solidFill>
                  <a:schemeClr val="dk1"/>
                </a:solidFill>
              </a:rPr>
            </a:br>
            <a:r>
              <a:rPr lang="en-US">
                <a:solidFill>
                  <a:schemeClr val="dk1"/>
                </a:solidFill>
              </a:rPr>
              <a:t> These are long-range Time-of-Flight sensors used to detect objects at a distance. They provide an early alert that something is entering the robot’s workspace.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Second, Reactive IR Sensors.</a:t>
            </a:r>
            <a:br>
              <a:rPr lang="en-US">
                <a:solidFill>
                  <a:schemeClr val="dk1"/>
                </a:solidFill>
              </a:rPr>
            </a:br>
            <a:r>
              <a:rPr lang="en-US">
                <a:solidFill>
                  <a:schemeClr val="dk1"/>
                </a:solidFill>
              </a:rPr>
              <a:t> These are short-range infrared sensors used for immediate collision avoidance when an object gets very close.”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Arduino Mega + I2C MUX</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sensors are connected to an Arduino Mega.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 use an I2C multiplexer because multiple ToF sensors share the same I2C address. The multiplexer allows us to sequentially read each sensor independently.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Arduino collects all sensor data and sends it to the Host PC for processing.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So the data flow on this side is:</a:t>
            </a:r>
            <a:br>
              <a:rPr lang="en-US">
                <a:solidFill>
                  <a:schemeClr val="dk1"/>
                </a:solidFill>
              </a:rPr>
            </a:br>
            <a:r>
              <a:rPr lang="en-US">
                <a:solidFill>
                  <a:schemeClr val="dk1"/>
                </a:solidFill>
              </a:rPr>
              <a:t> Sensors → I2C MUX → Arduino Mega → Host PC.”</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System-Level Operation</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“At a system level, the workflow is: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US">
                <a:solidFill>
                  <a:schemeClr val="dk1"/>
                </a:solidFill>
              </a:rPr>
              <a:t>Sensors detect potential obstacles.</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Arduino sends data to the Host PC.</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Host PC evaluates risk and computes an updated trajectory.</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Control signals are sent to the Teensy.</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Teensy generates PWM signals to adjust servo positions.</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Encoders provide feedback to close the control loop.</a:t>
            </a:r>
            <a:br>
              <a:rPr lang="en-US">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creates a closed-loop, sensor-fusion-based collision prevention system.”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Design Justification (Optional if time allows)</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 separated responsibilities intentionally:</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The Teensy handles real-time motor control because it has high-speed PWM capability.</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The Arduino Mega handles multiple sensors due to its larger number of I/O pins.</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The Host PC handles trajectory optimization because those calculations are computationally heavier.</a:t>
            </a:r>
            <a:br>
              <a:rPr lang="en-US">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distributed architecture improves stability, modularity, and scalability.”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
        <p:nvSpPr>
          <p:cNvPr id="270" name="Google Shape;270;g3cb2a89b04c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t>Anish:</a:t>
            </a:r>
            <a:r>
              <a:rPr lang="en-US"/>
              <a:t> </a:t>
            </a:r>
            <a:r>
              <a:rPr lang="en-US"/>
              <a:t>“This slide shows how our software is divided between the embedded controllers on the arm and the Host PC.</a:t>
            </a:r>
            <a:endParaRPr/>
          </a:p>
          <a:p>
            <a:pPr indent="0" lvl="0" marL="0" rtl="0" algn="l">
              <a:lnSpc>
                <a:spcPct val="115000"/>
              </a:lnSpc>
              <a:spcBef>
                <a:spcPts val="1200"/>
              </a:spcBef>
              <a:spcAft>
                <a:spcPts val="0"/>
              </a:spcAft>
              <a:buClr>
                <a:schemeClr val="dk1"/>
              </a:buClr>
              <a:buSzPts val="1100"/>
              <a:buFont typeface="Arial"/>
              <a:buNone/>
            </a:pPr>
            <a:r>
              <a:rPr lang="en-US"/>
              <a:t>On the left side is the embedded, on-arm software written in C/C++ using the Arduino IDE.</a:t>
            </a:r>
            <a:endParaRPr/>
          </a:p>
          <a:p>
            <a:pPr indent="0" lvl="0" marL="0" rtl="0" algn="l">
              <a:lnSpc>
                <a:spcPct val="115000"/>
              </a:lnSpc>
              <a:spcBef>
                <a:spcPts val="1200"/>
              </a:spcBef>
              <a:spcAft>
                <a:spcPts val="0"/>
              </a:spcAft>
              <a:buClr>
                <a:schemeClr val="dk1"/>
              </a:buClr>
              <a:buSzPts val="1100"/>
              <a:buFont typeface="Arial"/>
              <a:buNone/>
            </a:pPr>
            <a:r>
              <a:rPr lang="en-US"/>
              <a:t>The Arduino Mega handles sensor acquisition. It reads data from the IR proximity sensors and the Time-of-Flight sensors through the I2C multiplexer.</a:t>
            </a:r>
            <a:endParaRPr/>
          </a:p>
          <a:p>
            <a:pPr indent="0" lvl="0" marL="0" rtl="0" algn="l">
              <a:lnSpc>
                <a:spcPct val="115000"/>
              </a:lnSpc>
              <a:spcBef>
                <a:spcPts val="1200"/>
              </a:spcBef>
              <a:spcAft>
                <a:spcPts val="0"/>
              </a:spcAft>
              <a:buClr>
                <a:schemeClr val="dk1"/>
              </a:buClr>
              <a:buSzPts val="1100"/>
              <a:buFont typeface="Arial"/>
              <a:buNone/>
            </a:pPr>
            <a:r>
              <a:rPr lang="en-US"/>
              <a:t>The Teensy 4.1 handles real-time motor control. It reads encoder data for joint angle sampling and calibration, generates PWM or step signals, and executes safety interlocks before sending commands to the servos.</a:t>
            </a:r>
            <a:endParaRPr/>
          </a:p>
          <a:p>
            <a:pPr indent="0" lvl="0" marL="0" rtl="0" algn="l">
              <a:lnSpc>
                <a:spcPct val="115000"/>
              </a:lnSpc>
              <a:spcBef>
                <a:spcPts val="1200"/>
              </a:spcBef>
              <a:spcAft>
                <a:spcPts val="0"/>
              </a:spcAft>
              <a:buClr>
                <a:schemeClr val="dk1"/>
              </a:buClr>
              <a:buSzPts val="1100"/>
              <a:buFont typeface="Arial"/>
              <a:buNone/>
            </a:pPr>
            <a:r>
              <a:rPr lang="en-US"/>
              <a:t>At this level, the responsibilities are:</a:t>
            </a:r>
            <a:endParaRPr/>
          </a:p>
          <a:p>
            <a:pPr indent="-298450" lvl="0" marL="457200" rtl="0" algn="l">
              <a:lnSpc>
                <a:spcPct val="115000"/>
              </a:lnSpc>
              <a:spcBef>
                <a:spcPts val="1200"/>
              </a:spcBef>
              <a:spcAft>
                <a:spcPts val="0"/>
              </a:spcAft>
              <a:buClr>
                <a:schemeClr val="dk1"/>
              </a:buClr>
              <a:buSzPts val="1100"/>
              <a:buChar char="●"/>
            </a:pPr>
            <a:r>
              <a:rPr lang="en-US"/>
              <a:t>Sampling sensors and encoders at a fixed rate,</a:t>
            </a:r>
            <a:br>
              <a:rPr lang="en-US"/>
            </a:br>
            <a:endParaRPr/>
          </a:p>
          <a:p>
            <a:pPr indent="-298450" lvl="0" marL="457200" rtl="0" algn="l">
              <a:lnSpc>
                <a:spcPct val="115000"/>
              </a:lnSpc>
              <a:spcBef>
                <a:spcPts val="0"/>
              </a:spcBef>
              <a:spcAft>
                <a:spcPts val="0"/>
              </a:spcAft>
              <a:buClr>
                <a:schemeClr val="dk1"/>
              </a:buClr>
              <a:buSzPts val="1100"/>
              <a:buChar char="●"/>
            </a:pPr>
            <a:r>
              <a:rPr lang="en-US"/>
              <a:t>Filtering or debouncing raw signals,</a:t>
            </a:r>
            <a:br>
              <a:rPr lang="en-US"/>
            </a:br>
            <a:endParaRPr/>
          </a:p>
          <a:p>
            <a:pPr indent="-298450" lvl="0" marL="457200" rtl="0" algn="l">
              <a:lnSpc>
                <a:spcPct val="115000"/>
              </a:lnSpc>
              <a:spcBef>
                <a:spcPts val="0"/>
              </a:spcBef>
              <a:spcAft>
                <a:spcPts val="0"/>
              </a:spcAft>
              <a:buClr>
                <a:schemeClr val="dk1"/>
              </a:buClr>
              <a:buSzPts val="1100"/>
              <a:buChar char="●"/>
            </a:pPr>
            <a:r>
              <a:rPr lang="en-US"/>
              <a:t>Executing safety checks and low-level motor commands.</a:t>
            </a:r>
            <a:br>
              <a:rPr lang="en-US"/>
            </a:br>
            <a:endParaRPr/>
          </a:p>
          <a:p>
            <a:pPr indent="0" lvl="0" marL="0" rtl="0" algn="l">
              <a:lnSpc>
                <a:spcPct val="115000"/>
              </a:lnSpc>
              <a:spcBef>
                <a:spcPts val="1200"/>
              </a:spcBef>
              <a:spcAft>
                <a:spcPts val="0"/>
              </a:spcAft>
              <a:buClr>
                <a:schemeClr val="dk1"/>
              </a:buClr>
              <a:buSzPts val="1100"/>
              <a:buFont typeface="Arial"/>
              <a:buNone/>
            </a:pPr>
            <a:r>
              <a:rPr lang="en-US"/>
              <a:t>On the right side is the Host PC software, implemented in MATLAB or Python.</a:t>
            </a:r>
            <a:endParaRPr/>
          </a:p>
          <a:p>
            <a:pPr indent="0" lvl="0" marL="0" rtl="0" algn="l">
              <a:lnSpc>
                <a:spcPct val="115000"/>
              </a:lnSpc>
              <a:spcBef>
                <a:spcPts val="1200"/>
              </a:spcBef>
              <a:spcAft>
                <a:spcPts val="0"/>
              </a:spcAft>
              <a:buClr>
                <a:schemeClr val="dk1"/>
              </a:buClr>
              <a:buSzPts val="1100"/>
              <a:buFont typeface="Arial"/>
              <a:buNone/>
            </a:pPr>
            <a:r>
              <a:rPr lang="en-US"/>
              <a:t>The Host PC handles higher-level planning and decision-making. The data flow is:</a:t>
            </a:r>
            <a:endParaRPr/>
          </a:p>
          <a:p>
            <a:pPr indent="-298450" lvl="0" marL="457200" rtl="0" algn="l">
              <a:lnSpc>
                <a:spcPct val="115000"/>
              </a:lnSpc>
              <a:spcBef>
                <a:spcPts val="1200"/>
              </a:spcBef>
              <a:spcAft>
                <a:spcPts val="0"/>
              </a:spcAft>
              <a:buClr>
                <a:schemeClr val="dk1"/>
              </a:buClr>
              <a:buSzPts val="1100"/>
              <a:buAutoNum type="arabicPeriod"/>
            </a:pPr>
            <a:r>
              <a:rPr lang="en-US"/>
              <a:t>USB/Serial communication and logging,</a:t>
            </a:r>
            <a:br>
              <a:rPr lang="en-US"/>
            </a:br>
            <a:endParaRPr/>
          </a:p>
          <a:p>
            <a:pPr indent="-298450" lvl="0" marL="457200" rtl="0" algn="l">
              <a:lnSpc>
                <a:spcPct val="115000"/>
              </a:lnSpc>
              <a:spcBef>
                <a:spcPts val="0"/>
              </a:spcBef>
              <a:spcAft>
                <a:spcPts val="0"/>
              </a:spcAft>
              <a:buClr>
                <a:schemeClr val="dk1"/>
              </a:buClr>
              <a:buSzPts val="1100"/>
              <a:buAutoNum type="arabicPeriod"/>
            </a:pPr>
            <a:r>
              <a:rPr lang="en-US"/>
              <a:t>Sensor signal processing and filtering,</a:t>
            </a:r>
            <a:br>
              <a:rPr lang="en-US"/>
            </a:br>
            <a:endParaRPr/>
          </a:p>
          <a:p>
            <a:pPr indent="-298450" lvl="0" marL="457200" rtl="0" algn="l">
              <a:lnSpc>
                <a:spcPct val="115000"/>
              </a:lnSpc>
              <a:spcBef>
                <a:spcPts val="0"/>
              </a:spcBef>
              <a:spcAft>
                <a:spcPts val="0"/>
              </a:spcAft>
              <a:buClr>
                <a:schemeClr val="dk1"/>
              </a:buClr>
              <a:buSzPts val="1100"/>
              <a:buAutoNum type="arabicPeriod"/>
            </a:pPr>
            <a:r>
              <a:rPr lang="en-US"/>
              <a:t>State estimation using forward and inverse kinematics,</a:t>
            </a:r>
            <a:br>
              <a:rPr lang="en-US"/>
            </a:br>
            <a:endParaRPr/>
          </a:p>
          <a:p>
            <a:pPr indent="-298450" lvl="0" marL="457200" rtl="0" algn="l">
              <a:lnSpc>
                <a:spcPct val="115000"/>
              </a:lnSpc>
              <a:spcBef>
                <a:spcPts val="0"/>
              </a:spcBef>
              <a:spcAft>
                <a:spcPts val="0"/>
              </a:spcAft>
              <a:buClr>
                <a:schemeClr val="dk1"/>
              </a:buClr>
              <a:buSzPts val="1100"/>
              <a:buAutoNum type="arabicPeriod"/>
            </a:pPr>
            <a:r>
              <a:rPr lang="en-US"/>
              <a:t>Sensor fusion to build an obstacle proximity model,</a:t>
            </a:r>
            <a:br>
              <a:rPr lang="en-US"/>
            </a:br>
            <a:endParaRPr/>
          </a:p>
          <a:p>
            <a:pPr indent="-298450" lvl="0" marL="457200" rtl="0" algn="l">
              <a:lnSpc>
                <a:spcPct val="115000"/>
              </a:lnSpc>
              <a:spcBef>
                <a:spcPts val="0"/>
              </a:spcBef>
              <a:spcAft>
                <a:spcPts val="0"/>
              </a:spcAft>
              <a:buClr>
                <a:schemeClr val="dk1"/>
              </a:buClr>
              <a:buSzPts val="1100"/>
              <a:buAutoNum type="arabicPeriod"/>
            </a:pPr>
            <a:r>
              <a:rPr lang="en-US"/>
              <a:t>Trajectory replanning for collision avoidance,</a:t>
            </a:r>
            <a:br>
              <a:rPr lang="en-US"/>
            </a:br>
            <a:endParaRPr/>
          </a:p>
          <a:p>
            <a:pPr indent="-298450" lvl="0" marL="457200" rtl="0" algn="l">
              <a:lnSpc>
                <a:spcPct val="115000"/>
              </a:lnSpc>
              <a:spcBef>
                <a:spcPts val="0"/>
              </a:spcBef>
              <a:spcAft>
                <a:spcPts val="0"/>
              </a:spcAft>
              <a:buClr>
                <a:schemeClr val="dk1"/>
              </a:buClr>
              <a:buSzPts val="1100"/>
              <a:buAutoNum type="arabicPeriod"/>
            </a:pPr>
            <a:r>
              <a:rPr lang="en-US"/>
              <a:t>Command generation for updated joint targets and motion profiles.</a:t>
            </a:r>
            <a:br>
              <a:rPr lang="en-US"/>
            </a:br>
            <a:endParaRPr/>
          </a:p>
          <a:p>
            <a:pPr indent="0" lvl="0" marL="0" rtl="0" algn="l">
              <a:lnSpc>
                <a:spcPct val="115000"/>
              </a:lnSpc>
              <a:spcBef>
                <a:spcPts val="1200"/>
              </a:spcBef>
              <a:spcAft>
                <a:spcPts val="0"/>
              </a:spcAft>
              <a:buClr>
                <a:schemeClr val="dk1"/>
              </a:buClr>
              <a:buSzPts val="1100"/>
              <a:buFont typeface="Arial"/>
              <a:buNone/>
            </a:pPr>
            <a:r>
              <a:rPr lang="en-US"/>
              <a:t>The updated joint commands are then sent back to the embedded controllers for execution.</a:t>
            </a:r>
            <a:endParaRPr/>
          </a:p>
          <a:p>
            <a:pPr indent="0" lvl="0" marL="0" rtl="0" algn="l">
              <a:lnSpc>
                <a:spcPct val="115000"/>
              </a:lnSpc>
              <a:spcBef>
                <a:spcPts val="1200"/>
              </a:spcBef>
              <a:spcAft>
                <a:spcPts val="0"/>
              </a:spcAft>
              <a:buClr>
                <a:schemeClr val="dk1"/>
              </a:buClr>
              <a:buSzPts val="1100"/>
              <a:buFont typeface="Arial"/>
              <a:buNone/>
            </a:pPr>
            <a:r>
              <a:rPr lang="en-US"/>
              <a:t>Overall, this separation allows the embedded system to focus on real-time control and safety, while the Host PC handles computationally intensive tasks like kinematics, sensor fusion, and trajectory optimization.”</a:t>
            </a:r>
            <a:endParaRPr/>
          </a:p>
          <a:p>
            <a:pPr indent="0" lvl="0" marL="0" rtl="0" algn="l">
              <a:spcBef>
                <a:spcPts val="1200"/>
              </a:spcBef>
              <a:spcAft>
                <a:spcPts val="0"/>
              </a:spcAft>
              <a:buNone/>
            </a:pPr>
            <a:r>
              <a:t/>
            </a:r>
            <a:endParaRPr/>
          </a:p>
        </p:txBody>
      </p:sp>
      <p:sp>
        <p:nvSpPr>
          <p:cNvPr id="276" name="Google Shape;27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600"/>
              <a:t>Elizabeth: </a:t>
            </a:r>
            <a:endParaRPr b="1" sz="1600"/>
          </a:p>
          <a:p>
            <a:pPr indent="0" lvl="0" marL="0" rtl="0" algn="l">
              <a:lnSpc>
                <a:spcPct val="115000"/>
              </a:lnSpc>
              <a:spcBef>
                <a:spcPts val="1400"/>
              </a:spcBef>
              <a:spcAft>
                <a:spcPts val="0"/>
              </a:spcAft>
              <a:buClr>
                <a:schemeClr val="dk1"/>
              </a:buClr>
              <a:buSzPts val="1100"/>
              <a:buFont typeface="Arial"/>
              <a:buNone/>
            </a:pPr>
            <a:r>
              <a:rPr b="1" lang="en-US" sz="1600">
                <a:solidFill>
                  <a:schemeClr val="dk1"/>
                </a:solidFill>
              </a:rPr>
              <a:t> What This Slide Shows</a:t>
            </a:r>
            <a:endParaRPr b="1"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This slide demonstrates our full project timeline from Week 1 to Week 16.</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Green bars represent work we’ve already completed.</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Blue bars represent work that is still remaining.</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The schedule is organized into three major phases:</a:t>
            </a:r>
            <a:br>
              <a:rPr lang="en-US" sz="1600">
                <a:solidFill>
                  <a:schemeClr val="dk1"/>
                </a:solidFill>
              </a:rPr>
            </a:br>
            <a:endParaRPr sz="1600">
              <a:solidFill>
                <a:schemeClr val="dk1"/>
              </a:solidFill>
            </a:endParaRPr>
          </a:p>
          <a:p>
            <a:pPr indent="-330200" lvl="1" marL="914400" rtl="0" algn="l">
              <a:lnSpc>
                <a:spcPct val="115000"/>
              </a:lnSpc>
              <a:spcBef>
                <a:spcPts val="0"/>
              </a:spcBef>
              <a:spcAft>
                <a:spcPts val="0"/>
              </a:spcAft>
              <a:buClr>
                <a:schemeClr val="dk1"/>
              </a:buClr>
              <a:buSzPts val="1600"/>
              <a:buChar char="○"/>
            </a:pPr>
            <a:r>
              <a:rPr lang="en-US" sz="1600">
                <a:solidFill>
                  <a:schemeClr val="dk1"/>
                </a:solidFill>
              </a:rPr>
              <a:t>Planning and design</a:t>
            </a:r>
            <a:br>
              <a:rPr lang="en-US" sz="1600">
                <a:solidFill>
                  <a:schemeClr val="dk1"/>
                </a:solidFill>
              </a:rPr>
            </a:br>
            <a:endParaRPr sz="1600">
              <a:solidFill>
                <a:schemeClr val="dk1"/>
              </a:solidFill>
            </a:endParaRPr>
          </a:p>
          <a:p>
            <a:pPr indent="-330200" lvl="1" marL="914400" rtl="0" algn="l">
              <a:lnSpc>
                <a:spcPct val="115000"/>
              </a:lnSpc>
              <a:spcBef>
                <a:spcPts val="0"/>
              </a:spcBef>
              <a:spcAft>
                <a:spcPts val="0"/>
              </a:spcAft>
              <a:buClr>
                <a:schemeClr val="dk1"/>
              </a:buClr>
              <a:buSzPts val="1600"/>
              <a:buChar char="○"/>
            </a:pPr>
            <a:r>
              <a:rPr lang="en-US" sz="1600">
                <a:solidFill>
                  <a:schemeClr val="dk1"/>
                </a:solidFill>
              </a:rPr>
              <a:t>Development</a:t>
            </a:r>
            <a:br>
              <a:rPr lang="en-US" sz="1600">
                <a:solidFill>
                  <a:schemeClr val="dk1"/>
                </a:solidFill>
              </a:rPr>
            </a:br>
            <a:endParaRPr sz="1600">
              <a:solidFill>
                <a:schemeClr val="dk1"/>
              </a:solidFill>
            </a:endParaRPr>
          </a:p>
          <a:p>
            <a:pPr indent="-330200" lvl="1" marL="914400" rtl="0" algn="l">
              <a:lnSpc>
                <a:spcPct val="115000"/>
              </a:lnSpc>
              <a:spcBef>
                <a:spcPts val="0"/>
              </a:spcBef>
              <a:spcAft>
                <a:spcPts val="0"/>
              </a:spcAft>
              <a:buClr>
                <a:schemeClr val="dk1"/>
              </a:buClr>
              <a:buSzPts val="1600"/>
              <a:buChar char="○"/>
            </a:pPr>
            <a:r>
              <a:rPr lang="en-US" sz="1600">
                <a:solidFill>
                  <a:schemeClr val="dk1"/>
                </a:solidFill>
              </a:rPr>
              <a:t>Integration, testing, and final deliverables</a:t>
            </a:r>
            <a:br>
              <a:rPr lang="en-US" sz="1600">
                <a:solidFill>
                  <a:schemeClr val="dk1"/>
                </a:solidFill>
              </a:rPr>
            </a:br>
            <a:endParaRPr sz="1600">
              <a:solidFill>
                <a:schemeClr val="dk1"/>
              </a:solidFill>
            </a:endParaRPr>
          </a:p>
          <a:p>
            <a:pPr indent="0" lvl="0" marL="0" rtl="0" algn="l">
              <a:spcBef>
                <a:spcPts val="1200"/>
              </a:spcBef>
              <a:spcAft>
                <a:spcPts val="0"/>
              </a:spcAft>
              <a:buNone/>
            </a:pPr>
            <a:r>
              <a:t/>
            </a:r>
            <a:endParaRPr b="1" sz="1600"/>
          </a:p>
        </p:txBody>
      </p:sp>
      <p:sp>
        <p:nvSpPr>
          <p:cNvPr id="283" name="Google Shape;28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cba2c7a8f9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1200"/>
              </a:spcBef>
              <a:spcAft>
                <a:spcPts val="0"/>
              </a:spcAft>
              <a:buNone/>
            </a:pPr>
            <a:r>
              <a:rPr b="1" lang="en-US" sz="1600">
                <a:solidFill>
                  <a:schemeClr val="dk1"/>
                </a:solidFill>
              </a:rPr>
              <a:t>This slide displays our Early Semester Focus</a:t>
            </a:r>
            <a:endParaRPr b="1" sz="1600">
              <a:solidFill>
                <a:schemeClr val="dk1"/>
              </a:solidFill>
            </a:endParaRPr>
          </a:p>
          <a:p>
            <a:pPr indent="0" lvl="0" marL="457200" rtl="0" algn="l">
              <a:lnSpc>
                <a:spcPct val="115000"/>
              </a:lnSpc>
              <a:spcBef>
                <a:spcPts val="1200"/>
              </a:spcBef>
              <a:spcAft>
                <a:spcPts val="0"/>
              </a:spcAft>
              <a:buNone/>
            </a:pPr>
            <a:r>
              <a:rPr lang="en-US" sz="1600">
                <a:solidFill>
                  <a:schemeClr val="dk1"/>
                </a:solidFill>
              </a:rPr>
              <a:t>* In the first half of the semester, our focus was on planning, research, and initial implementation.</a:t>
            </a:r>
            <a:endParaRPr sz="1600">
              <a:solidFill>
                <a:schemeClr val="dk1"/>
              </a:solidFill>
            </a:endParaRPr>
          </a:p>
          <a:p>
            <a:pPr indent="0" lvl="0" marL="457200" rtl="0" algn="l">
              <a:lnSpc>
                <a:spcPct val="115000"/>
              </a:lnSpc>
              <a:spcBef>
                <a:spcPts val="1200"/>
              </a:spcBef>
              <a:spcAft>
                <a:spcPts val="0"/>
              </a:spcAft>
              <a:buNone/>
            </a:pPr>
            <a:r>
              <a:rPr lang="en-US" sz="1600">
                <a:solidFill>
                  <a:schemeClr val="dk1"/>
                </a:solidFill>
              </a:rPr>
              <a:t>* In weeks 1-4, </a:t>
            </a:r>
            <a:endParaRPr sz="1600">
              <a:solidFill>
                <a:schemeClr val="dk1"/>
              </a:solidFill>
            </a:endParaRPr>
          </a:p>
          <a:p>
            <a:pPr indent="0" lvl="0" marL="457200" rtl="0" algn="l">
              <a:lnSpc>
                <a:spcPct val="115000"/>
              </a:lnSpc>
              <a:spcBef>
                <a:spcPts val="1200"/>
              </a:spcBef>
              <a:spcAft>
                <a:spcPts val="0"/>
              </a:spcAft>
              <a:buNone/>
            </a:pPr>
            <a:r>
              <a:rPr lang="en-US" sz="1600">
                <a:solidFill>
                  <a:schemeClr val="dk1"/>
                </a:solidFill>
              </a:rPr>
              <a:t>    * We completed literature review, component research, and hardware–software block diagrams. </a:t>
            </a:r>
            <a:endParaRPr sz="1600">
              <a:solidFill>
                <a:schemeClr val="dk1"/>
              </a:solidFill>
            </a:endParaRPr>
          </a:p>
          <a:p>
            <a:pPr indent="0" lvl="0" marL="457200" rtl="0" algn="l">
              <a:lnSpc>
                <a:spcPct val="115000"/>
              </a:lnSpc>
              <a:spcBef>
                <a:spcPts val="1200"/>
              </a:spcBef>
              <a:spcAft>
                <a:spcPts val="0"/>
              </a:spcAft>
              <a:buNone/>
            </a:pPr>
            <a:r>
              <a:rPr lang="en-US" sz="1600">
                <a:solidFill>
                  <a:schemeClr val="dk1"/>
                </a:solidFill>
              </a:rPr>
              <a:t>    * We also finalized our CAD modifications and ordered components.</a:t>
            </a:r>
            <a:endParaRPr sz="1600">
              <a:solidFill>
                <a:schemeClr val="dk1"/>
              </a:solidFill>
            </a:endParaRPr>
          </a:p>
          <a:p>
            <a:pPr indent="0" lvl="0" marL="457200" rtl="0" algn="l">
              <a:lnSpc>
                <a:spcPct val="115000"/>
              </a:lnSpc>
              <a:spcBef>
                <a:spcPts val="1200"/>
              </a:spcBef>
              <a:spcAft>
                <a:spcPts val="0"/>
              </a:spcAft>
              <a:buNone/>
            </a:pPr>
            <a:r>
              <a:rPr lang="en-US" sz="1600">
                <a:solidFill>
                  <a:schemeClr val="dk1"/>
                </a:solidFill>
              </a:rPr>
              <a:t>* In weeks 5-8, Once parts arrived, </a:t>
            </a:r>
            <a:endParaRPr sz="1600">
              <a:solidFill>
                <a:schemeClr val="dk1"/>
              </a:solidFill>
            </a:endParaRPr>
          </a:p>
          <a:p>
            <a:pPr indent="0" lvl="0" marL="457200" rtl="0" algn="l">
              <a:lnSpc>
                <a:spcPct val="115000"/>
              </a:lnSpc>
              <a:spcBef>
                <a:spcPts val="1200"/>
              </a:spcBef>
              <a:spcAft>
                <a:spcPts val="0"/>
              </a:spcAft>
              <a:buNone/>
            </a:pPr>
            <a:r>
              <a:rPr lang="en-US" sz="1600">
                <a:solidFill>
                  <a:schemeClr val="dk1"/>
                </a:solidFill>
              </a:rPr>
              <a:t>    * we assembled the power system and 3D printed the sensor mounts for the robotic arm.</a:t>
            </a:r>
            <a:endParaRPr sz="1600">
              <a:solidFill>
                <a:schemeClr val="dk1"/>
              </a:solidFill>
            </a:endParaRPr>
          </a:p>
          <a:p>
            <a:pPr indent="0" lvl="0" marL="457200" rtl="0" algn="l">
              <a:lnSpc>
                <a:spcPct val="115000"/>
              </a:lnSpc>
              <a:spcBef>
                <a:spcPts val="1200"/>
              </a:spcBef>
              <a:spcAft>
                <a:spcPts val="0"/>
              </a:spcAft>
              <a:buNone/>
            </a:pPr>
            <a:r>
              <a:rPr lang="en-US" sz="1600">
                <a:solidFill>
                  <a:schemeClr val="dk1"/>
                </a:solidFill>
              </a:rPr>
              <a:t>    * In parallel, we began base inverse kinematics development and started reactive control programming.</a:t>
            </a:r>
            <a:endParaRPr sz="1600">
              <a:solidFill>
                <a:schemeClr val="dk1"/>
              </a:solidFill>
            </a:endParaRPr>
          </a:p>
          <a:p>
            <a:pPr indent="0" lvl="0" marL="457200" rtl="0" algn="l">
              <a:lnSpc>
                <a:spcPct val="115000"/>
              </a:lnSpc>
              <a:spcBef>
                <a:spcPts val="1200"/>
              </a:spcBef>
              <a:spcAft>
                <a:spcPts val="0"/>
              </a:spcAft>
              <a:buNone/>
            </a:pPr>
            <a:r>
              <a:rPr lang="en-US" sz="1600">
                <a:solidFill>
                  <a:schemeClr val="dk1"/>
                </a:solidFill>
              </a:rPr>
              <a:t>* By mid-semester, we have  a functional arm with sensors mounts and the initial control framework running.</a:t>
            </a:r>
            <a:endParaRPr sz="1600">
              <a:solidFill>
                <a:schemeClr val="dk1"/>
              </a:solidFill>
            </a:endParaRPr>
          </a:p>
          <a:p>
            <a:pPr indent="0" lvl="0" marL="0" rtl="0" algn="l">
              <a:spcBef>
                <a:spcPts val="1200"/>
              </a:spcBef>
              <a:spcAft>
                <a:spcPts val="0"/>
              </a:spcAft>
              <a:buNone/>
            </a:pPr>
            <a:r>
              <a:t/>
            </a:r>
            <a:endParaRPr b="1" sz="1600">
              <a:solidFill>
                <a:schemeClr val="dk1"/>
              </a:solidFill>
            </a:endParaRPr>
          </a:p>
        </p:txBody>
      </p:sp>
      <p:sp>
        <p:nvSpPr>
          <p:cNvPr id="289" name="Google Shape;289;g3cba2c7a8f9_1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cba2c7a8f9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600"/>
              <a:t>Elizabeth: </a:t>
            </a:r>
            <a:endParaRPr b="1" sz="1600"/>
          </a:p>
          <a:p>
            <a:pPr indent="0" lvl="0" marL="0" rtl="0" algn="l">
              <a:lnSpc>
                <a:spcPct val="115000"/>
              </a:lnSpc>
              <a:spcBef>
                <a:spcPts val="1400"/>
              </a:spcBef>
              <a:spcAft>
                <a:spcPts val="0"/>
              </a:spcAft>
              <a:buClr>
                <a:schemeClr val="dk1"/>
              </a:buClr>
              <a:buSzPts val="1100"/>
              <a:buFont typeface="Arial"/>
              <a:buNone/>
            </a:pPr>
            <a:r>
              <a:rPr b="1" lang="en-US" sz="1600">
                <a:solidFill>
                  <a:schemeClr val="dk1"/>
                </a:solidFill>
              </a:rPr>
              <a:t>🔹 This slide displays the second Half of the Semester Focus, weeks 9-16</a:t>
            </a:r>
            <a:endParaRPr b="1" sz="1600">
              <a:solidFill>
                <a:schemeClr val="dk1"/>
              </a:solidFill>
            </a:endParaRPr>
          </a:p>
          <a:p>
            <a:pPr indent="-330200" lvl="0" marL="457200" rtl="0" algn="l">
              <a:lnSpc>
                <a:spcPct val="115000"/>
              </a:lnSpc>
              <a:spcBef>
                <a:spcPts val="1000"/>
              </a:spcBef>
              <a:spcAft>
                <a:spcPts val="0"/>
              </a:spcAft>
              <a:buClr>
                <a:schemeClr val="dk1"/>
              </a:buClr>
              <a:buSzPts val="1600"/>
              <a:buChar char="●"/>
            </a:pPr>
            <a:r>
              <a:rPr lang="en-US" sz="1600">
                <a:solidFill>
                  <a:srgbClr val="222222"/>
                </a:solidFill>
              </a:rPr>
              <a:t>In the second half of the semester, we will shift toward integration, testing, and refinement.</a:t>
            </a:r>
            <a:endParaRPr sz="1600">
              <a:solidFill>
                <a:srgbClr val="222222"/>
              </a:solidFill>
            </a:endParaRPr>
          </a:p>
          <a:p>
            <a:pPr indent="-330200" lvl="0" marL="457200" rtl="0" algn="l">
              <a:lnSpc>
                <a:spcPct val="115000"/>
              </a:lnSpc>
              <a:spcBef>
                <a:spcPts val="0"/>
              </a:spcBef>
              <a:spcAft>
                <a:spcPts val="0"/>
              </a:spcAft>
              <a:buClr>
                <a:schemeClr val="dk1"/>
              </a:buClr>
              <a:buSzPts val="1600"/>
              <a:buChar char="●"/>
            </a:pPr>
            <a:r>
              <a:rPr lang="en-US" sz="1600">
                <a:solidFill>
                  <a:srgbClr val="222222"/>
                </a:solidFill>
              </a:rPr>
              <a:t>This phase includes full system integration, initial testing, debugging, and optimization.</a:t>
            </a:r>
            <a:endParaRPr sz="1600">
              <a:solidFill>
                <a:srgbClr val="222222"/>
              </a:solidFill>
            </a:endParaRPr>
          </a:p>
          <a:p>
            <a:pPr indent="-330200" lvl="0" marL="457200" rtl="0" algn="l">
              <a:lnSpc>
                <a:spcPct val="115000"/>
              </a:lnSpc>
              <a:spcBef>
                <a:spcPts val="0"/>
              </a:spcBef>
              <a:spcAft>
                <a:spcPts val="0"/>
              </a:spcAft>
              <a:buClr>
                <a:schemeClr val="dk1"/>
              </a:buClr>
              <a:buSzPts val="1600"/>
              <a:buChar char="●"/>
            </a:pPr>
            <a:r>
              <a:rPr lang="en-US" sz="1600">
                <a:solidFill>
                  <a:srgbClr val="222222"/>
                </a:solidFill>
              </a:rPr>
              <a:t>We plan on</a:t>
            </a:r>
            <a:r>
              <a:rPr lang="en-US" sz="1600">
                <a:solidFill>
                  <a:srgbClr val="222222"/>
                </a:solidFill>
              </a:rPr>
              <a:t> validating </a:t>
            </a:r>
            <a:r>
              <a:rPr lang="en-US" sz="1600">
                <a:solidFill>
                  <a:srgbClr val="222222"/>
                </a:solidFill>
              </a:rPr>
              <a:t>the control logic through MATLAB simulations and comparing that to physical testing results.</a:t>
            </a:r>
            <a:endParaRPr sz="1600">
              <a:solidFill>
                <a:srgbClr val="222222"/>
              </a:solidFill>
            </a:endParaRPr>
          </a:p>
          <a:p>
            <a:pPr indent="-330200" lvl="0" marL="457200" rtl="0" algn="l">
              <a:lnSpc>
                <a:spcPct val="115000"/>
              </a:lnSpc>
              <a:spcBef>
                <a:spcPts val="0"/>
              </a:spcBef>
              <a:spcAft>
                <a:spcPts val="0"/>
              </a:spcAft>
              <a:buClr>
                <a:schemeClr val="dk1"/>
              </a:buClr>
              <a:buSzPts val="1600"/>
              <a:buChar char="●"/>
            </a:pPr>
            <a:r>
              <a:rPr lang="en-US" sz="1600">
                <a:solidFill>
                  <a:srgbClr val="222222"/>
                </a:solidFill>
              </a:rPr>
              <a:t>We have also built buffer time </a:t>
            </a:r>
            <a:r>
              <a:rPr lang="en-US" sz="1600">
                <a:solidFill>
                  <a:srgbClr val="222222"/>
                </a:solidFill>
              </a:rPr>
              <a:t>before final demonstrations</a:t>
            </a:r>
            <a:r>
              <a:rPr lang="en-US" sz="1600">
                <a:solidFill>
                  <a:srgbClr val="222222"/>
                </a:solidFill>
              </a:rPr>
              <a:t> to allow for troubleshooting.</a:t>
            </a:r>
            <a:endParaRPr sz="1600">
              <a:solidFill>
                <a:srgbClr val="222222"/>
              </a:solidFill>
            </a:endParaRPr>
          </a:p>
          <a:p>
            <a:pPr indent="-330200" lvl="0" marL="457200" rtl="0" algn="l">
              <a:lnSpc>
                <a:spcPct val="115000"/>
              </a:lnSpc>
              <a:spcBef>
                <a:spcPts val="0"/>
              </a:spcBef>
              <a:spcAft>
                <a:spcPts val="0"/>
              </a:spcAft>
              <a:buClr>
                <a:schemeClr val="dk1"/>
              </a:buClr>
              <a:buSzPts val="1600"/>
              <a:buChar char="●"/>
            </a:pPr>
            <a:r>
              <a:rPr lang="en-US" sz="1600">
                <a:solidFill>
                  <a:srgbClr val="222222"/>
                </a:solidFill>
              </a:rPr>
              <a:t>Our goal is to have the system technically complete ahead of the final presentation so that we can focus on stability and demonstration quality.</a:t>
            </a:r>
            <a:endParaRPr sz="1600">
              <a:solidFill>
                <a:srgbClr val="222222"/>
              </a:solidFill>
            </a:endParaRPr>
          </a:p>
          <a:p>
            <a:pPr indent="0" lvl="0" marL="457200" rtl="0" algn="l">
              <a:lnSpc>
                <a:spcPct val="115000"/>
              </a:lnSpc>
              <a:spcBef>
                <a:spcPts val="1200"/>
              </a:spcBef>
              <a:spcAft>
                <a:spcPts val="1200"/>
              </a:spcAft>
              <a:buNone/>
            </a:pPr>
            <a:r>
              <a:t/>
            </a:r>
            <a:endParaRPr b="1" sz="1600">
              <a:solidFill>
                <a:schemeClr val="dk1"/>
              </a:solidFill>
            </a:endParaRPr>
          </a:p>
        </p:txBody>
      </p:sp>
      <p:sp>
        <p:nvSpPr>
          <p:cNvPr id="295" name="Google Shape;295;g3cba2c7a8f9_1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ca9207558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rPr>
              <a:t>Elizabeth:</a:t>
            </a:r>
            <a:r>
              <a:rPr lang="en-US" sz="1600"/>
              <a:t> </a:t>
            </a:r>
            <a:endParaRPr sz="1600"/>
          </a:p>
          <a:p>
            <a:pPr indent="0" lvl="0" marL="0" rtl="0" algn="l">
              <a:lnSpc>
                <a:spcPct val="115000"/>
              </a:lnSpc>
              <a:spcBef>
                <a:spcPts val="1200"/>
              </a:spcBef>
              <a:spcAft>
                <a:spcPts val="0"/>
              </a:spcAft>
              <a:buNone/>
            </a:pPr>
            <a:r>
              <a:rPr lang="en-US" sz="1600">
                <a:solidFill>
                  <a:schemeClr val="dk1"/>
                </a:solidFill>
              </a:rPr>
              <a:t>This slide summarizes the main challenges we have faced so far, especially on the </a:t>
            </a:r>
            <a:r>
              <a:rPr b="1" lang="en-US" sz="1600">
                <a:solidFill>
                  <a:schemeClr val="dk1"/>
                </a:solidFill>
              </a:rPr>
              <a:t>mechanical and integration</a:t>
            </a:r>
            <a:r>
              <a:rPr lang="en-US" sz="1600">
                <a:solidFill>
                  <a:schemeClr val="dk1"/>
                </a:solidFill>
              </a:rPr>
              <a:t> side of the project. </a:t>
            </a:r>
            <a:endParaRPr sz="1600">
              <a:solidFill>
                <a:schemeClr val="dk1"/>
              </a:solidFill>
            </a:endParaRPr>
          </a:p>
          <a:p>
            <a:pPr indent="0" lvl="0" marL="0" rtl="0" algn="l">
              <a:lnSpc>
                <a:spcPct val="115000"/>
              </a:lnSpc>
              <a:spcBef>
                <a:spcPts val="1200"/>
              </a:spcBef>
              <a:spcAft>
                <a:spcPts val="0"/>
              </a:spcAft>
              <a:buNone/>
            </a:pPr>
            <a:r>
              <a:rPr lang="en-US" sz="1600">
                <a:solidFill>
                  <a:schemeClr val="dk1"/>
                </a:solidFill>
              </a:rPr>
              <a:t>Even though our project is mostly about sensing and control, we still had to solve a lot of “real-world” hardware issues to make everything work together.</a:t>
            </a:r>
            <a:endParaRPr sz="1600">
              <a:solidFill>
                <a:schemeClr val="dk1"/>
              </a:solidFill>
            </a:endParaRPr>
          </a:p>
          <a:p>
            <a:pPr indent="0" lvl="0" marL="0" rtl="0" algn="l">
              <a:lnSpc>
                <a:spcPct val="115000"/>
              </a:lnSpc>
              <a:spcBef>
                <a:spcPts val="1200"/>
              </a:spcBef>
              <a:spcAft>
                <a:spcPts val="0"/>
              </a:spcAft>
              <a:buNone/>
            </a:pPr>
            <a:br>
              <a:rPr lang="en-US" sz="1600">
                <a:solidFill>
                  <a:schemeClr val="dk1"/>
                </a:solidFill>
              </a:rPr>
            </a:br>
            <a:r>
              <a:rPr lang="en-US" sz="1600">
                <a:solidFill>
                  <a:srgbClr val="222222"/>
                </a:solidFill>
                <a:highlight>
                  <a:srgbClr val="FFFFFF"/>
                </a:highlight>
              </a:rPr>
              <a:t>“</a:t>
            </a:r>
            <a:r>
              <a:rPr lang="en-US" sz="1600">
                <a:solidFill>
                  <a:srgbClr val="222222"/>
                </a:solidFill>
              </a:rPr>
              <a:t>One of our biggest challenges was scope management.</a:t>
            </a:r>
            <a:endParaRPr sz="1600">
              <a:solidFill>
                <a:srgbClr val="222222"/>
              </a:solidFill>
            </a:endParaRPr>
          </a:p>
          <a:p>
            <a:pPr indent="-330200" lvl="0" marL="457200" rtl="0" algn="l">
              <a:lnSpc>
                <a:spcPct val="115000"/>
              </a:lnSpc>
              <a:spcBef>
                <a:spcPts val="1200"/>
              </a:spcBef>
              <a:spcAft>
                <a:spcPts val="0"/>
              </a:spcAft>
              <a:buClr>
                <a:schemeClr val="dk1"/>
              </a:buClr>
              <a:buSzPts val="1600"/>
              <a:buChar char="●"/>
            </a:pPr>
            <a:r>
              <a:rPr lang="en-US" sz="1600">
                <a:solidFill>
                  <a:srgbClr val="222222"/>
                </a:solidFill>
              </a:rPr>
              <a:t>Originally, we planned to fully 3D-print the robotic arm. </a:t>
            </a:r>
            <a:endParaRPr sz="1600">
              <a:solidFill>
                <a:srgbClr val="222222"/>
              </a:solidFill>
            </a:endParaRPr>
          </a:p>
          <a:p>
            <a:pPr indent="-330200" lvl="0" marL="457200" rtl="0" algn="l">
              <a:lnSpc>
                <a:spcPct val="115000"/>
              </a:lnSpc>
              <a:spcBef>
                <a:spcPts val="0"/>
              </a:spcBef>
              <a:spcAft>
                <a:spcPts val="0"/>
              </a:spcAft>
              <a:buClr>
                <a:schemeClr val="dk1"/>
              </a:buClr>
              <a:buSzPts val="1600"/>
              <a:buChar char="●"/>
            </a:pPr>
            <a:r>
              <a:rPr lang="en-US" sz="1600">
                <a:solidFill>
                  <a:srgbClr val="222222"/>
                </a:solidFill>
              </a:rPr>
              <a:t>However, printing time, assembly complexity, and reliability concerns made that approach unrealistic within one semester.</a:t>
            </a:r>
            <a:endParaRPr sz="1600">
              <a:solidFill>
                <a:srgbClr val="222222"/>
              </a:solidFill>
            </a:endParaRPr>
          </a:p>
          <a:p>
            <a:pPr indent="-330200" lvl="0" marL="457200" rtl="0" algn="l">
              <a:lnSpc>
                <a:spcPct val="115000"/>
              </a:lnSpc>
              <a:spcBef>
                <a:spcPts val="0"/>
              </a:spcBef>
              <a:spcAft>
                <a:spcPts val="0"/>
              </a:spcAft>
              <a:buClr>
                <a:schemeClr val="dk1"/>
              </a:buClr>
              <a:buSzPts val="1600"/>
              <a:buChar char="●"/>
            </a:pPr>
            <a:r>
              <a:rPr lang="en-US" sz="1600">
                <a:solidFill>
                  <a:srgbClr val="222222"/>
                </a:solidFill>
              </a:rPr>
              <a:t>To stay on schedule, we shifted to using the Braccio robotic arm as our platform, obtained through a third party with some servo replacements needed for proper functioning.</a:t>
            </a:r>
            <a:endParaRPr sz="1600">
              <a:solidFill>
                <a:srgbClr val="222222"/>
              </a:solidFill>
            </a:endParaRPr>
          </a:p>
          <a:p>
            <a:pPr indent="-330200" lvl="0" marL="457200" rtl="0" algn="l">
              <a:lnSpc>
                <a:spcPct val="115000"/>
              </a:lnSpc>
              <a:spcBef>
                <a:spcPts val="0"/>
              </a:spcBef>
              <a:spcAft>
                <a:spcPts val="0"/>
              </a:spcAft>
              <a:buClr>
                <a:schemeClr val="dk1"/>
              </a:buClr>
              <a:buSzPts val="1600"/>
              <a:buChar char="●"/>
            </a:pPr>
            <a:r>
              <a:rPr lang="en-US" sz="1600">
                <a:solidFill>
                  <a:srgbClr val="222222"/>
                </a:solidFill>
              </a:rPr>
              <a:t>Even with that change, mounting multiple sensors securely and routing wiring cleanly required careful mechanical design.</a:t>
            </a:r>
            <a:endParaRPr sz="1600">
              <a:solidFill>
                <a:srgbClr val="222222"/>
              </a:solidFill>
            </a:endParaRPr>
          </a:p>
          <a:p>
            <a:pPr indent="-330200" lvl="0" marL="457200" rtl="0" algn="l">
              <a:lnSpc>
                <a:spcPct val="115000"/>
              </a:lnSpc>
              <a:spcBef>
                <a:spcPts val="0"/>
              </a:spcBef>
              <a:spcAft>
                <a:spcPts val="0"/>
              </a:spcAft>
              <a:buClr>
                <a:schemeClr val="dk1"/>
              </a:buClr>
              <a:buSzPts val="1600"/>
              <a:buChar char="●"/>
            </a:pPr>
            <a:r>
              <a:rPr lang="en-US" sz="1600">
                <a:solidFill>
                  <a:srgbClr val="222222"/>
                </a:solidFill>
              </a:rPr>
              <a:t>Another key challenge was preventing interference between sensors while maintaining full workspace coverage.”</a:t>
            </a:r>
            <a:endParaRPr sz="1600">
              <a:solidFill>
                <a:schemeClr val="dk1"/>
              </a:solidFill>
            </a:endParaRPr>
          </a:p>
        </p:txBody>
      </p:sp>
      <p:sp>
        <p:nvSpPr>
          <p:cNvPr id="301" name="Google Shape;301;g3ca92075584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In addition to mechanical challenges, most of the complexity in our project is actually in the software and control system.</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rgbClr val="222222"/>
              </a:buClr>
              <a:buSzPts val="1600"/>
              <a:buChar char="●"/>
            </a:pPr>
            <a:r>
              <a:rPr lang="en-US" sz="1600">
                <a:solidFill>
                  <a:srgbClr val="222222"/>
                </a:solidFill>
              </a:rPr>
              <a:t>“On the software side, implementing inverse kinematics correctly was a major challenge. </a:t>
            </a:r>
            <a:endParaRPr sz="1600">
              <a:solidFill>
                <a:srgbClr val="222222"/>
              </a:solidFill>
            </a:endParaRPr>
          </a:p>
          <a:p>
            <a:pPr indent="-330200" lvl="0" marL="457200" rtl="0" algn="l">
              <a:lnSpc>
                <a:spcPct val="115000"/>
              </a:lnSpc>
              <a:spcBef>
                <a:spcPts val="0"/>
              </a:spcBef>
              <a:spcAft>
                <a:spcPts val="0"/>
              </a:spcAft>
              <a:buClr>
                <a:srgbClr val="222222"/>
              </a:buClr>
              <a:buSzPts val="1600"/>
              <a:buChar char="●"/>
            </a:pPr>
            <a:r>
              <a:rPr lang="en-US" sz="1600">
                <a:solidFill>
                  <a:srgbClr val="222222"/>
                </a:solidFill>
              </a:rPr>
              <a:t>The arm must convert position commands into joint angles accurately while remaining stable.</a:t>
            </a:r>
            <a:endParaRPr sz="1600">
              <a:solidFill>
                <a:srgbClr val="222222"/>
              </a:solidFill>
            </a:endParaRPr>
          </a:p>
          <a:p>
            <a:pPr indent="-330200" lvl="0" marL="457200" rtl="0" algn="l">
              <a:lnSpc>
                <a:spcPct val="115000"/>
              </a:lnSpc>
              <a:spcBef>
                <a:spcPts val="0"/>
              </a:spcBef>
              <a:spcAft>
                <a:spcPts val="0"/>
              </a:spcAft>
              <a:buClr>
                <a:srgbClr val="222222"/>
              </a:buClr>
              <a:buSzPts val="1600"/>
              <a:buChar char="●"/>
            </a:pPr>
            <a:r>
              <a:rPr lang="en-US" sz="1600">
                <a:solidFill>
                  <a:srgbClr val="222222"/>
                </a:solidFill>
              </a:rPr>
              <a:t>We also needed to ensure compatibility between our MATLAB simulations and the physical hardware.</a:t>
            </a:r>
            <a:endParaRPr sz="1600">
              <a:solidFill>
                <a:srgbClr val="222222"/>
              </a:solidFill>
            </a:endParaRPr>
          </a:p>
          <a:p>
            <a:pPr indent="-330200" lvl="0" marL="457200" rtl="0" algn="l">
              <a:lnSpc>
                <a:spcPct val="115000"/>
              </a:lnSpc>
              <a:spcBef>
                <a:spcPts val="0"/>
              </a:spcBef>
              <a:spcAft>
                <a:spcPts val="0"/>
              </a:spcAft>
              <a:buClr>
                <a:srgbClr val="222222"/>
              </a:buClr>
              <a:buSzPts val="1600"/>
              <a:buChar char="●"/>
            </a:pPr>
            <a:r>
              <a:rPr lang="en-US" sz="1600">
                <a:solidFill>
                  <a:srgbClr val="222222"/>
                </a:solidFill>
              </a:rPr>
              <a:t>Managing servo speed for smooth motion was critical, especially when transitioning from normal operation to slow or stop states.</a:t>
            </a:r>
            <a:endParaRPr sz="1600">
              <a:solidFill>
                <a:srgbClr val="222222"/>
              </a:solidFill>
            </a:endParaRPr>
          </a:p>
          <a:p>
            <a:pPr indent="-330200" lvl="0" marL="457200" rtl="0" algn="l">
              <a:lnSpc>
                <a:spcPct val="115000"/>
              </a:lnSpc>
              <a:spcBef>
                <a:spcPts val="0"/>
              </a:spcBef>
              <a:spcAft>
                <a:spcPts val="0"/>
              </a:spcAft>
              <a:buClr>
                <a:srgbClr val="222222"/>
              </a:buClr>
              <a:buSzPts val="1600"/>
              <a:buChar char="●"/>
            </a:pPr>
            <a:r>
              <a:rPr lang="en-US" sz="1600">
                <a:solidFill>
                  <a:srgbClr val="222222"/>
                </a:solidFill>
              </a:rPr>
              <a:t>Additionally, sensor data must be processed in real time. </a:t>
            </a:r>
            <a:endParaRPr sz="1600">
              <a:solidFill>
                <a:srgbClr val="222222"/>
              </a:solidFill>
            </a:endParaRPr>
          </a:p>
          <a:p>
            <a:pPr indent="-330200" lvl="0" marL="457200" rtl="0" algn="l">
              <a:lnSpc>
                <a:spcPct val="115000"/>
              </a:lnSpc>
              <a:spcBef>
                <a:spcPts val="0"/>
              </a:spcBef>
              <a:spcAft>
                <a:spcPts val="0"/>
              </a:spcAft>
              <a:buClr>
                <a:srgbClr val="222222"/>
              </a:buClr>
              <a:buSzPts val="1600"/>
              <a:buChar char="●"/>
            </a:pPr>
            <a:r>
              <a:rPr lang="en-US" sz="1600">
                <a:solidFill>
                  <a:srgbClr val="222222"/>
                </a:solidFill>
              </a:rPr>
              <a:t>The controller must quickly convert distance measurements into safe motion decisions without causing jitter or instability.</a:t>
            </a:r>
            <a:endParaRPr sz="1600">
              <a:solidFill>
                <a:srgbClr val="222222"/>
              </a:solidFill>
            </a:endParaRPr>
          </a:p>
          <a:p>
            <a:pPr indent="-330200" lvl="0" marL="457200" rtl="0" algn="l">
              <a:lnSpc>
                <a:spcPct val="115000"/>
              </a:lnSpc>
              <a:spcBef>
                <a:spcPts val="0"/>
              </a:spcBef>
              <a:spcAft>
                <a:spcPts val="0"/>
              </a:spcAft>
              <a:buClr>
                <a:srgbClr val="222222"/>
              </a:buClr>
              <a:buSzPts val="1600"/>
              <a:buChar char="●"/>
            </a:pPr>
            <a:r>
              <a:rPr lang="en-US" sz="1600">
                <a:solidFill>
                  <a:srgbClr val="222222"/>
                </a:solidFill>
              </a:rPr>
              <a:t>Balancing responsiveness, smooth motion, and safety has been one of the most technically challenging aspects of this project.</a:t>
            </a:r>
            <a:endParaRPr sz="1600">
              <a:solidFill>
                <a:srgbClr val="222222"/>
              </a:solidFill>
            </a:endParaRPr>
          </a:p>
          <a:p>
            <a:pPr indent="0" lvl="0" marL="0" rtl="0" algn="l">
              <a:spcBef>
                <a:spcPts val="1000"/>
              </a:spcBef>
              <a:spcAft>
                <a:spcPts val="0"/>
              </a:spcAft>
              <a:buNone/>
            </a:pPr>
            <a:r>
              <a:t/>
            </a:r>
            <a:endParaRPr sz="1600">
              <a:solidFill>
                <a:schemeClr val="dk1"/>
              </a:solidFill>
            </a:endParaRPr>
          </a:p>
        </p:txBody>
      </p:sp>
      <p:sp>
        <p:nvSpPr>
          <p:cNvPr id="308" name="Google Shape;30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1600"/>
              <a:t>Ariana:</a:t>
            </a:r>
            <a:r>
              <a:rPr lang="en-US" sz="1600"/>
              <a:t> </a:t>
            </a:r>
            <a:endParaRPr sz="1600"/>
          </a:p>
          <a:p>
            <a:pPr indent="0" lvl="0" marL="0" rtl="0" algn="l">
              <a:lnSpc>
                <a:spcPct val="115000"/>
              </a:lnSpc>
              <a:spcBef>
                <a:spcPts val="1200"/>
              </a:spcBef>
              <a:spcAft>
                <a:spcPts val="0"/>
              </a:spcAft>
              <a:buClr>
                <a:schemeClr val="dk1"/>
              </a:buClr>
              <a:buSzPts val="1100"/>
              <a:buFont typeface="Arial"/>
              <a:buNone/>
            </a:pPr>
            <a:r>
              <a:rPr lang="en-US" sz="1600"/>
              <a:t>Our </a:t>
            </a:r>
            <a:r>
              <a:rPr b="1" lang="en-US" sz="1600"/>
              <a:t>goals </a:t>
            </a:r>
            <a:r>
              <a:rPr lang="en-US" sz="1600"/>
              <a:t>for this project</a:t>
            </a:r>
            <a:r>
              <a:rPr b="1" lang="en-US" sz="1600"/>
              <a:t> include the following</a:t>
            </a:r>
            <a:r>
              <a:rPr lang="en-US" sz="1600"/>
              <a:t>:</a:t>
            </a:r>
            <a:endParaRPr sz="1600"/>
          </a:p>
          <a:p>
            <a:pPr indent="0" lvl="0" marL="0" rtl="0" algn="l">
              <a:lnSpc>
                <a:spcPct val="115000"/>
              </a:lnSpc>
              <a:spcBef>
                <a:spcPts val="1200"/>
              </a:spcBef>
              <a:spcAft>
                <a:spcPts val="0"/>
              </a:spcAft>
              <a:buClr>
                <a:schemeClr val="dk1"/>
              </a:buClr>
              <a:buSzPts val="1100"/>
              <a:buFont typeface="Arial"/>
              <a:buNone/>
            </a:pPr>
            <a:r>
              <a:rPr lang="en-US" sz="1600"/>
              <a:t>Integrating the IR and ToF sensors so the robot can </a:t>
            </a:r>
            <a:r>
              <a:rPr b="1" lang="en-US" sz="1600"/>
              <a:t>detect obstacles </a:t>
            </a:r>
            <a:r>
              <a:rPr lang="en-US" sz="1600"/>
              <a:t>within its</a:t>
            </a:r>
            <a:r>
              <a:rPr b="1" lang="en-US" sz="1600"/>
              <a:t> working area.</a:t>
            </a:r>
            <a:endParaRPr b="1" sz="1600"/>
          </a:p>
          <a:p>
            <a:pPr indent="0" lvl="0" marL="0" rtl="0" algn="l">
              <a:lnSpc>
                <a:spcPct val="115000"/>
              </a:lnSpc>
              <a:spcBef>
                <a:spcPts val="1200"/>
              </a:spcBef>
              <a:spcAft>
                <a:spcPts val="0"/>
              </a:spcAft>
              <a:buClr>
                <a:schemeClr val="dk1"/>
              </a:buClr>
              <a:buSzPts val="1100"/>
              <a:buFont typeface="Arial"/>
              <a:buNone/>
            </a:pPr>
            <a:r>
              <a:rPr lang="en-US" sz="1600"/>
              <a:t>The system must</a:t>
            </a:r>
            <a:r>
              <a:rPr b="1" lang="en-US" sz="1600"/>
              <a:t> reliably detect</a:t>
            </a:r>
            <a:r>
              <a:rPr lang="en-US" sz="1600"/>
              <a:t> obstacles within</a:t>
            </a:r>
            <a:r>
              <a:rPr b="1" lang="en-US" sz="1600"/>
              <a:t> clearly defined safety zones</a:t>
            </a:r>
            <a:r>
              <a:rPr lang="en-US" sz="1600"/>
              <a:t>.</a:t>
            </a:r>
            <a:endParaRPr sz="1600"/>
          </a:p>
          <a:p>
            <a:pPr indent="0" lvl="0" marL="0" rtl="0" algn="l">
              <a:lnSpc>
                <a:spcPct val="115000"/>
              </a:lnSpc>
              <a:spcBef>
                <a:spcPts val="1200"/>
              </a:spcBef>
              <a:spcAft>
                <a:spcPts val="0"/>
              </a:spcAft>
              <a:buClr>
                <a:schemeClr val="dk1"/>
              </a:buClr>
              <a:buSzPts val="1100"/>
              <a:buFont typeface="Arial"/>
              <a:buNone/>
            </a:pPr>
            <a:r>
              <a:rPr lang="en-US" sz="1600"/>
              <a:t>First we will</a:t>
            </a:r>
            <a:r>
              <a:rPr b="1" lang="en-US" sz="1600"/>
              <a:t> implement reactive behaviors</a:t>
            </a:r>
            <a:r>
              <a:rPr lang="en-US" sz="1600"/>
              <a:t> like slowing and stopping.</a:t>
            </a:r>
            <a:endParaRPr sz="1600"/>
          </a:p>
          <a:p>
            <a:pPr indent="0" lvl="0" marL="0" rtl="0" algn="l">
              <a:lnSpc>
                <a:spcPct val="115000"/>
              </a:lnSpc>
              <a:spcBef>
                <a:spcPts val="1200"/>
              </a:spcBef>
              <a:spcAft>
                <a:spcPts val="0"/>
              </a:spcAft>
              <a:buClr>
                <a:schemeClr val="dk1"/>
              </a:buClr>
              <a:buSzPts val="1100"/>
              <a:buFont typeface="Arial"/>
              <a:buNone/>
            </a:pPr>
            <a:r>
              <a:rPr lang="en-US" sz="1600"/>
              <a:t>Then we will </a:t>
            </a:r>
            <a:r>
              <a:rPr b="1" lang="en-US" sz="1600"/>
              <a:t>move to</a:t>
            </a:r>
            <a:r>
              <a:rPr lang="en-US" sz="1600"/>
              <a:t> more advanced </a:t>
            </a:r>
            <a:r>
              <a:rPr b="1" lang="en-US" sz="1600"/>
              <a:t>object avoidance techniques</a:t>
            </a:r>
            <a:r>
              <a:rPr lang="en-US" sz="1600"/>
              <a:t> like </a:t>
            </a:r>
            <a:r>
              <a:rPr b="1" lang="en-US" sz="1600"/>
              <a:t>Artificial P</a:t>
            </a:r>
            <a:r>
              <a:rPr b="1" lang="en-US" sz="1600"/>
              <a:t>otential</a:t>
            </a:r>
            <a:r>
              <a:rPr b="1" lang="en-US" sz="1600"/>
              <a:t> F</a:t>
            </a:r>
            <a:r>
              <a:rPr b="1" lang="en-US" sz="1600"/>
              <a:t>ields</a:t>
            </a:r>
            <a:r>
              <a:rPr b="1" lang="en-US" sz="1600"/>
              <a:t> </a:t>
            </a:r>
            <a:endParaRPr b="1" sz="1600"/>
          </a:p>
          <a:p>
            <a:pPr indent="0" lvl="0" marL="0" rtl="0" algn="l">
              <a:spcBef>
                <a:spcPts val="1200"/>
              </a:spcBef>
              <a:spcAft>
                <a:spcPts val="0"/>
              </a:spcAft>
              <a:buNone/>
            </a:pPr>
            <a:r>
              <a:t/>
            </a:r>
            <a:endParaRPr/>
          </a:p>
        </p:txBody>
      </p:sp>
      <p:sp>
        <p:nvSpPr>
          <p:cNvPr id="315" name="Google Shape;31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ca9207558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1600"/>
              <a:t>Ariana:</a:t>
            </a:r>
            <a:r>
              <a:rPr lang="en-US" sz="1600"/>
              <a:t> </a:t>
            </a:r>
            <a:endParaRPr sz="1600"/>
          </a:p>
          <a:p>
            <a:pPr indent="0" lvl="0" marL="0" rtl="0" algn="l">
              <a:lnSpc>
                <a:spcPct val="115000"/>
              </a:lnSpc>
              <a:spcBef>
                <a:spcPts val="1200"/>
              </a:spcBef>
              <a:spcAft>
                <a:spcPts val="0"/>
              </a:spcAft>
              <a:buClr>
                <a:schemeClr val="dk1"/>
              </a:buClr>
              <a:buSzPts val="1100"/>
              <a:buFont typeface="Arial"/>
              <a:buNone/>
            </a:pPr>
            <a:r>
              <a:rPr lang="en-US" sz="1600"/>
              <a:t>These goals focus on </a:t>
            </a:r>
            <a:r>
              <a:rPr b="1" lang="en-US" sz="1600"/>
              <a:t>validation </a:t>
            </a:r>
            <a:r>
              <a:rPr lang="en-US" sz="1600"/>
              <a:t>and </a:t>
            </a:r>
            <a:r>
              <a:rPr b="1" lang="en-US" sz="1600"/>
              <a:t>project management</a:t>
            </a:r>
            <a:r>
              <a:rPr lang="en-US" sz="1600"/>
              <a:t>.</a:t>
            </a:r>
            <a:endParaRPr sz="1600"/>
          </a:p>
          <a:p>
            <a:pPr indent="0" lvl="0" marL="0" rtl="0" algn="l">
              <a:lnSpc>
                <a:spcPct val="115000"/>
              </a:lnSpc>
              <a:spcBef>
                <a:spcPts val="1200"/>
              </a:spcBef>
              <a:spcAft>
                <a:spcPts val="0"/>
              </a:spcAft>
              <a:buClr>
                <a:schemeClr val="dk1"/>
              </a:buClr>
              <a:buSzPts val="1100"/>
              <a:buFont typeface="Arial"/>
              <a:buNone/>
            </a:pPr>
            <a:r>
              <a:rPr lang="en-US" sz="1600"/>
              <a:t>We will </a:t>
            </a:r>
            <a:r>
              <a:rPr b="1" lang="en-US" sz="1600"/>
              <a:t>test </a:t>
            </a:r>
            <a:r>
              <a:rPr lang="en-US" sz="1600"/>
              <a:t>the system </a:t>
            </a:r>
            <a:r>
              <a:rPr b="1" lang="en-US" sz="1600"/>
              <a:t>multiple times</a:t>
            </a:r>
            <a:r>
              <a:rPr lang="en-US" sz="1600"/>
              <a:t> to confirm </a:t>
            </a:r>
            <a:r>
              <a:rPr b="1" lang="en-US" sz="1600"/>
              <a:t>consistency</a:t>
            </a:r>
            <a:r>
              <a:rPr lang="en-US" sz="1600"/>
              <a:t>.</a:t>
            </a:r>
            <a:endParaRPr sz="1600"/>
          </a:p>
          <a:p>
            <a:pPr indent="0" lvl="0" marL="0" rtl="0" algn="l">
              <a:lnSpc>
                <a:spcPct val="115000"/>
              </a:lnSpc>
              <a:spcBef>
                <a:spcPts val="1200"/>
              </a:spcBef>
              <a:spcAft>
                <a:spcPts val="0"/>
              </a:spcAft>
              <a:buClr>
                <a:schemeClr val="dk1"/>
              </a:buClr>
              <a:buSzPts val="1100"/>
              <a:buFont typeface="Arial"/>
              <a:buNone/>
            </a:pPr>
            <a:r>
              <a:rPr lang="en-US" sz="1600"/>
              <a:t>Once that’s done, we will </a:t>
            </a:r>
            <a:r>
              <a:rPr b="1" lang="en-US" sz="1600"/>
              <a:t>measure </a:t>
            </a:r>
            <a:r>
              <a:rPr lang="en-US" sz="1600"/>
              <a:t>the</a:t>
            </a:r>
            <a:r>
              <a:rPr b="1" lang="en-US" sz="1600"/>
              <a:t> response time</a:t>
            </a:r>
            <a:r>
              <a:rPr lang="en-US" sz="1600"/>
              <a:t> and </a:t>
            </a:r>
            <a:r>
              <a:rPr b="1" lang="en-US" sz="1600"/>
              <a:t>minimum safe distance</a:t>
            </a:r>
            <a:r>
              <a:rPr lang="en-US" sz="1600"/>
              <a:t> to make sure the safety features are </a:t>
            </a:r>
            <a:r>
              <a:rPr b="1" lang="en-US" sz="1600"/>
              <a:t>working as intended</a:t>
            </a:r>
            <a:r>
              <a:rPr lang="en-US" sz="1600"/>
              <a:t>.</a:t>
            </a:r>
            <a:endParaRPr sz="1600"/>
          </a:p>
          <a:p>
            <a:pPr indent="0" lvl="0" marL="0" rtl="0" algn="l">
              <a:lnSpc>
                <a:spcPct val="115000"/>
              </a:lnSpc>
              <a:spcBef>
                <a:spcPts val="1200"/>
              </a:spcBef>
              <a:spcAft>
                <a:spcPts val="0"/>
              </a:spcAft>
              <a:buClr>
                <a:schemeClr val="dk1"/>
              </a:buClr>
              <a:buSzPts val="1100"/>
              <a:buFont typeface="Arial"/>
              <a:buNone/>
            </a:pPr>
            <a:r>
              <a:rPr lang="en-US" sz="1600"/>
              <a:t>Lastly, we will ensure that the </a:t>
            </a:r>
            <a:r>
              <a:rPr b="1" lang="en-US" sz="1600"/>
              <a:t>servo motion</a:t>
            </a:r>
            <a:r>
              <a:rPr lang="en-US" sz="1600"/>
              <a:t> remains </a:t>
            </a:r>
            <a:r>
              <a:rPr b="1" lang="en-US" sz="1600"/>
              <a:t>smooth</a:t>
            </a:r>
            <a:r>
              <a:rPr lang="en-US" sz="1600"/>
              <a:t> and </a:t>
            </a:r>
            <a:r>
              <a:rPr b="1" lang="en-US" sz="1600"/>
              <a:t>controlled</a:t>
            </a:r>
            <a:r>
              <a:rPr lang="en-US" sz="1600"/>
              <a:t>.</a:t>
            </a:r>
            <a:endParaRPr sz="1600"/>
          </a:p>
          <a:p>
            <a:pPr indent="0" lvl="0" marL="0" rtl="0" algn="l">
              <a:lnSpc>
                <a:spcPct val="115000"/>
              </a:lnSpc>
              <a:spcBef>
                <a:spcPts val="1200"/>
              </a:spcBef>
              <a:spcAft>
                <a:spcPts val="0"/>
              </a:spcAft>
              <a:buClr>
                <a:schemeClr val="dk1"/>
              </a:buClr>
              <a:buSzPts val="1100"/>
              <a:buFont typeface="Arial"/>
              <a:buNone/>
            </a:pPr>
            <a:r>
              <a:rPr lang="en-US" sz="1600"/>
              <a:t>Our timeline </a:t>
            </a:r>
            <a:r>
              <a:rPr b="1" lang="en-US" sz="1600"/>
              <a:t>sets us on track to finish our </a:t>
            </a:r>
            <a:r>
              <a:rPr lang="en-US" sz="1600"/>
              <a:t>technical work</a:t>
            </a:r>
            <a:r>
              <a:rPr b="1" lang="en-US" sz="1600"/>
              <a:t> by Week 14</a:t>
            </a:r>
            <a:r>
              <a:rPr lang="en-US" sz="1600"/>
              <a:t>, leaving two weeks for </a:t>
            </a:r>
            <a:r>
              <a:rPr b="1" lang="en-US" sz="1600"/>
              <a:t>final preparation</a:t>
            </a:r>
            <a:r>
              <a:rPr lang="en-US" sz="1600"/>
              <a:t> and </a:t>
            </a:r>
            <a:r>
              <a:rPr b="1" lang="en-US" sz="1600"/>
              <a:t>contingency</a:t>
            </a:r>
            <a:r>
              <a:rPr lang="en-US" sz="1600"/>
              <a:t>.</a:t>
            </a:r>
            <a:endParaRPr sz="1600"/>
          </a:p>
          <a:p>
            <a:pPr indent="0" lvl="0" marL="0" rtl="0" algn="l">
              <a:spcBef>
                <a:spcPts val="1200"/>
              </a:spcBef>
              <a:spcAft>
                <a:spcPts val="0"/>
              </a:spcAft>
              <a:buNone/>
            </a:pPr>
            <a:r>
              <a:t/>
            </a:r>
            <a:endParaRPr/>
          </a:p>
        </p:txBody>
      </p:sp>
      <p:sp>
        <p:nvSpPr>
          <p:cNvPr id="321" name="Google Shape;321;g3ca92075584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t>Anish:</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US"/>
              <a:t>*Talk about IK software development, and the mechanics of the system.* </a:t>
            </a:r>
            <a:endParaRPr b="1"/>
          </a:p>
        </p:txBody>
      </p:sp>
      <p:sp>
        <p:nvSpPr>
          <p:cNvPr id="327" name="Google Shape;32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cba2c7a8f9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cba2c7a8f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t>Sebastian:</a:t>
            </a:r>
            <a:r>
              <a:rPr lang="en-US"/>
              <a:t> Trajectory Optim. Math / Sensors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86ca8aec9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86ca8aec9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t>Sebastian:</a:t>
            </a:r>
            <a:r>
              <a:rPr lang="en-US"/>
              <a:t> Trajectory Optim. Math / Sensors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86ca8aec90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86ca8aec9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t>Sebastian:</a:t>
            </a:r>
            <a:r>
              <a:rPr lang="en-US"/>
              <a:t> Trajectory Optim. Math / Sensors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t>Sebastian </a:t>
            </a:r>
            <a:endParaRPr b="1"/>
          </a:p>
        </p:txBody>
      </p:sp>
      <p:sp>
        <p:nvSpPr>
          <p:cNvPr id="354" name="Google Shape;35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t>Anish</a:t>
            </a:r>
            <a:endParaRPr b="1"/>
          </a:p>
        </p:txBody>
      </p:sp>
      <p:sp>
        <p:nvSpPr>
          <p:cNvPr id="360" name="Google Shape;36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t>Anish</a:t>
            </a:r>
            <a:endParaRPr b="1"/>
          </a:p>
        </p:txBody>
      </p:sp>
      <p:sp>
        <p:nvSpPr>
          <p:cNvPr id="366" name="Google Shape;36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cc0657743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t>Anish</a:t>
            </a:r>
            <a:endParaRPr b="1"/>
          </a:p>
        </p:txBody>
      </p:sp>
      <p:sp>
        <p:nvSpPr>
          <p:cNvPr id="372" name="Google Shape;372;g3cc0657743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 name="Shape 7"/>
        <p:cNvGrpSpPr/>
        <p:nvPr/>
      </p:nvGrpSpPr>
      <p:grpSpPr>
        <a:xfrm>
          <a:off x="0" y="0"/>
          <a:ext cx="0" cy="0"/>
          <a:chOff x="0" y="0"/>
          <a:chExt cx="0" cy="0"/>
        </a:xfrm>
      </p:grpSpPr>
      <p:sp>
        <p:nvSpPr>
          <p:cNvPr id="8" name="Google Shape;8;p16"/>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640"/>
              </a:spcBef>
              <a:spcAft>
                <a:spcPts val="0"/>
              </a:spcAft>
              <a:buClr>
                <a:srgbClr val="888888"/>
              </a:buClr>
              <a:buSzPts val="3200"/>
              <a:buFont typeface="Arial"/>
              <a:buNone/>
              <a:defRPr b="0" i="0" sz="3200" u="none" cap="none" strike="noStrike">
                <a:solidFill>
                  <a:srgbClr val="888888"/>
                </a:solidFill>
                <a:latin typeface="Calibri"/>
                <a:ea typeface="Calibri"/>
                <a:cs typeface="Calibri"/>
                <a:sym typeface="Calibri"/>
              </a:defRPr>
            </a:lvl1pPr>
            <a:lvl2pPr lvl="1" marR="0" rtl="0" algn="ctr">
              <a:spcBef>
                <a:spcPts val="560"/>
              </a:spcBef>
              <a:spcAft>
                <a:spcPts val="0"/>
              </a:spcAft>
              <a:buClr>
                <a:srgbClr val="888888"/>
              </a:buClr>
              <a:buSzPts val="2800"/>
              <a:buFont typeface="Arial"/>
              <a:buNone/>
              <a:defRPr b="0" i="0" sz="2800" u="none" cap="none" strike="noStrike">
                <a:solidFill>
                  <a:srgbClr val="888888"/>
                </a:solidFill>
                <a:latin typeface="Calibri"/>
                <a:ea typeface="Calibri"/>
                <a:cs typeface="Calibri"/>
                <a:sym typeface="Calibri"/>
              </a:defRPr>
            </a:lvl2pPr>
            <a:lvl3pPr lvl="2" marR="0" rtl="0" algn="ctr">
              <a:spcBef>
                <a:spcPts val="48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3pPr>
            <a:lvl4pPr lvl="3"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4pPr>
            <a:lvl5pPr lvl="4"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5pPr>
            <a:lvl6pPr lvl="5"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sp>
        <p:nvSpPr>
          <p:cNvPr id="10" name="Google Shape;10;p16"/>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 name="Google Shape;11;p16"/>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 name="Google Shape;12;p16"/>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3" name="Shape 13"/>
        <p:cNvGrpSpPr/>
        <p:nvPr/>
      </p:nvGrpSpPr>
      <p:grpSpPr>
        <a:xfrm>
          <a:off x="0" y="0"/>
          <a:ext cx="0" cy="0"/>
          <a:chOff x="0" y="0"/>
          <a:chExt cx="0" cy="0"/>
        </a:xfrm>
      </p:grpSpPr>
      <p:sp>
        <p:nvSpPr>
          <p:cNvPr id="14" name="Google Shape;14;p20"/>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2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 name="Google Shape;16;p2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 name="Google Shape;17;p20"/>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 name="Google Shape;18;p20"/>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 name="Google Shape;19;p20"/>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2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 name="Google Shape;22;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3" name="Google Shape;23;p24"/>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24"/>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5" name="Google Shape;25;p24"/>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2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4000"/>
              <a:buFont typeface="Calibri"/>
              <a:buNone/>
              <a:defRPr b="1" i="0" sz="4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8" name="Google Shape;28;p2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1pPr>
            <a:lvl2pPr indent="-228600" lvl="1" marL="914400" marR="0" rtl="0" algn="l">
              <a:spcBef>
                <a:spcPts val="36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2pPr>
            <a:lvl3pPr indent="-228600" lvl="2" marL="1371600" marR="0" rtl="0" algn="l">
              <a:spcBef>
                <a:spcPts val="32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3pPr>
            <a:lvl4pPr indent="-228600" lvl="3" marL="18288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4pPr>
            <a:lvl5pPr indent="-228600" lvl="4" marL="22860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5pPr>
            <a:lvl6pPr indent="-228600" lvl="5" marL="27432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6pPr>
            <a:lvl7pPr indent="-228600" lvl="6" marL="32004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7pPr>
            <a:lvl8pPr indent="-228600" lvl="7" marL="36576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8pPr>
            <a:lvl9pPr indent="-228600" lvl="8" marL="41148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9pPr>
          </a:lstStyle>
          <a:p/>
        </p:txBody>
      </p:sp>
      <p:sp>
        <p:nvSpPr>
          <p:cNvPr id="29" name="Google Shape;29;p25"/>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25"/>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25"/>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2" name="Shape 32"/>
        <p:cNvGrpSpPr/>
        <p:nvPr/>
      </p:nvGrpSpPr>
      <p:grpSpPr>
        <a:xfrm>
          <a:off x="0" y="0"/>
          <a:ext cx="0" cy="0"/>
          <a:chOff x="0" y="0"/>
          <a:chExt cx="0" cy="0"/>
        </a:xfrm>
      </p:grpSpPr>
      <p:sp>
        <p:nvSpPr>
          <p:cNvPr id="33" name="Google Shape;33;p26"/>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4" name="Google Shape;34;p2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35" name="Google Shape;35;p2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36" name="Google Shape;36;p2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37" name="Google Shape;37;p2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38" name="Google Shape;38;p26"/>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26"/>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26"/>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27"/>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3" name="Google Shape;43;p27"/>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27"/>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27"/>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28"/>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28"/>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28"/>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2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2" name="Google Shape;52;p2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3" name="Google Shape;53;p2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spcBef>
                <a:spcPts val="24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spcBef>
                <a:spcPts val="2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54" name="Google Shape;54;p29"/>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29"/>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29"/>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7" name="Shape 57"/>
        <p:cNvGrpSpPr/>
        <p:nvPr/>
      </p:nvGrpSpPr>
      <p:grpSpPr>
        <a:xfrm>
          <a:off x="0" y="0"/>
          <a:ext cx="0" cy="0"/>
          <a:chOff x="0" y="0"/>
          <a:chExt cx="0" cy="0"/>
        </a:xfrm>
      </p:grpSpPr>
      <p:sp>
        <p:nvSpPr>
          <p:cNvPr id="58" name="Google Shape;58;p3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9" name="Google Shape;59;p30"/>
          <p:cNvSpPr/>
          <p:nvPr>
            <p:ph idx="2" type="pic"/>
          </p:nvPr>
        </p:nvSpPr>
        <p:spPr>
          <a:xfrm>
            <a:off x="1792288" y="612775"/>
            <a:ext cx="5486400" cy="4114800"/>
          </a:xfrm>
          <a:prstGeom prst="rect">
            <a:avLst/>
          </a:prstGeom>
          <a:noFill/>
          <a:ln>
            <a:noFill/>
          </a:ln>
        </p:spPr>
      </p:sp>
      <p:sp>
        <p:nvSpPr>
          <p:cNvPr id="60" name="Google Shape;60;p3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spcBef>
                <a:spcPts val="24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spcBef>
                <a:spcPts val="2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61" name="Google Shape;61;p30"/>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30"/>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30"/>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4" name="Shape 64"/>
        <p:cNvGrpSpPr/>
        <p:nvPr/>
      </p:nvGrpSpPr>
      <p:grpSpPr>
        <a:xfrm>
          <a:off x="0" y="0"/>
          <a:ext cx="0" cy="0"/>
          <a:chOff x="0" y="0"/>
          <a:chExt cx="0" cy="0"/>
        </a:xfrm>
      </p:grpSpPr>
      <p:sp>
        <p:nvSpPr>
          <p:cNvPr id="65" name="Google Shape;65;p31"/>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6" name="Google Shape;66;p3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31"/>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8" name="Google Shape;68;p31"/>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31"/>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0" name="Shape 70"/>
        <p:cNvGrpSpPr/>
        <p:nvPr/>
      </p:nvGrpSpPr>
      <p:grpSpPr>
        <a:xfrm>
          <a:off x="0" y="0"/>
          <a:ext cx="0" cy="0"/>
          <a:chOff x="0" y="0"/>
          <a:chExt cx="0" cy="0"/>
        </a:xfrm>
      </p:grpSpPr>
      <p:sp>
        <p:nvSpPr>
          <p:cNvPr id="71" name="Google Shape;71;p32"/>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2" name="Google Shape;72;p3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73" name="Google Shape;73;p32"/>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4" name="Google Shape;74;p32"/>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p32"/>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8" name="Shape 78"/>
        <p:cNvGrpSpPr/>
        <p:nvPr/>
      </p:nvGrpSpPr>
      <p:grpSpPr>
        <a:xfrm>
          <a:off x="0" y="0"/>
          <a:ext cx="0" cy="0"/>
          <a:chOff x="0" y="0"/>
          <a:chExt cx="0" cy="0"/>
        </a:xfrm>
      </p:grpSpPr>
      <p:sp>
        <p:nvSpPr>
          <p:cNvPr id="79" name="Google Shape;79;p18"/>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0" name="Google Shape;80;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1" name="Google Shape;81;p18"/>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2" name="Google Shape;82;p18"/>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3" name="Google Shape;83;p18"/>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4" name="Shape 84"/>
        <p:cNvGrpSpPr/>
        <p:nvPr/>
      </p:nvGrpSpPr>
      <p:grpSpPr>
        <a:xfrm>
          <a:off x="0" y="0"/>
          <a:ext cx="0" cy="0"/>
          <a:chOff x="0" y="0"/>
          <a:chExt cx="0" cy="0"/>
        </a:xfrm>
      </p:grpSpPr>
      <p:sp>
        <p:nvSpPr>
          <p:cNvPr id="85" name="Google Shape;85;p19"/>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6" name="Google Shape;86;p1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8" name="Google Shape;88;p19"/>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p19"/>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0" name="Google Shape;90;p19"/>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1" name="Shape 91"/>
        <p:cNvGrpSpPr/>
        <p:nvPr/>
      </p:nvGrpSpPr>
      <p:grpSpPr>
        <a:xfrm>
          <a:off x="0" y="0"/>
          <a:ext cx="0" cy="0"/>
          <a:chOff x="0" y="0"/>
          <a:chExt cx="0" cy="0"/>
        </a:xfrm>
      </p:grpSpPr>
      <p:sp>
        <p:nvSpPr>
          <p:cNvPr id="92" name="Google Shape;92;p21"/>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3" name="Google Shape;93;p2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94" name="Google Shape;94;p2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95" name="Google Shape;95;p2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96" name="Google Shape;96;p2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97" name="Google Shape;97;p21"/>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8" name="Google Shape;98;p21"/>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9" name="Google Shape;99;p21"/>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0" name="Shape 100"/>
        <p:cNvGrpSpPr/>
        <p:nvPr/>
      </p:nvGrpSpPr>
      <p:grpSpPr>
        <a:xfrm>
          <a:off x="0" y="0"/>
          <a:ext cx="0" cy="0"/>
          <a:chOff x="0" y="0"/>
          <a:chExt cx="0" cy="0"/>
        </a:xfrm>
      </p:grpSpPr>
      <p:sp>
        <p:nvSpPr>
          <p:cNvPr id="101" name="Google Shape;101;p33"/>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2" name="Google Shape;102;p3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640"/>
              </a:spcBef>
              <a:spcAft>
                <a:spcPts val="0"/>
              </a:spcAft>
              <a:buClr>
                <a:srgbClr val="888888"/>
              </a:buClr>
              <a:buSzPts val="3200"/>
              <a:buFont typeface="Arial"/>
              <a:buNone/>
              <a:defRPr b="0" i="0" sz="3200" u="none" cap="none" strike="noStrike">
                <a:solidFill>
                  <a:srgbClr val="888888"/>
                </a:solidFill>
                <a:latin typeface="Calibri"/>
                <a:ea typeface="Calibri"/>
                <a:cs typeface="Calibri"/>
                <a:sym typeface="Calibri"/>
              </a:defRPr>
            </a:lvl1pPr>
            <a:lvl2pPr lvl="1" marR="0" rtl="0" algn="ctr">
              <a:spcBef>
                <a:spcPts val="560"/>
              </a:spcBef>
              <a:spcAft>
                <a:spcPts val="0"/>
              </a:spcAft>
              <a:buClr>
                <a:srgbClr val="888888"/>
              </a:buClr>
              <a:buSzPts val="2800"/>
              <a:buFont typeface="Arial"/>
              <a:buNone/>
              <a:defRPr b="0" i="0" sz="2800" u="none" cap="none" strike="noStrike">
                <a:solidFill>
                  <a:srgbClr val="888888"/>
                </a:solidFill>
                <a:latin typeface="Calibri"/>
                <a:ea typeface="Calibri"/>
                <a:cs typeface="Calibri"/>
                <a:sym typeface="Calibri"/>
              </a:defRPr>
            </a:lvl2pPr>
            <a:lvl3pPr lvl="2" marR="0" rtl="0" algn="ctr">
              <a:spcBef>
                <a:spcPts val="48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3pPr>
            <a:lvl4pPr lvl="3"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4pPr>
            <a:lvl5pPr lvl="4"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5pPr>
            <a:lvl6pPr lvl="5"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sp>
        <p:nvSpPr>
          <p:cNvPr id="103" name="Google Shape;103;p33"/>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4" name="Google Shape;104;p33"/>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5" name="Google Shape;105;p33"/>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6" name="Shape 106"/>
        <p:cNvGrpSpPr/>
        <p:nvPr/>
      </p:nvGrpSpPr>
      <p:grpSpPr>
        <a:xfrm>
          <a:off x="0" y="0"/>
          <a:ext cx="0" cy="0"/>
          <a:chOff x="0" y="0"/>
          <a:chExt cx="0" cy="0"/>
        </a:xfrm>
      </p:grpSpPr>
      <p:sp>
        <p:nvSpPr>
          <p:cNvPr id="107" name="Google Shape;107;p3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4000"/>
              <a:buFont typeface="Calibri"/>
              <a:buNone/>
              <a:defRPr b="1" i="0" sz="4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8" name="Google Shape;108;p3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1pPr>
            <a:lvl2pPr indent="-228600" lvl="1" marL="914400" marR="0" rtl="0" algn="l">
              <a:spcBef>
                <a:spcPts val="36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2pPr>
            <a:lvl3pPr indent="-228600" lvl="2" marL="1371600" marR="0" rtl="0" algn="l">
              <a:spcBef>
                <a:spcPts val="32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3pPr>
            <a:lvl4pPr indent="-228600" lvl="3" marL="18288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4pPr>
            <a:lvl5pPr indent="-228600" lvl="4" marL="22860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5pPr>
            <a:lvl6pPr indent="-228600" lvl="5" marL="27432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6pPr>
            <a:lvl7pPr indent="-228600" lvl="6" marL="32004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7pPr>
            <a:lvl8pPr indent="-228600" lvl="7" marL="36576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8pPr>
            <a:lvl9pPr indent="-228600" lvl="8" marL="41148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9pPr>
          </a:lstStyle>
          <a:p/>
        </p:txBody>
      </p:sp>
      <p:sp>
        <p:nvSpPr>
          <p:cNvPr id="109" name="Google Shape;109;p34"/>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0" name="Google Shape;110;p34"/>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1" name="Google Shape;111;p34"/>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2" name="Shape 112"/>
        <p:cNvGrpSpPr/>
        <p:nvPr/>
      </p:nvGrpSpPr>
      <p:grpSpPr>
        <a:xfrm>
          <a:off x="0" y="0"/>
          <a:ext cx="0" cy="0"/>
          <a:chOff x="0" y="0"/>
          <a:chExt cx="0" cy="0"/>
        </a:xfrm>
      </p:grpSpPr>
      <p:sp>
        <p:nvSpPr>
          <p:cNvPr id="113" name="Google Shape;113;p35"/>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4" name="Google Shape;114;p35"/>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5" name="Google Shape;115;p35"/>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6" name="Google Shape;116;p35"/>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7" name="Shape 117"/>
        <p:cNvGrpSpPr/>
        <p:nvPr/>
      </p:nvGrpSpPr>
      <p:grpSpPr>
        <a:xfrm>
          <a:off x="0" y="0"/>
          <a:ext cx="0" cy="0"/>
          <a:chOff x="0" y="0"/>
          <a:chExt cx="0" cy="0"/>
        </a:xfrm>
      </p:grpSpPr>
      <p:sp>
        <p:nvSpPr>
          <p:cNvPr id="118" name="Google Shape;118;p36"/>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9" name="Google Shape;119;p36"/>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0" name="Google Shape;120;p36"/>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1" name="Shape 121"/>
        <p:cNvGrpSpPr/>
        <p:nvPr/>
      </p:nvGrpSpPr>
      <p:grpSpPr>
        <a:xfrm>
          <a:off x="0" y="0"/>
          <a:ext cx="0" cy="0"/>
          <a:chOff x="0" y="0"/>
          <a:chExt cx="0" cy="0"/>
        </a:xfrm>
      </p:grpSpPr>
      <p:sp>
        <p:nvSpPr>
          <p:cNvPr id="122" name="Google Shape;122;p3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3" name="Google Shape;123;p3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4" name="Google Shape;124;p3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spcBef>
                <a:spcPts val="24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spcBef>
                <a:spcPts val="2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125" name="Google Shape;125;p37"/>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6" name="Google Shape;126;p37"/>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7" name="Google Shape;127;p37"/>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28" name="Shape 128"/>
        <p:cNvGrpSpPr/>
        <p:nvPr/>
      </p:nvGrpSpPr>
      <p:grpSpPr>
        <a:xfrm>
          <a:off x="0" y="0"/>
          <a:ext cx="0" cy="0"/>
          <a:chOff x="0" y="0"/>
          <a:chExt cx="0" cy="0"/>
        </a:xfrm>
      </p:grpSpPr>
      <p:sp>
        <p:nvSpPr>
          <p:cNvPr id="129" name="Google Shape;129;p3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0" name="Google Shape;130;p38"/>
          <p:cNvSpPr/>
          <p:nvPr>
            <p:ph idx="2" type="pic"/>
          </p:nvPr>
        </p:nvSpPr>
        <p:spPr>
          <a:xfrm>
            <a:off x="1792288" y="612775"/>
            <a:ext cx="5486400" cy="4114800"/>
          </a:xfrm>
          <a:prstGeom prst="rect">
            <a:avLst/>
          </a:prstGeom>
          <a:noFill/>
          <a:ln>
            <a:noFill/>
          </a:ln>
        </p:spPr>
      </p:sp>
      <p:sp>
        <p:nvSpPr>
          <p:cNvPr id="131" name="Google Shape;131;p3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spcBef>
                <a:spcPts val="24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spcBef>
                <a:spcPts val="2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132" name="Google Shape;132;p38"/>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3" name="Google Shape;133;p38"/>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4" name="Google Shape;134;p38"/>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5" name="Shape 135"/>
        <p:cNvGrpSpPr/>
        <p:nvPr/>
      </p:nvGrpSpPr>
      <p:grpSpPr>
        <a:xfrm>
          <a:off x="0" y="0"/>
          <a:ext cx="0" cy="0"/>
          <a:chOff x="0" y="0"/>
          <a:chExt cx="0" cy="0"/>
        </a:xfrm>
      </p:grpSpPr>
      <p:sp>
        <p:nvSpPr>
          <p:cNvPr id="136" name="Google Shape;136;p39"/>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7" name="Google Shape;137;p3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8" name="Google Shape;138;p39"/>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9" name="Google Shape;139;p39"/>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0" name="Google Shape;140;p39"/>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1" name="Shape 141"/>
        <p:cNvGrpSpPr/>
        <p:nvPr/>
      </p:nvGrpSpPr>
      <p:grpSpPr>
        <a:xfrm>
          <a:off x="0" y="0"/>
          <a:ext cx="0" cy="0"/>
          <a:chOff x="0" y="0"/>
          <a:chExt cx="0" cy="0"/>
        </a:xfrm>
      </p:grpSpPr>
      <p:sp>
        <p:nvSpPr>
          <p:cNvPr id="142" name="Google Shape;142;p40"/>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3" name="Google Shape;143;p4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44" name="Google Shape;144;p40"/>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5" name="Google Shape;145;p40"/>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6" name="Google Shape;146;p40"/>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49" name="Shape 149"/>
        <p:cNvGrpSpPr/>
        <p:nvPr/>
      </p:nvGrpSpPr>
      <p:grpSpPr>
        <a:xfrm>
          <a:off x="0" y="0"/>
          <a:ext cx="0" cy="0"/>
          <a:chOff x="0" y="0"/>
          <a:chExt cx="0" cy="0"/>
        </a:xfrm>
      </p:grpSpPr>
      <p:sp>
        <p:nvSpPr>
          <p:cNvPr id="150" name="Google Shape;150;p23"/>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1" name="Google Shape;151;p2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52" name="Google Shape;152;p2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153" name="Google Shape;153;p2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54" name="Google Shape;154;p2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155" name="Google Shape;155;p23"/>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6" name="Google Shape;156;p23"/>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7" name="Google Shape;157;p23"/>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8" name="Shape 158"/>
        <p:cNvGrpSpPr/>
        <p:nvPr/>
      </p:nvGrpSpPr>
      <p:grpSpPr>
        <a:xfrm>
          <a:off x="0" y="0"/>
          <a:ext cx="0" cy="0"/>
          <a:chOff x="0" y="0"/>
          <a:chExt cx="0" cy="0"/>
        </a:xfrm>
      </p:grpSpPr>
      <p:sp>
        <p:nvSpPr>
          <p:cNvPr id="159" name="Google Shape;159;p41"/>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0" name="Google Shape;160;p4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640"/>
              </a:spcBef>
              <a:spcAft>
                <a:spcPts val="0"/>
              </a:spcAft>
              <a:buClr>
                <a:srgbClr val="888888"/>
              </a:buClr>
              <a:buSzPts val="3200"/>
              <a:buFont typeface="Arial"/>
              <a:buNone/>
              <a:defRPr b="0" i="0" sz="3200" u="none" cap="none" strike="noStrike">
                <a:solidFill>
                  <a:srgbClr val="888888"/>
                </a:solidFill>
                <a:latin typeface="Calibri"/>
                <a:ea typeface="Calibri"/>
                <a:cs typeface="Calibri"/>
                <a:sym typeface="Calibri"/>
              </a:defRPr>
            </a:lvl1pPr>
            <a:lvl2pPr lvl="1" marR="0" rtl="0" algn="ctr">
              <a:spcBef>
                <a:spcPts val="560"/>
              </a:spcBef>
              <a:spcAft>
                <a:spcPts val="0"/>
              </a:spcAft>
              <a:buClr>
                <a:srgbClr val="888888"/>
              </a:buClr>
              <a:buSzPts val="2800"/>
              <a:buFont typeface="Arial"/>
              <a:buNone/>
              <a:defRPr b="0" i="0" sz="2800" u="none" cap="none" strike="noStrike">
                <a:solidFill>
                  <a:srgbClr val="888888"/>
                </a:solidFill>
                <a:latin typeface="Calibri"/>
                <a:ea typeface="Calibri"/>
                <a:cs typeface="Calibri"/>
                <a:sym typeface="Calibri"/>
              </a:defRPr>
            </a:lvl2pPr>
            <a:lvl3pPr lvl="2" marR="0" rtl="0" algn="ctr">
              <a:spcBef>
                <a:spcPts val="48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3pPr>
            <a:lvl4pPr lvl="3"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4pPr>
            <a:lvl5pPr lvl="4"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5pPr>
            <a:lvl6pPr lvl="5"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sp>
        <p:nvSpPr>
          <p:cNvPr id="161" name="Google Shape;161;p41"/>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2" name="Google Shape;162;p41"/>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3" name="Google Shape;163;p41"/>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4" name="Shape 164"/>
        <p:cNvGrpSpPr/>
        <p:nvPr/>
      </p:nvGrpSpPr>
      <p:grpSpPr>
        <a:xfrm>
          <a:off x="0" y="0"/>
          <a:ext cx="0" cy="0"/>
          <a:chOff x="0" y="0"/>
          <a:chExt cx="0" cy="0"/>
        </a:xfrm>
      </p:grpSpPr>
      <p:sp>
        <p:nvSpPr>
          <p:cNvPr id="165" name="Google Shape;165;p42"/>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6" name="Google Shape;166;p4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67" name="Google Shape;167;p42"/>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8" name="Google Shape;168;p42"/>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9" name="Google Shape;169;p42"/>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0" name="Shape 170"/>
        <p:cNvGrpSpPr/>
        <p:nvPr/>
      </p:nvGrpSpPr>
      <p:grpSpPr>
        <a:xfrm>
          <a:off x="0" y="0"/>
          <a:ext cx="0" cy="0"/>
          <a:chOff x="0" y="0"/>
          <a:chExt cx="0" cy="0"/>
        </a:xfrm>
      </p:grpSpPr>
      <p:sp>
        <p:nvSpPr>
          <p:cNvPr id="171" name="Google Shape;171;p4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4000"/>
              <a:buFont typeface="Calibri"/>
              <a:buNone/>
              <a:defRPr b="1" i="0" sz="4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2" name="Google Shape;172;p4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1pPr>
            <a:lvl2pPr indent="-228600" lvl="1" marL="914400" marR="0" rtl="0" algn="l">
              <a:spcBef>
                <a:spcPts val="36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2pPr>
            <a:lvl3pPr indent="-228600" lvl="2" marL="1371600" marR="0" rtl="0" algn="l">
              <a:spcBef>
                <a:spcPts val="32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3pPr>
            <a:lvl4pPr indent="-228600" lvl="3" marL="18288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4pPr>
            <a:lvl5pPr indent="-228600" lvl="4" marL="22860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5pPr>
            <a:lvl6pPr indent="-228600" lvl="5" marL="27432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6pPr>
            <a:lvl7pPr indent="-228600" lvl="6" marL="32004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7pPr>
            <a:lvl8pPr indent="-228600" lvl="7" marL="36576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8pPr>
            <a:lvl9pPr indent="-228600" lvl="8" marL="41148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9pPr>
          </a:lstStyle>
          <a:p/>
        </p:txBody>
      </p:sp>
      <p:sp>
        <p:nvSpPr>
          <p:cNvPr id="173" name="Google Shape;173;p43"/>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4" name="Google Shape;174;p43"/>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5" name="Google Shape;175;p43"/>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6" name="Shape 176"/>
        <p:cNvGrpSpPr/>
        <p:nvPr/>
      </p:nvGrpSpPr>
      <p:grpSpPr>
        <a:xfrm>
          <a:off x="0" y="0"/>
          <a:ext cx="0" cy="0"/>
          <a:chOff x="0" y="0"/>
          <a:chExt cx="0" cy="0"/>
        </a:xfrm>
      </p:grpSpPr>
      <p:sp>
        <p:nvSpPr>
          <p:cNvPr id="177" name="Google Shape;177;p4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8" name="Google Shape;178;p4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9" name="Google Shape;179;p4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0" name="Google Shape;180;p44"/>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1" name="Google Shape;181;p44"/>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2" name="Google Shape;182;p44"/>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3" name="Shape 183"/>
        <p:cNvGrpSpPr/>
        <p:nvPr/>
      </p:nvGrpSpPr>
      <p:grpSpPr>
        <a:xfrm>
          <a:off x="0" y="0"/>
          <a:ext cx="0" cy="0"/>
          <a:chOff x="0" y="0"/>
          <a:chExt cx="0" cy="0"/>
        </a:xfrm>
      </p:grpSpPr>
      <p:sp>
        <p:nvSpPr>
          <p:cNvPr id="184" name="Google Shape;184;p45"/>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5" name="Google Shape;185;p45"/>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6" name="Google Shape;186;p45"/>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7" name="Google Shape;187;p45"/>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8" name="Shape 188"/>
        <p:cNvGrpSpPr/>
        <p:nvPr/>
      </p:nvGrpSpPr>
      <p:grpSpPr>
        <a:xfrm>
          <a:off x="0" y="0"/>
          <a:ext cx="0" cy="0"/>
          <a:chOff x="0" y="0"/>
          <a:chExt cx="0" cy="0"/>
        </a:xfrm>
      </p:grpSpPr>
      <p:sp>
        <p:nvSpPr>
          <p:cNvPr id="189" name="Google Shape;189;p46"/>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0" name="Google Shape;190;p46"/>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1" name="Google Shape;191;p46"/>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92" name="Shape 192"/>
        <p:cNvGrpSpPr/>
        <p:nvPr/>
      </p:nvGrpSpPr>
      <p:grpSpPr>
        <a:xfrm>
          <a:off x="0" y="0"/>
          <a:ext cx="0" cy="0"/>
          <a:chOff x="0" y="0"/>
          <a:chExt cx="0" cy="0"/>
        </a:xfrm>
      </p:grpSpPr>
      <p:sp>
        <p:nvSpPr>
          <p:cNvPr id="193" name="Google Shape;193;p4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4" name="Google Shape;194;p4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95" name="Google Shape;195;p4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spcBef>
                <a:spcPts val="24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spcBef>
                <a:spcPts val="2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196" name="Google Shape;196;p47"/>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7" name="Google Shape;197;p47"/>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8" name="Google Shape;198;p47"/>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99" name="Shape 199"/>
        <p:cNvGrpSpPr/>
        <p:nvPr/>
      </p:nvGrpSpPr>
      <p:grpSpPr>
        <a:xfrm>
          <a:off x="0" y="0"/>
          <a:ext cx="0" cy="0"/>
          <a:chOff x="0" y="0"/>
          <a:chExt cx="0" cy="0"/>
        </a:xfrm>
      </p:grpSpPr>
      <p:sp>
        <p:nvSpPr>
          <p:cNvPr id="200" name="Google Shape;200;p4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1" name="Google Shape;201;p48"/>
          <p:cNvSpPr/>
          <p:nvPr>
            <p:ph idx="2" type="pic"/>
          </p:nvPr>
        </p:nvSpPr>
        <p:spPr>
          <a:xfrm>
            <a:off x="1792288" y="612775"/>
            <a:ext cx="5486400" cy="4114800"/>
          </a:xfrm>
          <a:prstGeom prst="rect">
            <a:avLst/>
          </a:prstGeom>
          <a:noFill/>
          <a:ln>
            <a:noFill/>
          </a:ln>
        </p:spPr>
      </p:sp>
      <p:sp>
        <p:nvSpPr>
          <p:cNvPr id="202" name="Google Shape;202;p4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spcBef>
                <a:spcPts val="24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spcBef>
                <a:spcPts val="2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203" name="Google Shape;203;p48"/>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4" name="Google Shape;204;p48"/>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5" name="Google Shape;205;p48"/>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06" name="Shape 206"/>
        <p:cNvGrpSpPr/>
        <p:nvPr/>
      </p:nvGrpSpPr>
      <p:grpSpPr>
        <a:xfrm>
          <a:off x="0" y="0"/>
          <a:ext cx="0" cy="0"/>
          <a:chOff x="0" y="0"/>
          <a:chExt cx="0" cy="0"/>
        </a:xfrm>
      </p:grpSpPr>
      <p:sp>
        <p:nvSpPr>
          <p:cNvPr id="207" name="Google Shape;207;p49"/>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8" name="Google Shape;208;p4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9" name="Google Shape;209;p49"/>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0" name="Google Shape;210;p49"/>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1" name="Google Shape;211;p49"/>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12" name="Shape 212"/>
        <p:cNvGrpSpPr/>
        <p:nvPr/>
      </p:nvGrpSpPr>
      <p:grpSpPr>
        <a:xfrm>
          <a:off x="0" y="0"/>
          <a:ext cx="0" cy="0"/>
          <a:chOff x="0" y="0"/>
          <a:chExt cx="0" cy="0"/>
        </a:xfrm>
      </p:grpSpPr>
      <p:sp>
        <p:nvSpPr>
          <p:cNvPr id="213" name="Google Shape;213;p50"/>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14" name="Google Shape;214;p5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15" name="Google Shape;215;p50"/>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6" name="Google Shape;216;p50"/>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7" name="Google Shape;217;p50"/>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3.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4.xml"/><Relationship Id="rId12" Type="http://schemas.openxmlformats.org/officeDocument/2006/relationships/slideLayout" Target="../slideLayouts/slideLayout22.xml"/><Relationship Id="rId1" Type="http://schemas.openxmlformats.org/officeDocument/2006/relationships/image" Target="../media/image2.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2.xml"/><Relationship Id="rId10" Type="http://schemas.openxmlformats.org/officeDocument/2006/relationships/slideLayout" Target="../slideLayouts/slideLayout31.xml"/><Relationship Id="rId13" Type="http://schemas.openxmlformats.org/officeDocument/2006/relationships/theme" Target="../theme/theme2.xml"/><Relationship Id="rId12" Type="http://schemas.openxmlformats.org/officeDocument/2006/relationships/slideLayout" Target="../slideLayouts/slideLayout33.xml"/><Relationship Id="rId1" Type="http://schemas.openxmlformats.org/officeDocument/2006/relationships/image" Target="../media/image3.jpg"/><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9" Type="http://schemas.openxmlformats.org/officeDocument/2006/relationships/slideLayout" Target="../slideLayouts/slideLayout30.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descr="Slide 1b.jpg" id="6" name="Google Shape;6;p15"/>
          <p:cNvPicPr preferRelativeResize="0"/>
          <p:nvPr/>
        </p:nvPicPr>
        <p:blipFill rotWithShape="1">
          <a:blip r:embed="rId1">
            <a:alphaModFix/>
          </a:blip>
          <a:srcRect b="0" l="0" r="0" t="0"/>
          <a:stretch/>
        </p:blipFill>
        <p:spPr>
          <a:xfrm>
            <a:off x="0" y="0"/>
            <a:ext cx="9144000" cy="68580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 name="Shape 76"/>
        <p:cNvGrpSpPr/>
        <p:nvPr/>
      </p:nvGrpSpPr>
      <p:grpSpPr>
        <a:xfrm>
          <a:off x="0" y="0"/>
          <a:ext cx="0" cy="0"/>
          <a:chOff x="0" y="0"/>
          <a:chExt cx="0" cy="0"/>
        </a:xfrm>
      </p:grpSpPr>
      <p:pic>
        <p:nvPicPr>
          <p:cNvPr descr="Slide 1a.jpg" id="77" name="Google Shape;77;p17"/>
          <p:cNvPicPr preferRelativeResize="0"/>
          <p:nvPr/>
        </p:nvPicPr>
        <p:blipFill rotWithShape="1">
          <a:blip r:embed="rId1">
            <a:alphaModFix/>
          </a:blip>
          <a:srcRect b="0" l="0" r="0" t="0"/>
          <a:stretch/>
        </p:blipFill>
        <p:spPr>
          <a:xfrm>
            <a:off x="0" y="0"/>
            <a:ext cx="9144000" cy="68580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7" name="Shape 147"/>
        <p:cNvGrpSpPr/>
        <p:nvPr/>
      </p:nvGrpSpPr>
      <p:grpSpPr>
        <a:xfrm>
          <a:off x="0" y="0"/>
          <a:ext cx="0" cy="0"/>
          <a:chOff x="0" y="0"/>
          <a:chExt cx="0" cy="0"/>
        </a:xfrm>
      </p:grpSpPr>
      <p:pic>
        <p:nvPicPr>
          <p:cNvPr descr="Slide 1c.jpg" id="148" name="Google Shape;148;p22"/>
          <p:cNvPicPr preferRelativeResize="0"/>
          <p:nvPr/>
        </p:nvPicPr>
        <p:blipFill rotWithShape="1">
          <a:blip r:embed="rId1">
            <a:alphaModFix/>
          </a:blip>
          <a:srcRect b="0" l="0" r="0" t="0"/>
          <a:stretch/>
        </p:blipFill>
        <p:spPr>
          <a:xfrm>
            <a:off x="0" y="0"/>
            <a:ext cx="9144000" cy="68580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comments" Target="../comments/comment1.xml"/><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comments" Target="../comments/comment2.xml"/><Relationship Id="rId4" Type="http://schemas.openxmlformats.org/officeDocument/2006/relationships/image" Target="../media/image1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comments" Target="../comments/comment3.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comments" Target="../comments/comment4.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comments" Target="../comments/commen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comments" Target="../comments/commen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comments" Target="../comments/commen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
          <p:cNvSpPr txBox="1"/>
          <p:nvPr>
            <p:ph type="ctrTitle"/>
          </p:nvPr>
        </p:nvSpPr>
        <p:spPr>
          <a:xfrm>
            <a:off x="535350" y="699550"/>
            <a:ext cx="8073300" cy="1975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EENG-4640 Midterm Presentation </a:t>
            </a:r>
            <a:br>
              <a:rPr lang="en-US"/>
            </a:br>
            <a:r>
              <a:rPr b="1" lang="en-US">
                <a:solidFill>
                  <a:srgbClr val="C00000"/>
                </a:solidFill>
              </a:rPr>
              <a:t>A.R.G.O.S System</a:t>
            </a:r>
            <a:endParaRPr b="1">
              <a:solidFill>
                <a:srgbClr val="C00000"/>
              </a:solidFill>
            </a:endParaRPr>
          </a:p>
          <a:p>
            <a:pPr indent="0" lvl="0" marL="0" rtl="0" algn="ctr">
              <a:spcBef>
                <a:spcPts val="0"/>
              </a:spcBef>
              <a:spcAft>
                <a:spcPts val="0"/>
              </a:spcAft>
              <a:buClr>
                <a:schemeClr val="dk1"/>
              </a:buClr>
              <a:buSzPts val="4400"/>
              <a:buFont typeface="Calibri"/>
              <a:buNone/>
            </a:pPr>
            <a:r>
              <a:rPr b="1" i="1" lang="en-US" sz="2700">
                <a:solidFill>
                  <a:srgbClr val="C00000"/>
                </a:solidFill>
              </a:rPr>
              <a:t>A</a:t>
            </a:r>
            <a:r>
              <a:rPr i="1" lang="en-US" sz="2700">
                <a:solidFill>
                  <a:srgbClr val="C00000"/>
                </a:solidFill>
              </a:rPr>
              <a:t>ctive </a:t>
            </a:r>
            <a:r>
              <a:rPr b="1" i="1" lang="en-US" sz="2700">
                <a:solidFill>
                  <a:srgbClr val="C00000"/>
                </a:solidFill>
              </a:rPr>
              <a:t>R</a:t>
            </a:r>
            <a:r>
              <a:rPr i="1" lang="en-US" sz="2700">
                <a:solidFill>
                  <a:srgbClr val="C00000"/>
                </a:solidFill>
              </a:rPr>
              <a:t>obot </a:t>
            </a:r>
            <a:r>
              <a:rPr b="1" i="1" lang="en-US" sz="2700">
                <a:solidFill>
                  <a:srgbClr val="C00000"/>
                </a:solidFill>
              </a:rPr>
              <a:t>G</a:t>
            </a:r>
            <a:r>
              <a:rPr i="1" lang="en-US" sz="2700">
                <a:solidFill>
                  <a:srgbClr val="C00000"/>
                </a:solidFill>
              </a:rPr>
              <a:t>uidance with </a:t>
            </a:r>
            <a:r>
              <a:rPr b="1" i="1" lang="en-US" sz="2700">
                <a:solidFill>
                  <a:srgbClr val="C00000"/>
                </a:solidFill>
              </a:rPr>
              <a:t>O</a:t>
            </a:r>
            <a:r>
              <a:rPr i="1" lang="en-US" sz="2700">
                <a:solidFill>
                  <a:srgbClr val="C00000"/>
                </a:solidFill>
              </a:rPr>
              <a:t>bstacle </a:t>
            </a:r>
            <a:r>
              <a:rPr b="1" i="1" lang="en-US" sz="2700">
                <a:solidFill>
                  <a:srgbClr val="C00000"/>
                </a:solidFill>
              </a:rPr>
              <a:t>S</a:t>
            </a:r>
            <a:r>
              <a:rPr i="1" lang="en-US" sz="2700">
                <a:solidFill>
                  <a:srgbClr val="C00000"/>
                </a:solidFill>
              </a:rPr>
              <a:t>ensing System</a:t>
            </a:r>
            <a:endParaRPr i="1" sz="2700">
              <a:solidFill>
                <a:srgbClr val="C00000"/>
              </a:solidFill>
            </a:endParaRPr>
          </a:p>
        </p:txBody>
      </p:sp>
      <p:sp>
        <p:nvSpPr>
          <p:cNvPr id="223" name="Google Shape;223;p1"/>
          <p:cNvSpPr txBox="1"/>
          <p:nvPr>
            <p:ph idx="1" type="subTitle"/>
          </p:nvPr>
        </p:nvSpPr>
        <p:spPr>
          <a:xfrm>
            <a:off x="1371600" y="4376853"/>
            <a:ext cx="64008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rgbClr val="FFFF00"/>
              </a:buClr>
              <a:buSzPts val="3200"/>
              <a:buNone/>
            </a:pPr>
            <a:r>
              <a:rPr lang="en-US">
                <a:solidFill>
                  <a:srgbClr val="FFFF00"/>
                </a:solidFill>
              </a:rPr>
              <a:t>Team 1</a:t>
            </a:r>
            <a:endParaRPr/>
          </a:p>
          <a:p>
            <a:pPr indent="0" lvl="0" marL="0" rtl="0" algn="ctr">
              <a:spcBef>
                <a:spcPts val="640"/>
              </a:spcBef>
              <a:spcAft>
                <a:spcPts val="0"/>
              </a:spcAft>
              <a:buClr>
                <a:srgbClr val="FFFF00"/>
              </a:buClr>
              <a:buSzPts val="3200"/>
              <a:buNone/>
            </a:pPr>
            <a:r>
              <a:rPr lang="en-US">
                <a:solidFill>
                  <a:srgbClr val="FFFF00"/>
                </a:solidFill>
              </a:rPr>
              <a:t>Sebastian Oviedo, Anish Goyal, Elizabeth McGlone, Ariana Story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Project Introduction</a:t>
            </a:r>
            <a:endParaRPr/>
          </a:p>
        </p:txBody>
      </p:sp>
      <p:sp>
        <p:nvSpPr>
          <p:cNvPr id="229" name="Google Shape;229;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0" lvl="0" marL="0" rtl="0" algn="l">
              <a:spcBef>
                <a:spcPts val="640"/>
              </a:spcBef>
              <a:spcAft>
                <a:spcPts val="0"/>
              </a:spcAft>
              <a:buNone/>
            </a:pPr>
            <a:r>
              <a:rPr lang="en-US"/>
              <a:t>Obstacle-Aware Robotic Arm:</a:t>
            </a:r>
            <a:endParaRPr/>
          </a:p>
          <a:p>
            <a:pPr indent="-342900" lvl="0" marL="342900" rtl="0" algn="l">
              <a:spcBef>
                <a:spcPts val="640"/>
              </a:spcBef>
              <a:spcAft>
                <a:spcPts val="0"/>
              </a:spcAft>
              <a:buClr>
                <a:schemeClr val="dk1"/>
              </a:buClr>
              <a:buSzPts val="3200"/>
              <a:buChar char="•"/>
            </a:pPr>
            <a:r>
              <a:rPr lang="en-US"/>
              <a:t>Prevent collisions before contact</a:t>
            </a:r>
            <a:endParaRPr/>
          </a:p>
          <a:p>
            <a:pPr indent="-342900" lvl="0" marL="342900" rtl="0" algn="l">
              <a:spcBef>
                <a:spcPts val="640"/>
              </a:spcBef>
              <a:spcAft>
                <a:spcPts val="0"/>
              </a:spcAft>
              <a:buClr>
                <a:schemeClr val="dk1"/>
              </a:buClr>
              <a:buSzPts val="3200"/>
              <a:buChar char="•"/>
            </a:pPr>
            <a:r>
              <a:rPr lang="en-US"/>
              <a:t>Braccio 6-DOF servo arm</a:t>
            </a:r>
            <a:endParaRPr/>
          </a:p>
          <a:p>
            <a:pPr indent="-342900" lvl="0" marL="342900" rtl="0" algn="l">
              <a:spcBef>
                <a:spcPts val="640"/>
              </a:spcBef>
              <a:spcAft>
                <a:spcPts val="0"/>
              </a:spcAft>
              <a:buClr>
                <a:schemeClr val="dk1"/>
              </a:buClr>
              <a:buSzPts val="3200"/>
              <a:buChar char="•"/>
            </a:pPr>
            <a:r>
              <a:rPr lang="en-US"/>
              <a:t>ToF + IR sensors for two-layer safety</a:t>
            </a:r>
            <a:endParaRPr/>
          </a:p>
          <a:p>
            <a:pPr indent="-342900" lvl="0" marL="342900" rtl="0" algn="l">
              <a:spcBef>
                <a:spcPts val="640"/>
              </a:spcBef>
              <a:spcAft>
                <a:spcPts val="0"/>
              </a:spcAft>
              <a:buClr>
                <a:schemeClr val="dk1"/>
              </a:buClr>
              <a:buSzPts val="3200"/>
              <a:buChar char="•"/>
            </a:pPr>
            <a:r>
              <a:rPr lang="en-US"/>
              <a:t>Real-time motion adjustment</a:t>
            </a:r>
            <a:endParaRPr/>
          </a:p>
        </p:txBody>
      </p:sp>
      <p:pic>
        <p:nvPicPr>
          <p:cNvPr id="230" name="Google Shape;230;p2"/>
          <p:cNvPicPr preferRelativeResize="0"/>
          <p:nvPr/>
        </p:nvPicPr>
        <p:blipFill>
          <a:blip r:embed="rId4">
            <a:alphaModFix/>
          </a:blip>
          <a:stretch>
            <a:fillRect/>
          </a:stretch>
        </p:blipFill>
        <p:spPr>
          <a:xfrm>
            <a:off x="7018150" y="1160550"/>
            <a:ext cx="2068699" cy="2189100"/>
          </a:xfrm>
          <a:prstGeom prst="rect">
            <a:avLst/>
          </a:prstGeom>
          <a:noFill/>
          <a:ln>
            <a:noFill/>
          </a:ln>
        </p:spPr>
      </p:pic>
      <p:pic>
        <p:nvPicPr>
          <p:cNvPr id="231" name="Google Shape;231;p2"/>
          <p:cNvPicPr preferRelativeResize="0"/>
          <p:nvPr/>
        </p:nvPicPr>
        <p:blipFill>
          <a:blip r:embed="rId5">
            <a:alphaModFix/>
          </a:blip>
          <a:stretch>
            <a:fillRect/>
          </a:stretch>
        </p:blipFill>
        <p:spPr>
          <a:xfrm>
            <a:off x="2695575" y="4829812"/>
            <a:ext cx="3017649" cy="1764075"/>
          </a:xfrm>
          <a:prstGeom prst="rect">
            <a:avLst/>
          </a:prstGeom>
          <a:noFill/>
          <a:ln>
            <a:noFill/>
          </a:ln>
        </p:spPr>
      </p:pic>
      <p:pic>
        <p:nvPicPr>
          <p:cNvPr id="232" name="Google Shape;232;p2"/>
          <p:cNvPicPr preferRelativeResize="0"/>
          <p:nvPr/>
        </p:nvPicPr>
        <p:blipFill>
          <a:blip r:embed="rId6">
            <a:alphaModFix/>
          </a:blip>
          <a:stretch>
            <a:fillRect/>
          </a:stretch>
        </p:blipFill>
        <p:spPr>
          <a:xfrm>
            <a:off x="5886450" y="4806975"/>
            <a:ext cx="3102425" cy="1809750"/>
          </a:xfrm>
          <a:prstGeom prst="rect">
            <a:avLst/>
          </a:prstGeom>
          <a:noFill/>
          <a:ln>
            <a:noFill/>
          </a:ln>
        </p:spPr>
      </p:pic>
      <p:sp>
        <p:nvSpPr>
          <p:cNvPr id="233" name="Google Shape;233;p2"/>
          <p:cNvSpPr txBox="1"/>
          <p:nvPr/>
        </p:nvSpPr>
        <p:spPr>
          <a:xfrm>
            <a:off x="3331850" y="4256775"/>
            <a:ext cx="1745100" cy="55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t>IR Sensor</a:t>
            </a:r>
            <a:endParaRPr sz="2400"/>
          </a:p>
        </p:txBody>
      </p:sp>
      <p:sp>
        <p:nvSpPr>
          <p:cNvPr id="234" name="Google Shape;234;p2"/>
          <p:cNvSpPr txBox="1"/>
          <p:nvPr/>
        </p:nvSpPr>
        <p:spPr>
          <a:xfrm flipH="1">
            <a:off x="6403263" y="4256775"/>
            <a:ext cx="2068800" cy="55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t>TOF Sensor</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ca92075584_0_0"/>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Project Introduction</a:t>
            </a:r>
            <a:endParaRPr/>
          </a:p>
        </p:txBody>
      </p:sp>
      <p:sp>
        <p:nvSpPr>
          <p:cNvPr id="240" name="Google Shape;240;g3ca92075584_0_0"/>
          <p:cNvSpPr txBox="1"/>
          <p:nvPr>
            <p:ph idx="1" type="body"/>
          </p:nvPr>
        </p:nvSpPr>
        <p:spPr>
          <a:xfrm>
            <a:off x="457200" y="1417650"/>
            <a:ext cx="8229600" cy="4526100"/>
          </a:xfrm>
          <a:prstGeom prst="rect">
            <a:avLst/>
          </a:prstGeom>
          <a:noFill/>
          <a:ln>
            <a:noFill/>
          </a:ln>
        </p:spPr>
        <p:txBody>
          <a:bodyPr anchorCtr="0" anchor="t" bIns="45700" lIns="91425" spcFirstLastPara="1" rIns="91425" wrap="square" tIns="45700">
            <a:noAutofit/>
          </a:bodyPr>
          <a:lstStyle/>
          <a:p>
            <a:pPr indent="0" lvl="0" marL="0" rtl="0" algn="l">
              <a:spcBef>
                <a:spcPts val="640"/>
              </a:spcBef>
              <a:spcAft>
                <a:spcPts val="0"/>
              </a:spcAft>
              <a:buNone/>
            </a:pPr>
            <a:r>
              <a:rPr lang="en-US"/>
              <a:t>What the system does: </a:t>
            </a:r>
            <a:endParaRPr/>
          </a:p>
          <a:p>
            <a:pPr indent="-342900" lvl="0" marL="342900" rtl="0" algn="l">
              <a:spcBef>
                <a:spcPts val="640"/>
              </a:spcBef>
              <a:spcAft>
                <a:spcPts val="0"/>
              </a:spcAft>
              <a:buSzPts val="3200"/>
              <a:buChar char="•"/>
            </a:pPr>
            <a:r>
              <a:rPr lang="en-US"/>
              <a:t>Arm follows planned path</a:t>
            </a:r>
            <a:endParaRPr/>
          </a:p>
          <a:p>
            <a:pPr indent="-342900" lvl="0" marL="342900" rtl="0" algn="l">
              <a:spcBef>
                <a:spcPts val="640"/>
              </a:spcBef>
              <a:spcAft>
                <a:spcPts val="0"/>
              </a:spcAft>
              <a:buSzPts val="3200"/>
              <a:buChar char="•"/>
            </a:pPr>
            <a:r>
              <a:rPr lang="en-US"/>
              <a:t>Sensors monitor workspace</a:t>
            </a:r>
            <a:endParaRPr/>
          </a:p>
          <a:p>
            <a:pPr indent="-342900" lvl="0" marL="342900" rtl="0" algn="l">
              <a:spcBef>
                <a:spcPts val="640"/>
              </a:spcBef>
              <a:spcAft>
                <a:spcPts val="0"/>
              </a:spcAft>
              <a:buSzPts val="3200"/>
              <a:buChar char="•"/>
            </a:pPr>
            <a:r>
              <a:rPr lang="en-US"/>
              <a:t>Obstacle detected → </a:t>
            </a:r>
            <a:r>
              <a:rPr lang="en-US"/>
              <a:t>trajectory</a:t>
            </a:r>
            <a:r>
              <a:rPr lang="en-US"/>
              <a:t> adjusted in real time</a:t>
            </a:r>
            <a:endParaRPr/>
          </a:p>
          <a:p>
            <a:pPr indent="0" lvl="0" marL="342900" rtl="0" algn="l">
              <a:spcBef>
                <a:spcPts val="640"/>
              </a:spcBef>
              <a:spcAft>
                <a:spcPts val="0"/>
              </a:spcAft>
              <a:buNone/>
            </a:pPr>
            <a:r>
              <a:t/>
            </a:r>
            <a:endParaRPr/>
          </a:p>
          <a:p>
            <a:pPr indent="0" lvl="0" marL="342900" rtl="0" algn="l">
              <a:spcBef>
                <a:spcPts val="640"/>
              </a:spcBef>
              <a:spcAft>
                <a:spcPts val="0"/>
              </a:spcAft>
              <a:buNone/>
            </a:pPr>
            <a:r>
              <a:t/>
            </a:r>
            <a:endParaRPr/>
          </a:p>
          <a:p>
            <a:pPr indent="0" lvl="0" marL="342900" rtl="0" algn="l">
              <a:spcBef>
                <a:spcPts val="640"/>
              </a:spcBef>
              <a:spcAft>
                <a:spcPts val="0"/>
              </a:spcAft>
              <a:buNone/>
            </a:pPr>
            <a:r>
              <a:t/>
            </a:r>
            <a:endParaRPr/>
          </a:p>
        </p:txBody>
      </p:sp>
      <p:pic>
        <p:nvPicPr>
          <p:cNvPr id="241" name="Google Shape;241;g3ca92075584_0_0"/>
          <p:cNvPicPr preferRelativeResize="0"/>
          <p:nvPr/>
        </p:nvPicPr>
        <p:blipFill>
          <a:blip r:embed="rId4">
            <a:alphaModFix/>
          </a:blip>
          <a:stretch>
            <a:fillRect/>
          </a:stretch>
        </p:blipFill>
        <p:spPr>
          <a:xfrm>
            <a:off x="2783644" y="4511773"/>
            <a:ext cx="6191726" cy="20978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Motivation</a:t>
            </a:r>
            <a:endParaRPr/>
          </a:p>
        </p:txBody>
      </p:sp>
      <p:sp>
        <p:nvSpPr>
          <p:cNvPr id="247" name="Google Shape;247;p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42900" lvl="0" marL="342900" rtl="0" algn="l">
              <a:spcBef>
                <a:spcPts val="640"/>
              </a:spcBef>
              <a:spcAft>
                <a:spcPts val="0"/>
              </a:spcAft>
              <a:buSzPts val="3200"/>
              <a:buChar char="•"/>
            </a:pPr>
            <a:r>
              <a:rPr lang="en-US"/>
              <a:t>Industrial robots often rely on cages or E-stops</a:t>
            </a:r>
            <a:endParaRPr/>
          </a:p>
          <a:p>
            <a:pPr indent="-342900" lvl="0" marL="342900" rtl="0" algn="l">
              <a:spcBef>
                <a:spcPts val="640"/>
              </a:spcBef>
              <a:spcAft>
                <a:spcPts val="0"/>
              </a:spcAft>
              <a:buSzPts val="3200"/>
              <a:buChar char="•"/>
            </a:pPr>
            <a:r>
              <a:rPr lang="en-US"/>
              <a:t>Stops reduce productivity</a:t>
            </a:r>
            <a:endParaRPr/>
          </a:p>
          <a:p>
            <a:pPr indent="-342900" lvl="0" marL="342900" rtl="0" algn="l">
              <a:spcBef>
                <a:spcPts val="640"/>
              </a:spcBef>
              <a:spcAft>
                <a:spcPts val="0"/>
              </a:spcAft>
              <a:buSzPts val="3200"/>
              <a:buChar char="•"/>
            </a:pPr>
            <a:r>
              <a:rPr lang="en-US"/>
              <a:t>Human–robot workspaces are increasing</a:t>
            </a:r>
            <a:endParaRPr/>
          </a:p>
          <a:p>
            <a:pPr indent="-342900" lvl="0" marL="342900" rtl="0" algn="l">
              <a:spcBef>
                <a:spcPts val="640"/>
              </a:spcBef>
              <a:spcAft>
                <a:spcPts val="0"/>
              </a:spcAft>
              <a:buSzPts val="3200"/>
              <a:buChar char="•"/>
            </a:pPr>
            <a:r>
              <a:rPr lang="en-US"/>
              <a:t>Need safer, smarter interaction</a:t>
            </a:r>
            <a:endParaRPr/>
          </a:p>
          <a:p>
            <a:pPr indent="-342900" lvl="0" marL="342900" rtl="0" algn="l">
              <a:spcBef>
                <a:spcPts val="640"/>
              </a:spcBef>
              <a:spcAft>
                <a:spcPts val="0"/>
              </a:spcAft>
              <a:buSzPts val="3200"/>
              <a:buChar char="•"/>
            </a:pPr>
            <a:r>
              <a:rPr lang="en-US"/>
              <a:t>Low-cost platform for testing safety ideas</a:t>
            </a:r>
            <a:endParaRPr/>
          </a:p>
          <a:p>
            <a:pPr indent="0" lvl="0" marL="342900" rtl="0" algn="l">
              <a:spcBef>
                <a:spcPts val="640"/>
              </a:spcBef>
              <a:spcAft>
                <a:spcPts val="0"/>
              </a:spcAft>
              <a:buNone/>
            </a:pPr>
            <a:r>
              <a:t/>
            </a:r>
            <a:endParaRPr/>
          </a:p>
        </p:txBody>
      </p:sp>
      <p:pic>
        <p:nvPicPr>
          <p:cNvPr id="248" name="Google Shape;248;p3"/>
          <p:cNvPicPr preferRelativeResize="0"/>
          <p:nvPr/>
        </p:nvPicPr>
        <p:blipFill>
          <a:blip r:embed="rId4">
            <a:alphaModFix/>
          </a:blip>
          <a:stretch>
            <a:fillRect/>
          </a:stretch>
        </p:blipFill>
        <p:spPr>
          <a:xfrm>
            <a:off x="3008125" y="4505075"/>
            <a:ext cx="5983474" cy="22576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Project Background</a:t>
            </a:r>
            <a:endParaRPr/>
          </a:p>
        </p:txBody>
      </p:sp>
      <p:sp>
        <p:nvSpPr>
          <p:cNvPr id="254" name="Google Shape;254;p4"/>
          <p:cNvSpPr txBox="1"/>
          <p:nvPr>
            <p:ph idx="1" type="body"/>
          </p:nvPr>
        </p:nvSpPr>
        <p:spPr>
          <a:xfrm>
            <a:off x="457200" y="1600200"/>
            <a:ext cx="4114800" cy="4526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ToF</a:t>
            </a:r>
            <a:endParaRPr sz="2500"/>
          </a:p>
          <a:p>
            <a:pPr indent="-342900" lvl="0" marL="342900" rtl="0" algn="l">
              <a:spcBef>
                <a:spcPts val="0"/>
              </a:spcBef>
              <a:spcAft>
                <a:spcPts val="0"/>
              </a:spcAft>
              <a:buSzPts val="3200"/>
              <a:buChar char="•"/>
            </a:pPr>
            <a:r>
              <a:rPr lang="en-US" sz="2500"/>
              <a:t>Provides early obstacle detection in 60° FOV</a:t>
            </a:r>
            <a:endParaRPr sz="2500"/>
          </a:p>
          <a:p>
            <a:pPr indent="-342900" lvl="0" marL="342900" rtl="0" algn="l">
              <a:spcBef>
                <a:spcPts val="0"/>
              </a:spcBef>
              <a:spcAft>
                <a:spcPts val="0"/>
              </a:spcAft>
              <a:buSzPts val="3200"/>
              <a:buChar char="•"/>
            </a:pPr>
            <a:r>
              <a:rPr lang="en-US" sz="2500"/>
              <a:t>High accuracy and less affected by lighting or surface color</a:t>
            </a:r>
            <a:endParaRPr sz="2500"/>
          </a:p>
          <a:p>
            <a:pPr indent="-342900" lvl="0" marL="342900" rtl="0" algn="l">
              <a:spcBef>
                <a:spcPts val="0"/>
              </a:spcBef>
              <a:spcAft>
                <a:spcPts val="0"/>
              </a:spcAft>
              <a:buSzPts val="3200"/>
              <a:buChar char="•"/>
            </a:pPr>
            <a:r>
              <a:rPr lang="en-US" sz="2500"/>
              <a:t>Long-range detection (up to ≈4 m)</a:t>
            </a:r>
            <a:endParaRPr sz="2500"/>
          </a:p>
          <a:p>
            <a:pPr indent="0" lvl="0" marL="342900" rtl="0" algn="l">
              <a:spcBef>
                <a:spcPts val="0"/>
              </a:spcBef>
              <a:spcAft>
                <a:spcPts val="0"/>
              </a:spcAft>
              <a:buNone/>
            </a:pPr>
            <a:r>
              <a:t/>
            </a:r>
            <a:endParaRPr sz="2500"/>
          </a:p>
        </p:txBody>
      </p:sp>
      <p:sp>
        <p:nvSpPr>
          <p:cNvPr id="255" name="Google Shape;255;p4"/>
          <p:cNvSpPr txBox="1"/>
          <p:nvPr/>
        </p:nvSpPr>
        <p:spPr>
          <a:xfrm>
            <a:off x="4773600" y="1559250"/>
            <a:ext cx="3690000" cy="460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latin typeface="Calibri"/>
                <a:ea typeface="Calibri"/>
                <a:cs typeface="Calibri"/>
                <a:sym typeface="Calibri"/>
              </a:rPr>
              <a:t>IR</a:t>
            </a:r>
            <a:endParaRPr sz="3200">
              <a:latin typeface="Calibri"/>
              <a:ea typeface="Calibri"/>
              <a:cs typeface="Calibri"/>
              <a:sym typeface="Calibri"/>
            </a:endParaRPr>
          </a:p>
          <a:p>
            <a:pPr indent="-342900" lvl="0" marL="342900" rtl="0" algn="l">
              <a:spcBef>
                <a:spcPts val="0"/>
              </a:spcBef>
              <a:spcAft>
                <a:spcPts val="0"/>
              </a:spcAft>
              <a:buClr>
                <a:schemeClr val="dk1"/>
              </a:buClr>
              <a:buSzPts val="3200"/>
              <a:buChar char="•"/>
            </a:pPr>
            <a:r>
              <a:rPr lang="en-US" sz="2500">
                <a:latin typeface="Calibri"/>
                <a:ea typeface="Calibri"/>
                <a:cs typeface="Calibri"/>
                <a:sym typeface="Calibri"/>
              </a:rPr>
              <a:t>Provides 360° close-range coverage</a:t>
            </a:r>
            <a:endParaRPr sz="2500">
              <a:latin typeface="Calibri"/>
              <a:ea typeface="Calibri"/>
              <a:cs typeface="Calibri"/>
              <a:sym typeface="Calibri"/>
            </a:endParaRPr>
          </a:p>
          <a:p>
            <a:pPr indent="-342900" lvl="0" marL="342900" rtl="0" algn="l">
              <a:spcBef>
                <a:spcPts val="0"/>
              </a:spcBef>
              <a:spcAft>
                <a:spcPts val="0"/>
              </a:spcAft>
              <a:buClr>
                <a:schemeClr val="dk1"/>
              </a:buClr>
              <a:buSzPts val="3200"/>
              <a:buChar char="•"/>
            </a:pPr>
            <a:r>
              <a:rPr lang="en-US" sz="2500">
                <a:solidFill>
                  <a:schemeClr val="dk1"/>
                </a:solidFill>
                <a:latin typeface="Calibri"/>
                <a:ea typeface="Calibri"/>
                <a:cs typeface="Calibri"/>
                <a:sym typeface="Calibri"/>
              </a:rPr>
              <a:t>Low cost and easy to mount around arm links</a:t>
            </a:r>
            <a:endParaRPr sz="2500">
              <a:latin typeface="Calibri"/>
              <a:ea typeface="Calibri"/>
              <a:cs typeface="Calibri"/>
              <a:sym typeface="Calibri"/>
            </a:endParaRPr>
          </a:p>
          <a:p>
            <a:pPr indent="-342900" lvl="0" marL="342900" rtl="0" algn="l">
              <a:spcBef>
                <a:spcPts val="0"/>
              </a:spcBef>
              <a:spcAft>
                <a:spcPts val="0"/>
              </a:spcAft>
              <a:buClr>
                <a:schemeClr val="dk1"/>
              </a:buClr>
              <a:buSzPts val="3200"/>
              <a:buChar char="•"/>
            </a:pPr>
            <a:r>
              <a:rPr lang="en-US" sz="2500">
                <a:latin typeface="Calibri"/>
                <a:ea typeface="Calibri"/>
                <a:cs typeface="Calibri"/>
                <a:sym typeface="Calibri"/>
              </a:rPr>
              <a:t>Short-range detection (≈4-80 cm)</a:t>
            </a:r>
            <a:endParaRPr sz="2500">
              <a:latin typeface="Calibri"/>
              <a:ea typeface="Calibri"/>
              <a:cs typeface="Calibri"/>
              <a:sym typeface="Calibri"/>
            </a:endParaRPr>
          </a:p>
          <a:p>
            <a:pPr indent="0" lvl="0" marL="0" rtl="0" algn="l">
              <a:spcBef>
                <a:spcPts val="0"/>
              </a:spcBef>
              <a:spcAft>
                <a:spcPts val="0"/>
              </a:spcAft>
              <a:buNone/>
            </a:pPr>
            <a:r>
              <a:t/>
            </a:r>
            <a:endParaRPr sz="2500">
              <a:latin typeface="Calibri"/>
              <a:ea typeface="Calibri"/>
              <a:cs typeface="Calibri"/>
              <a:sym typeface="Calibri"/>
            </a:endParaRPr>
          </a:p>
          <a:p>
            <a:pPr indent="0" lvl="0" marL="0" rtl="0" algn="l">
              <a:spcBef>
                <a:spcPts val="0"/>
              </a:spcBef>
              <a:spcAft>
                <a:spcPts val="0"/>
              </a:spcAft>
              <a:buNone/>
            </a:pPr>
            <a:r>
              <a:t/>
            </a:r>
            <a:endParaRPr sz="25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g3ca92075584_0_17"/>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Project Background</a:t>
            </a:r>
            <a:endParaRPr/>
          </a:p>
        </p:txBody>
      </p:sp>
      <p:sp>
        <p:nvSpPr>
          <p:cNvPr id="261" name="Google Shape;261;g3ca92075584_0_1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Obstacle Avoidance Strategies: </a:t>
            </a:r>
            <a:endParaRPr/>
          </a:p>
          <a:p>
            <a:pPr indent="-342900" lvl="0" marL="342900" rtl="0" algn="l">
              <a:spcBef>
                <a:spcPts val="0"/>
              </a:spcBef>
              <a:spcAft>
                <a:spcPts val="0"/>
              </a:spcAft>
              <a:buClr>
                <a:schemeClr val="dk1"/>
              </a:buClr>
              <a:buSzPts val="3200"/>
              <a:buChar char="•"/>
            </a:pPr>
            <a:r>
              <a:rPr lang="en-US"/>
              <a:t>Threshold-based stopping with hysteresis</a:t>
            </a:r>
            <a:endParaRPr/>
          </a:p>
          <a:p>
            <a:pPr indent="-342900" lvl="0" marL="342900" rtl="0" algn="l">
              <a:spcBef>
                <a:spcPts val="0"/>
              </a:spcBef>
              <a:spcAft>
                <a:spcPts val="0"/>
              </a:spcAft>
              <a:buClr>
                <a:schemeClr val="dk1"/>
              </a:buClr>
              <a:buSzPts val="3200"/>
              <a:buChar char="•"/>
            </a:pPr>
            <a:r>
              <a:rPr lang="en-US"/>
              <a:t>Artificial Potential Fields (APF)</a:t>
            </a:r>
            <a:endParaRPr/>
          </a:p>
          <a:p>
            <a:pPr indent="-342900" lvl="0" marL="342900" rtl="0" algn="l">
              <a:spcBef>
                <a:spcPts val="0"/>
              </a:spcBef>
              <a:spcAft>
                <a:spcPts val="0"/>
              </a:spcAft>
              <a:buClr>
                <a:schemeClr val="dk1"/>
              </a:buClr>
              <a:buSzPts val="3200"/>
              <a:buChar char="•"/>
            </a:pPr>
            <a:r>
              <a:rPr lang="en-US"/>
              <a:t>Trajectory replanning</a:t>
            </a:r>
            <a:endParaRPr/>
          </a:p>
          <a:p>
            <a:pPr indent="-342900" lvl="0" marL="342900" rtl="0" algn="l">
              <a:spcBef>
                <a:spcPts val="0"/>
              </a:spcBef>
              <a:spcAft>
                <a:spcPts val="0"/>
              </a:spcAft>
              <a:buClr>
                <a:schemeClr val="dk1"/>
              </a:buClr>
              <a:buSzPts val="3200"/>
              <a:buChar char="•"/>
            </a:pPr>
            <a:r>
              <a:rPr lang="en-US"/>
              <a:t>Real-time collision avoidance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3ca92075584_0_22"/>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Project Background</a:t>
            </a:r>
            <a:endParaRPr/>
          </a:p>
        </p:txBody>
      </p:sp>
      <p:sp>
        <p:nvSpPr>
          <p:cNvPr id="267" name="Google Shape;267;g3ca92075584_0_22"/>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Robotics System Architecture &amp; Control:</a:t>
            </a:r>
            <a:endParaRPr/>
          </a:p>
          <a:p>
            <a:pPr indent="-342900" lvl="0" marL="342900" rtl="0" algn="l">
              <a:spcBef>
                <a:spcPts val="0"/>
              </a:spcBef>
              <a:spcAft>
                <a:spcPts val="0"/>
              </a:spcAft>
              <a:buClr>
                <a:schemeClr val="dk1"/>
              </a:buClr>
              <a:buSzPts val="3200"/>
              <a:buChar char="•"/>
            </a:pPr>
            <a:r>
              <a:rPr lang="en-US"/>
              <a:t>Distributed sensing and control</a:t>
            </a:r>
            <a:endParaRPr/>
          </a:p>
          <a:p>
            <a:pPr indent="-342900" lvl="0" marL="342900" rtl="0" algn="l">
              <a:spcBef>
                <a:spcPts val="0"/>
              </a:spcBef>
              <a:spcAft>
                <a:spcPts val="0"/>
              </a:spcAft>
              <a:buClr>
                <a:schemeClr val="dk1"/>
              </a:buClr>
              <a:buSzPts val="3200"/>
              <a:buChar char="•"/>
            </a:pPr>
            <a:r>
              <a:rPr lang="en-US"/>
              <a:t>Microcontroller for fast actuation</a:t>
            </a:r>
            <a:endParaRPr/>
          </a:p>
          <a:p>
            <a:pPr indent="-342900" lvl="0" marL="342900" rtl="0" algn="l">
              <a:spcBef>
                <a:spcPts val="0"/>
              </a:spcBef>
              <a:spcAft>
                <a:spcPts val="0"/>
              </a:spcAft>
              <a:buClr>
                <a:schemeClr val="dk1"/>
              </a:buClr>
              <a:buSzPts val="3200"/>
              <a:buChar char="•"/>
            </a:pPr>
            <a:r>
              <a:rPr lang="en-US"/>
              <a:t>Higher-level planning on PC</a:t>
            </a:r>
            <a:endParaRPr/>
          </a:p>
          <a:p>
            <a:pPr indent="-342900" lvl="0" marL="342900" rtl="0" algn="l">
              <a:spcBef>
                <a:spcPts val="0"/>
              </a:spcBef>
              <a:spcAft>
                <a:spcPts val="0"/>
              </a:spcAft>
              <a:buClr>
                <a:schemeClr val="dk1"/>
              </a:buClr>
              <a:buSzPts val="3200"/>
              <a:buChar char="•"/>
            </a:pPr>
            <a:r>
              <a:rPr lang="en-US"/>
              <a:t>Closed-loop feedback improves safety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3cb2a89b04c_0_7"/>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Hardware Block Diagram</a:t>
            </a:r>
            <a:endParaRPr/>
          </a:p>
        </p:txBody>
      </p:sp>
      <p:pic>
        <p:nvPicPr>
          <p:cNvPr id="273" name="Google Shape;273;g3cb2a89b04c_0_7" title="513fbeca750ac04b1f7bb50a89897a28.png"/>
          <p:cNvPicPr preferRelativeResize="0"/>
          <p:nvPr/>
        </p:nvPicPr>
        <p:blipFill>
          <a:blip r:embed="rId3">
            <a:alphaModFix/>
          </a:blip>
          <a:stretch>
            <a:fillRect/>
          </a:stretch>
        </p:blipFill>
        <p:spPr>
          <a:xfrm>
            <a:off x="246363" y="960388"/>
            <a:ext cx="8651277" cy="49372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6"/>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Program Flow Diagram</a:t>
            </a:r>
            <a:endParaRPr/>
          </a:p>
        </p:txBody>
      </p:sp>
      <p:sp>
        <p:nvSpPr>
          <p:cNvPr id="279" name="Google Shape;279;p6"/>
          <p:cNvSpPr txBox="1"/>
          <p:nvPr/>
        </p:nvSpPr>
        <p:spPr>
          <a:xfrm>
            <a:off x="3742245" y="1169023"/>
            <a:ext cx="2145459"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000">
                <a:solidFill>
                  <a:schemeClr val="dk1"/>
                </a:solidFill>
                <a:latin typeface="Calibri"/>
                <a:ea typeface="Calibri"/>
                <a:cs typeface="Calibri"/>
                <a:sym typeface="Calibri"/>
              </a:rPr>
              <a:t>Examples</a:t>
            </a:r>
            <a:endParaRPr/>
          </a:p>
        </p:txBody>
      </p:sp>
      <p:pic>
        <p:nvPicPr>
          <p:cNvPr id="280" name="Google Shape;280;p6"/>
          <p:cNvPicPr preferRelativeResize="0"/>
          <p:nvPr/>
        </p:nvPicPr>
        <p:blipFill>
          <a:blip r:embed="rId3">
            <a:alphaModFix/>
          </a:blip>
          <a:stretch>
            <a:fillRect/>
          </a:stretch>
        </p:blipFill>
        <p:spPr>
          <a:xfrm>
            <a:off x="727375" y="1006475"/>
            <a:ext cx="7954250" cy="5851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7"/>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Project  Schedule</a:t>
            </a:r>
            <a:endParaRPr/>
          </a:p>
        </p:txBody>
      </p:sp>
      <p:pic>
        <p:nvPicPr>
          <p:cNvPr id="286" name="Google Shape;286;p7"/>
          <p:cNvPicPr preferRelativeResize="0"/>
          <p:nvPr/>
        </p:nvPicPr>
        <p:blipFill>
          <a:blip r:embed="rId3">
            <a:alphaModFix/>
          </a:blip>
          <a:stretch>
            <a:fillRect/>
          </a:stretch>
        </p:blipFill>
        <p:spPr>
          <a:xfrm>
            <a:off x="2282200" y="925525"/>
            <a:ext cx="4579599" cy="55563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id="291" name="Google Shape;291;g3cba2c7a8f9_1_3"/>
          <p:cNvPicPr preferRelativeResize="0"/>
          <p:nvPr/>
        </p:nvPicPr>
        <p:blipFill>
          <a:blip r:embed="rId3">
            <a:alphaModFix/>
          </a:blip>
          <a:stretch>
            <a:fillRect/>
          </a:stretch>
        </p:blipFill>
        <p:spPr>
          <a:xfrm>
            <a:off x="345488" y="1508225"/>
            <a:ext cx="8625275" cy="5062298"/>
          </a:xfrm>
          <a:prstGeom prst="rect">
            <a:avLst/>
          </a:prstGeom>
          <a:noFill/>
          <a:ln>
            <a:noFill/>
          </a:ln>
        </p:spPr>
      </p:pic>
      <p:sp>
        <p:nvSpPr>
          <p:cNvPr id="292" name="Google Shape;292;g3cba2c7a8f9_1_3"/>
          <p:cNvSpPr txBox="1"/>
          <p:nvPr>
            <p:ph type="title"/>
          </p:nvPr>
        </p:nvSpPr>
        <p:spPr>
          <a:xfrm>
            <a:off x="543325" y="428013"/>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Project  Schedule : 0-8 Weeks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id="297" name="Google Shape;297;g3cba2c7a8f9_1_10"/>
          <p:cNvPicPr preferRelativeResize="0"/>
          <p:nvPr/>
        </p:nvPicPr>
        <p:blipFill>
          <a:blip r:embed="rId3">
            <a:alphaModFix/>
          </a:blip>
          <a:stretch>
            <a:fillRect/>
          </a:stretch>
        </p:blipFill>
        <p:spPr>
          <a:xfrm>
            <a:off x="520938" y="928025"/>
            <a:ext cx="8186122" cy="5835773"/>
          </a:xfrm>
          <a:prstGeom prst="rect">
            <a:avLst/>
          </a:prstGeom>
          <a:noFill/>
          <a:ln>
            <a:noFill/>
          </a:ln>
        </p:spPr>
      </p:pic>
      <p:sp>
        <p:nvSpPr>
          <p:cNvPr id="298" name="Google Shape;298;g3cba2c7a8f9_1_10"/>
          <p:cNvSpPr txBox="1"/>
          <p:nvPr>
            <p:ph type="title"/>
          </p:nvPr>
        </p:nvSpPr>
        <p:spPr>
          <a:xfrm>
            <a:off x="499200" y="190613"/>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Project  Schedule : 9-16 Weeks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g3ca92075584_0_30"/>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Project Main Challenges</a:t>
            </a:r>
            <a:endParaRPr/>
          </a:p>
        </p:txBody>
      </p:sp>
      <p:sp>
        <p:nvSpPr>
          <p:cNvPr id="304" name="Google Shape;304;g3ca92075584_0_30"/>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Mechanical &amp; Integration Challenges:</a:t>
            </a:r>
            <a:endParaRPr/>
          </a:p>
          <a:p>
            <a:pPr indent="-342900" lvl="0" marL="342900" rtl="0" algn="l">
              <a:spcBef>
                <a:spcPts val="0"/>
              </a:spcBef>
              <a:spcAft>
                <a:spcPts val="0"/>
              </a:spcAft>
              <a:buClr>
                <a:schemeClr val="dk1"/>
              </a:buClr>
              <a:buSzPts val="3200"/>
              <a:buChar char="•"/>
            </a:pPr>
            <a:r>
              <a:rPr lang="en-US"/>
              <a:t>Original plan: fully 3D-print robotic arm</a:t>
            </a:r>
            <a:endParaRPr/>
          </a:p>
          <a:p>
            <a:pPr indent="-342900" lvl="0" marL="342900" rtl="0" algn="l">
              <a:spcBef>
                <a:spcPts val="0"/>
              </a:spcBef>
              <a:spcAft>
                <a:spcPts val="0"/>
              </a:spcAft>
              <a:buClr>
                <a:schemeClr val="dk1"/>
              </a:buClr>
              <a:buSzPts val="3200"/>
              <a:buChar char="•"/>
            </a:pPr>
            <a:r>
              <a:rPr lang="en-US"/>
              <a:t>Printing and assembly time constraints</a:t>
            </a:r>
            <a:endParaRPr/>
          </a:p>
          <a:p>
            <a:pPr indent="-342900" lvl="0" marL="342900" rtl="0" algn="l">
              <a:spcBef>
                <a:spcPts val="0"/>
              </a:spcBef>
              <a:spcAft>
                <a:spcPts val="0"/>
              </a:spcAft>
              <a:buClr>
                <a:schemeClr val="dk1"/>
              </a:buClr>
              <a:buSzPts val="3200"/>
              <a:buChar char="•"/>
            </a:pPr>
            <a:r>
              <a:rPr lang="en-US"/>
              <a:t>Shift to Braccio arm to manage scope</a:t>
            </a:r>
            <a:endParaRPr/>
          </a:p>
          <a:p>
            <a:pPr indent="-342900" lvl="0" marL="342900" rtl="0" algn="l">
              <a:spcBef>
                <a:spcPts val="0"/>
              </a:spcBef>
              <a:spcAft>
                <a:spcPts val="0"/>
              </a:spcAft>
              <a:buClr>
                <a:schemeClr val="dk1"/>
              </a:buClr>
              <a:buSzPts val="3200"/>
              <a:buChar char="•"/>
            </a:pPr>
            <a:r>
              <a:rPr lang="en-US"/>
              <a:t>Mounting and wiring multiple sensors</a:t>
            </a:r>
            <a:endParaRPr/>
          </a:p>
          <a:p>
            <a:pPr indent="-342900" lvl="0" marL="342900" rtl="0" algn="l">
              <a:spcBef>
                <a:spcPts val="0"/>
              </a:spcBef>
              <a:spcAft>
                <a:spcPts val="0"/>
              </a:spcAft>
              <a:buClr>
                <a:schemeClr val="dk1"/>
              </a:buClr>
              <a:buSzPts val="3200"/>
              <a:buChar char="•"/>
            </a:pPr>
            <a:r>
              <a:rPr lang="en-US"/>
              <a:t>Preventing sensor interference</a:t>
            </a:r>
            <a:endParaRPr/>
          </a:p>
        </p:txBody>
      </p:sp>
      <p:pic>
        <p:nvPicPr>
          <p:cNvPr id="305" name="Google Shape;305;g3ca92075584_0_30"/>
          <p:cNvPicPr preferRelativeResize="0"/>
          <p:nvPr/>
        </p:nvPicPr>
        <p:blipFill rotWithShape="1">
          <a:blip r:embed="rId3">
            <a:alphaModFix/>
          </a:blip>
          <a:srcRect b="9893" l="0" r="0" t="0"/>
          <a:stretch/>
        </p:blipFill>
        <p:spPr>
          <a:xfrm>
            <a:off x="2714500" y="4675525"/>
            <a:ext cx="6429499" cy="20193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8"/>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Project Main Challenges</a:t>
            </a:r>
            <a:endParaRPr/>
          </a:p>
        </p:txBody>
      </p:sp>
      <p:sp>
        <p:nvSpPr>
          <p:cNvPr id="311" name="Google Shape;311;p8"/>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Software &amp; Control Challenges:</a:t>
            </a:r>
            <a:endParaRPr/>
          </a:p>
          <a:p>
            <a:pPr indent="-342900" lvl="0" marL="342900" rtl="0" algn="l">
              <a:spcBef>
                <a:spcPts val="0"/>
              </a:spcBef>
              <a:spcAft>
                <a:spcPts val="0"/>
              </a:spcAft>
              <a:buClr>
                <a:schemeClr val="dk1"/>
              </a:buClr>
              <a:buSzPts val="3200"/>
              <a:buChar char="•"/>
            </a:pPr>
            <a:r>
              <a:rPr lang="en-US"/>
              <a:t>Ensuring modeling/simulation compatibility</a:t>
            </a:r>
            <a:endParaRPr/>
          </a:p>
          <a:p>
            <a:pPr indent="-342900" lvl="0" marL="342900" rtl="0" algn="l">
              <a:spcBef>
                <a:spcPts val="0"/>
              </a:spcBef>
              <a:spcAft>
                <a:spcPts val="0"/>
              </a:spcAft>
              <a:buClr>
                <a:schemeClr val="dk1"/>
              </a:buClr>
              <a:buSzPts val="3200"/>
              <a:buChar char="•"/>
            </a:pPr>
            <a:r>
              <a:rPr lang="en-US"/>
              <a:t>Implementing inverse kinematics correctly</a:t>
            </a:r>
            <a:endParaRPr/>
          </a:p>
          <a:p>
            <a:pPr indent="-342900" lvl="0" marL="342900" rtl="0" algn="l">
              <a:spcBef>
                <a:spcPts val="0"/>
              </a:spcBef>
              <a:spcAft>
                <a:spcPts val="0"/>
              </a:spcAft>
              <a:buClr>
                <a:schemeClr val="dk1"/>
              </a:buClr>
              <a:buSzPts val="3200"/>
              <a:buChar char="•"/>
            </a:pPr>
            <a:r>
              <a:rPr lang="en-US"/>
              <a:t>Managing servo speed and smooth motion</a:t>
            </a:r>
            <a:endParaRPr/>
          </a:p>
          <a:p>
            <a:pPr indent="-342900" lvl="0" marL="342900" rtl="0" algn="l">
              <a:spcBef>
                <a:spcPts val="0"/>
              </a:spcBef>
              <a:spcAft>
                <a:spcPts val="0"/>
              </a:spcAft>
              <a:buClr>
                <a:schemeClr val="dk1"/>
              </a:buClr>
              <a:buSzPts val="3200"/>
              <a:buChar char="•"/>
            </a:pPr>
            <a:r>
              <a:rPr lang="en-US"/>
              <a:t>Processing sensor data in real time</a:t>
            </a:r>
            <a:endParaRPr/>
          </a:p>
          <a:p>
            <a:pPr indent="-342900" lvl="0" marL="342900" rtl="0" algn="l">
              <a:spcBef>
                <a:spcPts val="0"/>
              </a:spcBef>
              <a:spcAft>
                <a:spcPts val="0"/>
              </a:spcAft>
              <a:buClr>
                <a:schemeClr val="dk1"/>
              </a:buClr>
              <a:buSzPts val="3200"/>
              <a:buChar char="•"/>
            </a:pPr>
            <a:r>
              <a:rPr lang="en-US"/>
              <a:t>Converting detection into safe motion decisions</a:t>
            </a:r>
            <a:endParaRPr/>
          </a:p>
        </p:txBody>
      </p:sp>
      <p:pic>
        <p:nvPicPr>
          <p:cNvPr id="312" name="Google Shape;312;p8"/>
          <p:cNvPicPr preferRelativeResize="0"/>
          <p:nvPr/>
        </p:nvPicPr>
        <p:blipFill>
          <a:blip r:embed="rId4">
            <a:alphaModFix/>
          </a:blip>
          <a:stretch>
            <a:fillRect/>
          </a:stretch>
        </p:blipFill>
        <p:spPr>
          <a:xfrm>
            <a:off x="3941575" y="4743225"/>
            <a:ext cx="4810124" cy="2010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9"/>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Project Goals</a:t>
            </a:r>
            <a:endParaRPr/>
          </a:p>
        </p:txBody>
      </p:sp>
      <p:sp>
        <p:nvSpPr>
          <p:cNvPr id="318" name="Google Shape;318;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Integrate ToF + IR sensors onto Braccio arm</a:t>
            </a:r>
            <a:endParaRPr/>
          </a:p>
          <a:p>
            <a:pPr indent="-342900" lvl="0" marL="342900" rtl="0" algn="l">
              <a:spcBef>
                <a:spcPts val="0"/>
              </a:spcBef>
              <a:spcAft>
                <a:spcPts val="0"/>
              </a:spcAft>
              <a:buClr>
                <a:schemeClr val="dk1"/>
              </a:buClr>
              <a:buSzPts val="3200"/>
              <a:buChar char="•"/>
            </a:pPr>
            <a:r>
              <a:rPr lang="en-US"/>
              <a:t>Achieve reliable obstacle detection within defined zones</a:t>
            </a:r>
            <a:endParaRPr/>
          </a:p>
          <a:p>
            <a:pPr indent="-342900" lvl="0" marL="342900" rtl="0" algn="l">
              <a:spcBef>
                <a:spcPts val="0"/>
              </a:spcBef>
              <a:spcAft>
                <a:spcPts val="0"/>
              </a:spcAft>
              <a:buClr>
                <a:schemeClr val="dk1"/>
              </a:buClr>
              <a:buSzPts val="3200"/>
              <a:buChar char="•"/>
            </a:pPr>
            <a:r>
              <a:rPr lang="en-US"/>
              <a:t>Implement real-time stop and slow behavior</a:t>
            </a:r>
            <a:endParaRPr/>
          </a:p>
          <a:p>
            <a:pPr indent="-342900" lvl="0" marL="342900" rtl="0" algn="l">
              <a:spcBef>
                <a:spcPts val="0"/>
              </a:spcBef>
              <a:spcAft>
                <a:spcPts val="0"/>
              </a:spcAft>
              <a:buClr>
                <a:schemeClr val="dk1"/>
              </a:buClr>
              <a:buSzPts val="3200"/>
              <a:buChar char="•"/>
            </a:pPr>
            <a:r>
              <a:rPr lang="en-US"/>
              <a:t>Demonstrate trajectory adjustment around obstacles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g3ca92075584_0_39"/>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Project Goals</a:t>
            </a:r>
            <a:endParaRPr/>
          </a:p>
        </p:txBody>
      </p:sp>
      <p:sp>
        <p:nvSpPr>
          <p:cNvPr id="324" name="Google Shape;324;g3ca92075584_0_39"/>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Validate performance through repeated testing</a:t>
            </a:r>
            <a:endParaRPr/>
          </a:p>
          <a:p>
            <a:pPr indent="-342900" lvl="0" marL="342900" rtl="0" algn="l">
              <a:spcBef>
                <a:spcPts val="0"/>
              </a:spcBef>
              <a:spcAft>
                <a:spcPts val="0"/>
              </a:spcAft>
              <a:buClr>
                <a:schemeClr val="dk1"/>
              </a:buClr>
              <a:buSzPts val="3200"/>
              <a:buChar char="•"/>
            </a:pPr>
            <a:r>
              <a:rPr lang="en-US"/>
              <a:t>Measure safety margin and response time</a:t>
            </a:r>
            <a:endParaRPr/>
          </a:p>
          <a:p>
            <a:pPr indent="-342900" lvl="0" marL="342900" rtl="0" algn="l">
              <a:spcBef>
                <a:spcPts val="0"/>
              </a:spcBef>
              <a:spcAft>
                <a:spcPts val="0"/>
              </a:spcAft>
              <a:buClr>
                <a:schemeClr val="dk1"/>
              </a:buClr>
              <a:buSzPts val="3200"/>
              <a:buChar char="•"/>
            </a:pPr>
            <a:r>
              <a:rPr lang="en-US"/>
              <a:t>Ensure smooth, stable servo motion</a:t>
            </a:r>
            <a:endParaRPr/>
          </a:p>
          <a:p>
            <a:pPr indent="-342900" lvl="0" marL="342900" rtl="0" algn="l">
              <a:spcBef>
                <a:spcPts val="0"/>
              </a:spcBef>
              <a:spcAft>
                <a:spcPts val="0"/>
              </a:spcAft>
              <a:buClr>
                <a:schemeClr val="dk1"/>
              </a:buClr>
              <a:buSzPts val="3200"/>
              <a:buChar char="•"/>
            </a:pPr>
            <a:r>
              <a:rPr lang="en-US"/>
              <a:t>Complete full system by Week 14</a:t>
            </a:r>
            <a:endParaRPr/>
          </a:p>
          <a:p>
            <a:pPr indent="-342900" lvl="0" marL="342900" rtl="0" algn="l">
              <a:spcBef>
                <a:spcPts val="0"/>
              </a:spcBef>
              <a:spcAft>
                <a:spcPts val="0"/>
              </a:spcAft>
              <a:buClr>
                <a:schemeClr val="dk1"/>
              </a:buClr>
              <a:buSzPts val="3200"/>
              <a:buChar char="•"/>
            </a:pPr>
            <a:r>
              <a:rPr lang="en-US"/>
              <a:t>Allow 2-week buffer before final demo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10"/>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Project Implementation Details:</a:t>
            </a:r>
            <a:endParaRPr/>
          </a:p>
          <a:p>
            <a:pPr indent="0" lvl="0" marL="0" rtl="0" algn="ctr">
              <a:spcBef>
                <a:spcPts val="0"/>
              </a:spcBef>
              <a:spcAft>
                <a:spcPts val="0"/>
              </a:spcAft>
              <a:buClr>
                <a:schemeClr val="dk1"/>
              </a:buClr>
              <a:buSzPts val="4400"/>
              <a:buFont typeface="Calibri"/>
              <a:buNone/>
            </a:pPr>
            <a:r>
              <a:rPr lang="en-US"/>
              <a:t>Inverse Kinematics</a:t>
            </a:r>
            <a:endParaRPr/>
          </a:p>
        </p:txBody>
      </p:sp>
      <p:sp>
        <p:nvSpPr>
          <p:cNvPr id="330" name="Google Shape;330;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Talk about any specific design, fabrication, testing implementation details already being solved. </a:t>
            </a:r>
            <a:endParaRPr/>
          </a:p>
          <a:p>
            <a:pPr indent="-342900" lvl="0" marL="342900" rtl="0" algn="l">
              <a:spcBef>
                <a:spcPts val="640"/>
              </a:spcBef>
              <a:spcAft>
                <a:spcPts val="0"/>
              </a:spcAft>
              <a:buClr>
                <a:schemeClr val="dk1"/>
              </a:buClr>
              <a:buSzPts val="3200"/>
              <a:buChar char="•"/>
            </a:pPr>
            <a:r>
              <a:rPr lang="en-US"/>
              <a:t>Include pictures of things implemented with proper labels</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g3cba2c7a8f9_0_5"/>
          <p:cNvSpPr txBox="1"/>
          <p:nvPr>
            <p:ph type="title"/>
          </p:nvPr>
        </p:nvSpPr>
        <p:spPr>
          <a:xfrm>
            <a:off x="457200" y="109688"/>
            <a:ext cx="8229600" cy="11430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en-US"/>
              <a:t>Project Implementation Details</a:t>
            </a:r>
            <a:endParaRPr/>
          </a:p>
          <a:p>
            <a:pPr indent="0" lvl="0" marL="0" rtl="0" algn="ctr">
              <a:spcBef>
                <a:spcPts val="0"/>
              </a:spcBef>
              <a:spcAft>
                <a:spcPts val="0"/>
              </a:spcAft>
              <a:buNone/>
            </a:pPr>
            <a:r>
              <a:rPr lang="en-US"/>
              <a:t>Trajectory Optimization</a:t>
            </a:r>
            <a:endParaRPr/>
          </a:p>
        </p:txBody>
      </p:sp>
      <p:sp>
        <p:nvSpPr>
          <p:cNvPr id="336" name="Google Shape;336;g3cba2c7a8f9_0_5"/>
          <p:cNvSpPr txBox="1"/>
          <p:nvPr>
            <p:ph idx="1" type="body"/>
          </p:nvPr>
        </p:nvSpPr>
        <p:spPr>
          <a:xfrm>
            <a:off x="887725" y="5019500"/>
            <a:ext cx="7034700" cy="813000"/>
          </a:xfrm>
          <a:prstGeom prst="rect">
            <a:avLst/>
          </a:prstGeom>
        </p:spPr>
        <p:txBody>
          <a:bodyPr anchorCtr="0" anchor="t" bIns="45700" lIns="91425" spcFirstLastPara="1" rIns="91425" wrap="square" tIns="45700">
            <a:noAutofit/>
          </a:bodyPr>
          <a:lstStyle/>
          <a:p>
            <a:pPr indent="0" lvl="0" marL="0" rtl="0" algn="l">
              <a:spcBef>
                <a:spcPts val="640"/>
              </a:spcBef>
              <a:spcAft>
                <a:spcPts val="0"/>
              </a:spcAft>
              <a:buNone/>
            </a:pPr>
            <a:r>
              <a:rPr lang="en-US" sz="2000"/>
              <a:t>Using quadratic programming to recalculate an optimal approach to target considering detected obstacle.</a:t>
            </a:r>
            <a:endParaRPr sz="2000"/>
          </a:p>
        </p:txBody>
      </p:sp>
      <p:pic>
        <p:nvPicPr>
          <p:cNvPr id="337" name="Google Shape;337;g3cba2c7a8f9_0_5" title="88e921ee5c09c5f7dd4afd511da983dd.png"/>
          <p:cNvPicPr preferRelativeResize="0"/>
          <p:nvPr/>
        </p:nvPicPr>
        <p:blipFill>
          <a:blip r:embed="rId3">
            <a:alphaModFix/>
          </a:blip>
          <a:stretch>
            <a:fillRect/>
          </a:stretch>
        </p:blipFill>
        <p:spPr>
          <a:xfrm>
            <a:off x="887701" y="1758550"/>
            <a:ext cx="7034748" cy="317930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g386ca8aec90_0_0"/>
          <p:cNvSpPr txBox="1"/>
          <p:nvPr>
            <p:ph type="title"/>
          </p:nvPr>
        </p:nvSpPr>
        <p:spPr>
          <a:xfrm>
            <a:off x="457200" y="274638"/>
            <a:ext cx="8229600" cy="11430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en-US"/>
              <a:t>Project Implementation Details</a:t>
            </a:r>
            <a:endParaRPr/>
          </a:p>
          <a:p>
            <a:pPr indent="0" lvl="0" marL="0" rtl="0" algn="ctr">
              <a:spcBef>
                <a:spcPts val="0"/>
              </a:spcBef>
              <a:spcAft>
                <a:spcPts val="0"/>
              </a:spcAft>
              <a:buNone/>
            </a:pPr>
            <a:r>
              <a:rPr lang="en-US"/>
              <a:t>ToF Sensor Deployment</a:t>
            </a:r>
            <a:endParaRPr/>
          </a:p>
        </p:txBody>
      </p:sp>
      <p:sp>
        <p:nvSpPr>
          <p:cNvPr id="343" name="Google Shape;343;g386ca8aec90_0_0"/>
          <p:cNvSpPr txBox="1"/>
          <p:nvPr>
            <p:ph idx="1" type="body"/>
          </p:nvPr>
        </p:nvSpPr>
        <p:spPr>
          <a:xfrm>
            <a:off x="133550" y="1670900"/>
            <a:ext cx="2616000" cy="4115700"/>
          </a:xfrm>
          <a:prstGeom prst="rect">
            <a:avLst/>
          </a:prstGeom>
        </p:spPr>
        <p:txBody>
          <a:bodyPr anchorCtr="0" anchor="t" bIns="45700" lIns="91425" spcFirstLastPara="1" rIns="91425" wrap="square" tIns="45700">
            <a:noAutofit/>
          </a:bodyPr>
          <a:lstStyle/>
          <a:p>
            <a:pPr indent="0" lvl="0" marL="0" rtl="0" algn="l">
              <a:spcBef>
                <a:spcPts val="640"/>
              </a:spcBef>
              <a:spcAft>
                <a:spcPts val="0"/>
              </a:spcAft>
              <a:buNone/>
            </a:pPr>
            <a:r>
              <a:rPr lang="en-US" sz="2300"/>
              <a:t>Mounted on end-major-effector of the braccio, used for global optimization.</a:t>
            </a:r>
            <a:endParaRPr sz="2300"/>
          </a:p>
        </p:txBody>
      </p:sp>
      <p:pic>
        <p:nvPicPr>
          <p:cNvPr id="344" name="Google Shape;344;g386ca8aec90_0_0" title="b42939a9e8770bff2f9ad95ecb957520.png"/>
          <p:cNvPicPr preferRelativeResize="0"/>
          <p:nvPr/>
        </p:nvPicPr>
        <p:blipFill>
          <a:blip r:embed="rId3">
            <a:alphaModFix/>
          </a:blip>
          <a:stretch>
            <a:fillRect/>
          </a:stretch>
        </p:blipFill>
        <p:spPr>
          <a:xfrm>
            <a:off x="2749475" y="1774525"/>
            <a:ext cx="6186724" cy="401200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g386ca8aec90_0_5"/>
          <p:cNvSpPr txBox="1"/>
          <p:nvPr>
            <p:ph type="title"/>
          </p:nvPr>
        </p:nvSpPr>
        <p:spPr>
          <a:xfrm>
            <a:off x="457200" y="274638"/>
            <a:ext cx="8229600" cy="11430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en-US"/>
              <a:t>Project Implementation Details</a:t>
            </a:r>
            <a:endParaRPr/>
          </a:p>
          <a:p>
            <a:pPr indent="0" lvl="0" marL="0" rtl="0" algn="ctr">
              <a:spcBef>
                <a:spcPts val="0"/>
              </a:spcBef>
              <a:spcAft>
                <a:spcPts val="0"/>
              </a:spcAft>
              <a:buNone/>
            </a:pPr>
            <a:r>
              <a:rPr lang="en-US"/>
              <a:t>IR “Skin” Deployment</a:t>
            </a:r>
            <a:endParaRPr/>
          </a:p>
        </p:txBody>
      </p:sp>
      <p:sp>
        <p:nvSpPr>
          <p:cNvPr id="350" name="Google Shape;350;g386ca8aec90_0_5"/>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640"/>
              </a:spcBef>
              <a:spcAft>
                <a:spcPts val="0"/>
              </a:spcAft>
              <a:buNone/>
            </a:pPr>
            <a:r>
              <a:rPr lang="en-US"/>
              <a:t>Using</a:t>
            </a:r>
            <a:r>
              <a:rPr lang="en-US"/>
              <a:t> hysteresis-based control, protect inner-effectors of arm. Used for local </a:t>
            </a:r>
            <a:r>
              <a:rPr lang="en-US"/>
              <a:t>optimization</a:t>
            </a:r>
            <a:endParaRPr/>
          </a:p>
        </p:txBody>
      </p:sp>
      <p:pic>
        <p:nvPicPr>
          <p:cNvPr id="351" name="Google Shape;351;g386ca8aec90_0_5" title="a1a20884e191cfaa8b8d4b4a93e39ea0.png"/>
          <p:cNvPicPr preferRelativeResize="0"/>
          <p:nvPr/>
        </p:nvPicPr>
        <p:blipFill>
          <a:blip r:embed="rId3">
            <a:alphaModFix/>
          </a:blip>
          <a:stretch>
            <a:fillRect/>
          </a:stretch>
        </p:blipFill>
        <p:spPr>
          <a:xfrm>
            <a:off x="1207824" y="3378775"/>
            <a:ext cx="7174174" cy="24209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11"/>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Project Initial Results </a:t>
            </a:r>
            <a:endParaRPr/>
          </a:p>
        </p:txBody>
      </p:sp>
      <p:sp>
        <p:nvSpPr>
          <p:cNvPr id="357" name="Google Shape;357;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Present any initial results already obtained up to this point (include pictures, video)</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12"/>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Deliverables</a:t>
            </a:r>
            <a:endParaRPr/>
          </a:p>
        </p:txBody>
      </p:sp>
      <p:sp>
        <p:nvSpPr>
          <p:cNvPr id="363" name="Google Shape;363;p12"/>
          <p:cNvSpPr txBox="1"/>
          <p:nvPr>
            <p:ph idx="1" type="body"/>
          </p:nvPr>
        </p:nvSpPr>
        <p:spPr>
          <a:xfrm>
            <a:off x="457199" y="1600200"/>
            <a:ext cx="8334375"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What your team expects to deliver as the final products for your project</a:t>
            </a:r>
            <a:endParaRPr/>
          </a:p>
          <a:p>
            <a:pPr indent="-342900" lvl="0" marL="342900" rtl="0" algn="l">
              <a:spcBef>
                <a:spcPts val="640"/>
              </a:spcBef>
              <a:spcAft>
                <a:spcPts val="0"/>
              </a:spcAft>
              <a:buClr>
                <a:schemeClr val="dk1"/>
              </a:buClr>
              <a:buSzPts val="3200"/>
              <a:buChar char="•"/>
            </a:pPr>
            <a:r>
              <a:rPr lang="en-US"/>
              <a:t>Include a guide or manual that will be included in the Appendix section of the final report.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13"/>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Conclusions</a:t>
            </a:r>
            <a:endParaRPr/>
          </a:p>
        </p:txBody>
      </p:sp>
      <p:sp>
        <p:nvSpPr>
          <p:cNvPr id="369" name="Google Shape;369;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139700" lvl="0" marL="342900" rtl="0" algn="l">
              <a:spcBef>
                <a:spcPts val="0"/>
              </a:spcBef>
              <a:spcAft>
                <a:spcPts val="0"/>
              </a:spcAft>
              <a:buClr>
                <a:schemeClr val="dk1"/>
              </a:buClr>
              <a:buSzPts val="32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g3cc06577438_0_0"/>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Questions?</a:t>
            </a:r>
            <a:endParaRPr/>
          </a:p>
        </p:txBody>
      </p:sp>
      <p:sp>
        <p:nvSpPr>
          <p:cNvPr id="375" name="Google Shape;375;g3cc06577438_0_0"/>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139700" lvl="0" marL="342900" rtl="0" algn="l">
              <a:spcBef>
                <a:spcPts val="0"/>
              </a:spcBef>
              <a:spcAft>
                <a:spcPts val="0"/>
              </a:spcAft>
              <a:buClr>
                <a:schemeClr val="dk1"/>
              </a:buClr>
              <a:buSzPts val="3200"/>
              <a:buNone/>
            </a:pPr>
            <a:r>
              <a:t/>
            </a:r>
            <a:endParaRPr/>
          </a:p>
        </p:txBody>
      </p:sp>
      <p:pic>
        <p:nvPicPr>
          <p:cNvPr id="376" name="Google Shape;376;g3cc06577438_0_0"/>
          <p:cNvPicPr preferRelativeResize="0"/>
          <p:nvPr/>
        </p:nvPicPr>
        <p:blipFill>
          <a:blip r:embed="rId3">
            <a:alphaModFix/>
          </a:blip>
          <a:stretch>
            <a:fillRect/>
          </a:stretch>
        </p:blipFill>
        <p:spPr>
          <a:xfrm>
            <a:off x="2308950" y="1600200"/>
            <a:ext cx="4526100" cy="45261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1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References</a:t>
            </a:r>
            <a:endParaRPr/>
          </a:p>
        </p:txBody>
      </p:sp>
      <p:sp>
        <p:nvSpPr>
          <p:cNvPr id="382" name="Google Shape;382;p14"/>
          <p:cNvSpPr txBox="1"/>
          <p:nvPr>
            <p:ph idx="2" type="body"/>
          </p:nvPr>
        </p:nvSpPr>
        <p:spPr>
          <a:xfrm>
            <a:off x="423900" y="1116000"/>
            <a:ext cx="8296200" cy="4626000"/>
          </a:xfrm>
          <a:prstGeom prst="rect">
            <a:avLst/>
          </a:prstGeom>
          <a:noFill/>
          <a:ln>
            <a:noFill/>
          </a:ln>
        </p:spPr>
        <p:txBody>
          <a:bodyPr anchorCtr="0" anchor="t" bIns="45700" lIns="91425" spcFirstLastPara="1" rIns="91425" wrap="square" tIns="45700">
            <a:noAutofit/>
          </a:bodyPr>
          <a:lstStyle/>
          <a:p>
            <a:pPr indent="0" lvl="0" marL="0" rtl="0" algn="l">
              <a:spcBef>
                <a:spcPts val="480"/>
              </a:spcBef>
              <a:spcAft>
                <a:spcPts val="0"/>
              </a:spcAft>
              <a:buClr>
                <a:schemeClr val="dk1"/>
              </a:buClr>
              <a:buSzPts val="2400"/>
              <a:buNone/>
            </a:pPr>
            <a:r>
              <a:rPr lang="en-US" sz="1100"/>
              <a:t>[1] A. A. Al-Hamadani and M. Z. Al-Faiz, “Design and implementation of inverse kinematics algorithm to manipulate 5-DOF humanoid robotic arm,” in Proc. [Conference on Innovation and Intelligence for Informatics, Computing, and Technologies], 2021, pp. 693-697.</a:t>
            </a:r>
            <a:endParaRPr sz="1100"/>
          </a:p>
          <a:p>
            <a:pPr indent="0" lvl="0" marL="0" rtl="0" algn="l">
              <a:spcBef>
                <a:spcPts val="480"/>
              </a:spcBef>
              <a:spcAft>
                <a:spcPts val="0"/>
              </a:spcAft>
              <a:buClr>
                <a:schemeClr val="dk1"/>
              </a:buClr>
              <a:buSzPts val="2400"/>
              <a:buNone/>
            </a:pPr>
            <a:r>
              <a:t/>
            </a:r>
            <a:endParaRPr sz="1100"/>
          </a:p>
          <a:p>
            <a:pPr indent="0" lvl="0" marL="0" rtl="0" algn="l">
              <a:spcBef>
                <a:spcPts val="480"/>
              </a:spcBef>
              <a:spcAft>
                <a:spcPts val="0"/>
              </a:spcAft>
              <a:buClr>
                <a:schemeClr val="dk1"/>
              </a:buClr>
              <a:buSzPts val="2400"/>
              <a:buNone/>
            </a:pPr>
            <a:r>
              <a:rPr lang="en-US" sz="1100"/>
              <a:t>[2] J. Tian, M. Gao, and E. Lu, “Dynamic collision avoidance path planning for mobile robot based on multi-sensor data fusion by support vector machine,” in Proc. IEEE Int. Conf. on Mechatronics and Automation (ICMA), Harbin, China, Aug. 2007, pp. 2779-2783.</a:t>
            </a:r>
            <a:endParaRPr sz="1100"/>
          </a:p>
          <a:p>
            <a:pPr indent="0" lvl="0" marL="0" rtl="0" algn="l">
              <a:spcBef>
                <a:spcPts val="480"/>
              </a:spcBef>
              <a:spcAft>
                <a:spcPts val="0"/>
              </a:spcAft>
              <a:buClr>
                <a:schemeClr val="dk1"/>
              </a:buClr>
              <a:buSzPts val="2400"/>
              <a:buNone/>
            </a:pPr>
            <a:r>
              <a:t/>
            </a:r>
            <a:endParaRPr sz="1100"/>
          </a:p>
          <a:p>
            <a:pPr indent="0" lvl="0" marL="0" rtl="0" algn="l">
              <a:spcBef>
                <a:spcPts val="480"/>
              </a:spcBef>
              <a:spcAft>
                <a:spcPts val="0"/>
              </a:spcAft>
              <a:buClr>
                <a:schemeClr val="dk1"/>
              </a:buClr>
              <a:buSzPts val="2400"/>
              <a:buNone/>
            </a:pPr>
            <a:r>
              <a:rPr lang="en-US" sz="1100"/>
              <a:t>[3] N. Zhang, Y. Zhang, J. Cheng, and C. Ma, “Inverse kinematics solution for six-DOF serial robots based on BP neural network,” in Proc. [Conference Name], 2022, pp. 1–4.</a:t>
            </a:r>
            <a:endParaRPr sz="1100"/>
          </a:p>
          <a:p>
            <a:pPr indent="0" lvl="0" marL="0" rtl="0" algn="l">
              <a:spcBef>
                <a:spcPts val="480"/>
              </a:spcBef>
              <a:spcAft>
                <a:spcPts val="0"/>
              </a:spcAft>
              <a:buClr>
                <a:schemeClr val="dk1"/>
              </a:buClr>
              <a:buSzPts val="2400"/>
              <a:buNone/>
            </a:pPr>
            <a:r>
              <a:t/>
            </a:r>
            <a:endParaRPr sz="1100"/>
          </a:p>
          <a:p>
            <a:pPr indent="0" lvl="0" marL="0" rtl="0" algn="l">
              <a:spcBef>
                <a:spcPts val="480"/>
              </a:spcBef>
              <a:spcAft>
                <a:spcPts val="0"/>
              </a:spcAft>
              <a:buClr>
                <a:schemeClr val="dk1"/>
              </a:buClr>
              <a:buSzPts val="2400"/>
              <a:buNone/>
            </a:pPr>
            <a:r>
              <a:rPr lang="en-US" sz="1100"/>
              <a:t>[4] Adafruit, “IR Sensor Tutorials for Arduino,” [Online]. Available: https://learn.adafruit.com (accessed Jan. 21, 2026).</a:t>
            </a:r>
            <a:endParaRPr sz="1100"/>
          </a:p>
          <a:p>
            <a:pPr indent="0" lvl="0" marL="0" rtl="0" algn="l">
              <a:spcBef>
                <a:spcPts val="480"/>
              </a:spcBef>
              <a:spcAft>
                <a:spcPts val="0"/>
              </a:spcAft>
              <a:buClr>
                <a:schemeClr val="dk1"/>
              </a:buClr>
              <a:buSzPts val="2400"/>
              <a:buNone/>
            </a:pPr>
            <a:r>
              <a:t/>
            </a:r>
            <a:endParaRPr sz="1100"/>
          </a:p>
          <a:p>
            <a:pPr indent="0" lvl="0" marL="0" rtl="0" algn="l">
              <a:spcBef>
                <a:spcPts val="480"/>
              </a:spcBef>
              <a:spcAft>
                <a:spcPts val="0"/>
              </a:spcAft>
              <a:buClr>
                <a:schemeClr val="dk1"/>
              </a:buClr>
              <a:buSzPts val="2400"/>
              <a:buNone/>
            </a:pPr>
            <a:r>
              <a:rPr lang="en-US" sz="1100"/>
              <a:t>[5] SparkFun Electronics, “Qwiic ToF Range Finder Hookup Guide,” [Online]. Available: https://learn.sparkfun.com/tutorials/qwiic-tof-range-finder-hookup-guide (accessed Jan. 20, 2026).</a:t>
            </a:r>
            <a:endParaRPr sz="1100"/>
          </a:p>
          <a:p>
            <a:pPr indent="0" lvl="0" marL="0" rtl="0" algn="l">
              <a:spcBef>
                <a:spcPts val="480"/>
              </a:spcBef>
              <a:spcAft>
                <a:spcPts val="0"/>
              </a:spcAft>
              <a:buClr>
                <a:schemeClr val="dk1"/>
              </a:buClr>
              <a:buSzPts val="2400"/>
              <a:buNone/>
            </a:pPr>
            <a:r>
              <a:t/>
            </a:r>
            <a:endParaRPr sz="1100"/>
          </a:p>
          <a:p>
            <a:pPr indent="0" lvl="0" marL="0" rtl="0" algn="l">
              <a:spcBef>
                <a:spcPts val="480"/>
              </a:spcBef>
              <a:spcAft>
                <a:spcPts val="0"/>
              </a:spcAft>
              <a:buClr>
                <a:schemeClr val="dk1"/>
              </a:buClr>
              <a:buSzPts val="2400"/>
              <a:buNone/>
            </a:pPr>
            <a:r>
              <a:rPr lang="en-US" sz="1100"/>
              <a:t>[4] International Organization for Standardization, “ISO 10218-2:2025 — Robotics — Safety requirements — Part 2: Industrial robot applications and robot cells,” ISO, 2025. [Online]. Available: https://www.iso.org/standard/73934.html. [Accessed: Mar. 1, 2026].</a:t>
            </a:r>
            <a:endParaRPr sz="1100"/>
          </a:p>
          <a:p>
            <a:pPr indent="0" lvl="0" marL="0" rtl="0" algn="l">
              <a:spcBef>
                <a:spcPts val="480"/>
              </a:spcBef>
              <a:spcAft>
                <a:spcPts val="0"/>
              </a:spcAft>
              <a:buClr>
                <a:schemeClr val="dk1"/>
              </a:buClr>
              <a:buSzPts val="2400"/>
              <a:buNone/>
            </a:pPr>
            <a:r>
              <a:t/>
            </a:r>
            <a:endParaRPr sz="1100"/>
          </a:p>
          <a:p>
            <a:pPr indent="0" lvl="0" marL="0" rtl="0" algn="l">
              <a:spcBef>
                <a:spcPts val="480"/>
              </a:spcBef>
              <a:spcAft>
                <a:spcPts val="0"/>
              </a:spcAft>
              <a:buClr>
                <a:schemeClr val="dk1"/>
              </a:buClr>
              <a:buSzPts val="2400"/>
              <a:buNone/>
            </a:pPr>
            <a:r>
              <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2012-01-25T17:16:42Z</dcterms:created>
  <dc:creator>Megan Hopkins</dc:creator>
</cp:coreProperties>
</file>