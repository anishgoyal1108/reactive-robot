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44FF909-D4C4-4A07-B805-F922443C8E91}">
          <p14:sldIdLst>
            <p14:sldId id="256"/>
            <p14:sldId id="258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7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B42BF-50EB-4E38-BCB6-5B39D7C4590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27A8B-B3F6-4756-9DA3-97046ECDA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99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27A8B-B3F6-4756-9DA3-97046ECDAE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74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C318-13C7-ED0A-60B9-2EB2C0B8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3E85-BB1A-8D25-7004-7438C8379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50D07-53AA-4A34-93E4-35FA15088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8BBB-7500-56B5-E638-77C5E0563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27A8B-B3F6-4756-9DA3-97046ECDAE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9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0D1C-048F-D45D-B0FB-14E5DCC8C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15B5A-374D-118E-7BAF-28FC9BB2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C839-7471-C90B-422C-6DC7FD0E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F426-1C1C-BBF8-8350-88279C7B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91AB9-6245-BCE2-77A3-EF841720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0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083-ED26-AFA7-1C83-A148A9E1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17C9D-209C-B8BE-3AB2-CABB0B5B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3109-B925-C5A7-D322-E75B43AA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6D49B-00F5-BCA7-BA7A-F46A9EF76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9BED8-971D-AB7C-2CF6-152642F5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5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0266-AF7A-F14D-7091-FE37BA9B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D431C-7BB1-7B10-2D16-166A2FB4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D50BD-94E6-71A4-EF47-56556A93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9964A-981F-329E-9732-8851ED29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7B6B-F3C0-4AB4-71DB-0B80BD8E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E577-7C71-A31F-13DA-86045AFC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E317-1320-C31A-0590-5458E76A3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C214-5D97-1186-746E-31544BBA2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1F3BC-90CD-6EF0-515C-3FA865F5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8784D-A6A9-D267-4F3F-3C6DC143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E6554-8F19-E3C5-D5BF-E7B9783A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60D2-D6E5-4E5C-4479-62AE7784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551FA-CB1F-3A9F-D5A1-3F6C5F1F8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15AB5-18F0-F6B2-54F1-B291490B7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96173-387F-9CBE-CC51-A2E64C2AA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0DA51-C082-DE8E-F3A1-0202B440D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0F698-7751-64C0-787A-E521CBC2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6F4C1-4610-AC83-C037-0CDEE5BC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6B446-7206-2F89-2958-5390C044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5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7973-B906-6E37-21AF-350F985B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0BCA0-3948-60FC-C2B8-B2E6549A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F3701-82C4-DE6A-26A1-2005FEC9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56350-8E8D-0C75-9AE7-36CA780B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7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58401-B24E-DE0D-8157-C5FCB906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C4343-56E0-9184-0BD1-281C7D5D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5A484-C5BE-0003-1040-2C3949A9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3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FE6E-9097-CCD0-6BF6-AAB88EF7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3C7F-1F6A-17E6-EF83-7FFF34F9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72BBA-8C0D-1751-D37B-D596D3C7C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4E769-5C13-ABC7-0C73-A5509E27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2DBF-2B79-1745-A752-B6C60DFD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9B0AC-FDA6-7994-1D86-A7B7E03D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6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8E37-5CF4-7264-F794-0E17E32D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7FA30-3AC8-6C49-3E14-10C2B2542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798D7-7C1F-C57E-2BB7-235338172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15A9B-8236-AE62-D47F-BB64774C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765D6-ADDE-CB49-8383-CCA8285A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63AE0-2BDC-53B2-0E58-A05B3C9E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5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567A-7426-E335-85D2-394E5A2B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C221D-57BA-5AB4-00F0-952C4DA12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C17D3-834A-BD7D-44C9-AA3DC1F0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4285-0F0B-077F-7861-EC5B1440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4427C-135C-566E-3CA0-BC5058F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6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4DE265-D55D-0940-6BD2-B59BE441D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1BA34-9CDC-63FF-3E05-6ECA7155F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34FE-CE8F-DACF-A700-3FB24C88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3598B-9812-C538-B1AC-F636B27A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F885-4C61-02A8-C7A7-E829C064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4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E74E03-AC32-43BE-1305-BDB31FCF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332BF-7698-F28D-305B-BCECA640B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EE417-6454-DFC8-0D73-D28F1648E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B0260-A7E8-4C14-AF78-EEDCB14599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CE19-F066-0041-D562-17EAA2CDA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F210-E974-450A-0908-1749AB782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8D120-FB5C-4A6A-932D-AF6E289AD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3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BC32F5-E3C2-FB73-979D-D7B31C78A826}"/>
              </a:ext>
            </a:extLst>
          </p:cNvPr>
          <p:cNvSpPr/>
          <p:nvPr/>
        </p:nvSpPr>
        <p:spPr>
          <a:xfrm>
            <a:off x="4774405" y="3429000"/>
            <a:ext cx="2457450" cy="2565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 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3B652-5104-D1BB-F697-7003F7638E5D}"/>
              </a:ext>
            </a:extLst>
          </p:cNvPr>
          <p:cNvSpPr/>
          <p:nvPr/>
        </p:nvSpPr>
        <p:spPr>
          <a:xfrm>
            <a:off x="7385051" y="742950"/>
            <a:ext cx="3879849" cy="52514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Sensor Array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B2FE6E-4D8F-9D83-376C-2D142BD3A8A4}"/>
              </a:ext>
            </a:extLst>
          </p:cNvPr>
          <p:cNvSpPr/>
          <p:nvPr/>
        </p:nvSpPr>
        <p:spPr>
          <a:xfrm>
            <a:off x="533400" y="742950"/>
            <a:ext cx="4070350" cy="525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Robotic Arm System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E62EC5F-751D-A63B-C7B7-68A6AA8F3101}"/>
              </a:ext>
            </a:extLst>
          </p:cNvPr>
          <p:cNvSpPr/>
          <p:nvPr/>
        </p:nvSpPr>
        <p:spPr>
          <a:xfrm>
            <a:off x="609600" y="1308099"/>
            <a:ext cx="10560050" cy="1508855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noProof="1"/>
              <a:t>On-Arm</a:t>
            </a:r>
          </a:p>
          <a:p>
            <a:pPr algn="ctr"/>
            <a:r>
              <a:rPr lang="en-US" b="1" i="1" noProof="1"/>
              <a:t>Assembly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5C622E-58AA-8536-0244-A6950E4A2993}"/>
              </a:ext>
            </a:extLst>
          </p:cNvPr>
          <p:cNvSpPr/>
          <p:nvPr/>
        </p:nvSpPr>
        <p:spPr>
          <a:xfrm>
            <a:off x="758823" y="4552950"/>
            <a:ext cx="3398837" cy="116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Teensy 4.1</a:t>
            </a:r>
          </a:p>
          <a:p>
            <a:pPr algn="ctr"/>
            <a:r>
              <a:rPr lang="en-US" sz="1200" noProof="1"/>
              <a:t>Powerful microprocessor handling:</a:t>
            </a:r>
          </a:p>
          <a:p>
            <a:pPr algn="ctr"/>
            <a:r>
              <a:rPr lang="en-US" sz="1200" noProof="1"/>
              <a:t>- Generation of PWM (</a:t>
            </a:r>
            <a:r>
              <a:rPr lang="en-US" sz="12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200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noProof="1"/>
              <a:t>) for </a:t>
            </a:r>
            <a:r>
              <a:rPr lang="en-US" sz="1200" i="1" noProof="1"/>
              <a:t>N</a:t>
            </a:r>
            <a:r>
              <a:rPr lang="en-US" sz="1200" noProof="1"/>
              <a:t> motor drives</a:t>
            </a:r>
          </a:p>
          <a:p>
            <a:pPr algn="ctr"/>
            <a:r>
              <a:rPr lang="en-US" sz="1200" noProof="1"/>
              <a:t>- Data Acquisiton of encoder angles (</a:t>
            </a:r>
            <a:r>
              <a:rPr lang="en-US" sz="1200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200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1200" noProof="1"/>
              <a:t>) for control system 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B3F48A-26DD-4BE5-B424-E2476BFBE8C2}"/>
              </a:ext>
            </a:extLst>
          </p:cNvPr>
          <p:cNvSpPr/>
          <p:nvPr/>
        </p:nvSpPr>
        <p:spPr>
          <a:xfrm>
            <a:off x="750094" y="1396306"/>
            <a:ext cx="1148556" cy="131951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Encoders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2B05F-8DF9-CA82-3FB7-473688A35E9B}"/>
              </a:ext>
            </a:extLst>
          </p:cNvPr>
          <p:cNvSpPr/>
          <p:nvPr/>
        </p:nvSpPr>
        <p:spPr>
          <a:xfrm>
            <a:off x="3127375" y="1401516"/>
            <a:ext cx="1073149" cy="1295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Servos</a:t>
            </a:r>
          </a:p>
          <a:p>
            <a:pPr algn="ctr"/>
            <a:r>
              <a:rPr lang="en-US" noProof="1"/>
              <a:t>(</a:t>
            </a:r>
            <a:r>
              <a:rPr lang="en-US" i="1" noProof="1"/>
              <a:t>6DOF</a:t>
            </a:r>
            <a:r>
              <a:rPr lang="en-US" noProof="1"/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EEF41-8D0B-3E0E-6454-D7B8D7E3AB50}"/>
              </a:ext>
            </a:extLst>
          </p:cNvPr>
          <p:cNvSpPr/>
          <p:nvPr/>
        </p:nvSpPr>
        <p:spPr>
          <a:xfrm>
            <a:off x="3227527" y="3226534"/>
            <a:ext cx="868361" cy="75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Motor Drives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D35441-BF6C-7891-EA2E-1ECA82D1E6F0}"/>
              </a:ext>
            </a:extLst>
          </p:cNvPr>
          <p:cNvCxnSpPr>
            <a:stCxn id="11" idx="1"/>
          </p:cNvCxnSpPr>
          <p:nvPr/>
        </p:nvCxnSpPr>
        <p:spPr>
          <a:xfrm flipH="1">
            <a:off x="1893886" y="2049216"/>
            <a:ext cx="1233489" cy="94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C0A80C-F30D-5885-00AE-DA3DE5713765}"/>
              </a:ext>
            </a:extLst>
          </p:cNvPr>
          <p:cNvCxnSpPr>
            <a:stCxn id="10" idx="2"/>
          </p:cNvCxnSpPr>
          <p:nvPr/>
        </p:nvCxnSpPr>
        <p:spPr>
          <a:xfrm>
            <a:off x="1324372" y="2715818"/>
            <a:ext cx="2778" cy="18371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27EE2EA-8BF9-3F13-1E4B-7AB920655453}"/>
              </a:ext>
            </a:extLst>
          </p:cNvPr>
          <p:cNvSpPr/>
          <p:nvPr/>
        </p:nvSpPr>
        <p:spPr>
          <a:xfrm>
            <a:off x="7625556" y="4552950"/>
            <a:ext cx="3398837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Arduino MEGA</a:t>
            </a:r>
          </a:p>
          <a:p>
            <a:pPr algn="ctr"/>
            <a:r>
              <a:rPr lang="en-US" sz="1200" noProof="1"/>
              <a:t>Extended I/O to handle I2C bus from analog ToF sensor outputs (</a:t>
            </a:r>
            <a:r>
              <a:rPr lang="en-US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noProof="1"/>
              <a:t>) and digital logic from IR sensors (</a:t>
            </a:r>
            <a:r>
              <a:rPr lang="en-US" sz="1200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200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noProof="1"/>
              <a:t>) to use for disturbance or obstacle modeling in the host PC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49A1C7-EFBE-7F59-B6A4-5E11127603E6}"/>
              </a:ext>
            </a:extLst>
          </p:cNvPr>
          <p:cNvSpPr/>
          <p:nvPr/>
        </p:nvSpPr>
        <p:spPr>
          <a:xfrm>
            <a:off x="7625556" y="1396306"/>
            <a:ext cx="1315243" cy="13195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Early Warning</a:t>
            </a:r>
          </a:p>
          <a:p>
            <a:pPr algn="ctr"/>
            <a:r>
              <a:rPr lang="en-US" noProof="1"/>
              <a:t>ToF</a:t>
            </a:r>
          </a:p>
          <a:p>
            <a:pPr algn="ctr"/>
            <a:r>
              <a:rPr lang="en-US" noProof="1"/>
              <a:t>Sensors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C10BBB-B84F-F138-5157-5ABBB7FA0C4F}"/>
              </a:ext>
            </a:extLst>
          </p:cNvPr>
          <p:cNvSpPr/>
          <p:nvPr/>
        </p:nvSpPr>
        <p:spPr>
          <a:xfrm>
            <a:off x="9709150" y="1396306"/>
            <a:ext cx="1315243" cy="13195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Reactive</a:t>
            </a:r>
          </a:p>
          <a:p>
            <a:pPr algn="ctr"/>
            <a:r>
              <a:rPr lang="en-US" noProof="1"/>
              <a:t>Command</a:t>
            </a:r>
          </a:p>
          <a:p>
            <a:pPr algn="ctr"/>
            <a:r>
              <a:rPr lang="en-US" noProof="1"/>
              <a:t>IR</a:t>
            </a:r>
          </a:p>
          <a:p>
            <a:pPr algn="ctr"/>
            <a:r>
              <a:rPr lang="en-US" noProof="1"/>
              <a:t>Sensors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B64316-9013-566A-EB93-649727AECB01}"/>
              </a:ext>
            </a:extLst>
          </p:cNvPr>
          <p:cNvSpPr/>
          <p:nvPr/>
        </p:nvSpPr>
        <p:spPr>
          <a:xfrm>
            <a:off x="5019275" y="2909367"/>
            <a:ext cx="1967707" cy="4206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PSU 9V</a:t>
            </a:r>
            <a:r>
              <a:rPr lang="en-US" baseline="-25000" noProof="1"/>
              <a:t>DC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2DA8EC-D496-744D-562A-AEFE65D787CC}"/>
              </a:ext>
            </a:extLst>
          </p:cNvPr>
          <p:cNvSpPr/>
          <p:nvPr/>
        </p:nvSpPr>
        <p:spPr>
          <a:xfrm>
            <a:off x="7625555" y="3396660"/>
            <a:ext cx="1315243" cy="396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I2C MUX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723C48-3B9C-5CB8-64E6-EFA7EE67307E}"/>
              </a:ext>
            </a:extLst>
          </p:cNvPr>
          <p:cNvSpPr/>
          <p:nvPr/>
        </p:nvSpPr>
        <p:spPr>
          <a:xfrm>
            <a:off x="5033168" y="3736826"/>
            <a:ext cx="1967707" cy="6673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Sensor Signal Processing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A9A2A03-07A4-39DD-5D2F-13B75079EC92}"/>
              </a:ext>
            </a:extLst>
          </p:cNvPr>
          <p:cNvSpPr/>
          <p:nvPr/>
        </p:nvSpPr>
        <p:spPr>
          <a:xfrm>
            <a:off x="5037929" y="4620124"/>
            <a:ext cx="1967707" cy="3743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Control System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A64F73A-3EAB-1156-730C-2CF409CF3B00}"/>
              </a:ext>
            </a:extLst>
          </p:cNvPr>
          <p:cNvSpPr/>
          <p:nvPr/>
        </p:nvSpPr>
        <p:spPr>
          <a:xfrm>
            <a:off x="5037929" y="5153160"/>
            <a:ext cx="1967707" cy="5902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Trajectory Optimization</a:t>
            </a:r>
          </a:p>
        </p:txBody>
      </p: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709EDC1A-40A4-6426-8AA2-2D34B644C3A4}"/>
              </a:ext>
            </a:extLst>
          </p:cNvPr>
          <p:cNvCxnSpPr>
            <a:cxnSpLocks/>
            <a:stCxn id="34" idx="1"/>
            <a:endCxn id="55" idx="3"/>
          </p:cNvCxnSpPr>
          <p:nvPr/>
        </p:nvCxnSpPr>
        <p:spPr>
          <a:xfrm rot="10800000">
            <a:off x="7000876" y="4070526"/>
            <a:ext cx="624681" cy="1066625"/>
          </a:xfrm>
          <a:prstGeom prst="curvedConnector3">
            <a:avLst>
              <a:gd name="adj1" fmla="val 50000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7ED6909E-A3F6-2F1B-50E1-D30A447D9E5C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4151905" y="4807306"/>
            <a:ext cx="886024" cy="327504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3A6E16-E113-CCD7-B0E3-529236A8AB7A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6017022" y="4404223"/>
            <a:ext cx="4761" cy="215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DB41D22-EE52-69D9-3FE2-143C60D6695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6021783" y="4994487"/>
            <a:ext cx="0" cy="158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CE10C07B-90EF-DB2E-0734-19178CA2C328}"/>
              </a:ext>
            </a:extLst>
          </p:cNvPr>
          <p:cNvCxnSpPr>
            <a:stCxn id="57" idx="1"/>
          </p:cNvCxnSpPr>
          <p:nvPr/>
        </p:nvCxnSpPr>
        <p:spPr>
          <a:xfrm rot="10800000">
            <a:off x="4157661" y="5276850"/>
            <a:ext cx="880269" cy="171442"/>
          </a:xfrm>
          <a:prstGeom prst="curvedConnector3">
            <a:avLst>
              <a:gd name="adj1" fmla="val 27493"/>
            </a:avLst>
          </a:prstGeom>
          <a:ln w="28575">
            <a:solidFill>
              <a:srgbClr val="E9713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5FB1F25-A733-6B10-0553-04C3293E47F6}"/>
              </a:ext>
            </a:extLst>
          </p:cNvPr>
          <p:cNvCxnSpPr>
            <a:stCxn id="53" idx="2"/>
          </p:cNvCxnSpPr>
          <p:nvPr/>
        </p:nvCxnSpPr>
        <p:spPr>
          <a:xfrm flipH="1">
            <a:off x="8283176" y="3793186"/>
            <a:ext cx="1" cy="759764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9EA5D3-1CAE-D0A7-190D-A3CAAC5C49FE}"/>
              </a:ext>
            </a:extLst>
          </p:cNvPr>
          <p:cNvCxnSpPr>
            <a:stCxn id="35" idx="2"/>
          </p:cNvCxnSpPr>
          <p:nvPr/>
        </p:nvCxnSpPr>
        <p:spPr>
          <a:xfrm flipH="1">
            <a:off x="8283176" y="2715818"/>
            <a:ext cx="2" cy="652857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FDE81FF-E34B-13D3-6DAE-5A3F04530654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10366771" y="2715818"/>
            <a:ext cx="1" cy="1837132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9D16A138-2E06-895B-BDA4-CE47A76CC1D0}"/>
              </a:ext>
            </a:extLst>
          </p:cNvPr>
          <p:cNvCxnSpPr>
            <a:stCxn id="34" idx="0"/>
            <a:endCxn id="35" idx="3"/>
          </p:cNvCxnSpPr>
          <p:nvPr/>
        </p:nvCxnSpPr>
        <p:spPr>
          <a:xfrm rot="16200000" flipV="1">
            <a:off x="7884443" y="3112418"/>
            <a:ext cx="2496888" cy="384176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BDD5FDB4-8DE2-EC0B-8E6B-638BD590E8CE}"/>
              </a:ext>
            </a:extLst>
          </p:cNvPr>
          <p:cNvCxnSpPr>
            <a:stCxn id="34" idx="0"/>
            <a:endCxn id="36" idx="1"/>
          </p:cNvCxnSpPr>
          <p:nvPr/>
        </p:nvCxnSpPr>
        <p:spPr>
          <a:xfrm rot="5400000" flipH="1" flipV="1">
            <a:off x="8268618" y="3112419"/>
            <a:ext cx="2496888" cy="384175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Curved 97">
            <a:extLst>
              <a:ext uri="{FF2B5EF4-FFF2-40B4-BE49-F238E27FC236}">
                <a16:creationId xmlns:a16="http://schemas.microsoft.com/office/drawing/2014/main" id="{5F1D1D51-96F9-BB6B-9B43-340DBECB53B1}"/>
              </a:ext>
            </a:extLst>
          </p:cNvPr>
          <p:cNvCxnSpPr>
            <a:stCxn id="52" idx="1"/>
            <a:endCxn id="13" idx="3"/>
          </p:cNvCxnSpPr>
          <p:nvPr/>
        </p:nvCxnSpPr>
        <p:spPr>
          <a:xfrm rot="10800000" flipV="1">
            <a:off x="4095889" y="3119688"/>
            <a:ext cx="923387" cy="484223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267CED14-8D04-18D1-EC95-570D8CC88FE9}"/>
              </a:ext>
            </a:extLst>
          </p:cNvPr>
          <p:cNvSpPr txBox="1"/>
          <p:nvPr/>
        </p:nvSpPr>
        <p:spPr>
          <a:xfrm>
            <a:off x="929817" y="339666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F18EFE8-8A0C-04BF-4BCD-7FDD69A41A75}"/>
              </a:ext>
            </a:extLst>
          </p:cNvPr>
          <p:cNvSpPr txBox="1"/>
          <p:nvPr/>
        </p:nvSpPr>
        <p:spPr>
          <a:xfrm>
            <a:off x="3795967" y="4078878"/>
            <a:ext cx="54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BFAF80-5572-FDFE-1834-56497463B9C2}"/>
              </a:ext>
            </a:extLst>
          </p:cNvPr>
          <p:cNvSpPr txBox="1"/>
          <p:nvPr/>
        </p:nvSpPr>
        <p:spPr>
          <a:xfrm>
            <a:off x="3916116" y="2704991"/>
            <a:ext cx="54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51D5168-2A90-E0F0-4CD8-4C730574621F}"/>
              </a:ext>
            </a:extLst>
          </p:cNvPr>
          <p:cNvSpPr txBox="1"/>
          <p:nvPr/>
        </p:nvSpPr>
        <p:spPr>
          <a:xfrm>
            <a:off x="2365284" y="173240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en-US" b="1" i="1" baseline="-25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0459D9C-4F83-9FD7-1140-C45CBF44C0ED}"/>
              </a:ext>
            </a:extLst>
          </p:cNvPr>
          <p:cNvSpPr txBox="1"/>
          <p:nvPr/>
        </p:nvSpPr>
        <p:spPr>
          <a:xfrm>
            <a:off x="10366771" y="336749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7F4B3D-391B-A6F0-F91A-7FD738AD8076}"/>
              </a:ext>
            </a:extLst>
          </p:cNvPr>
          <p:cNvSpPr txBox="1"/>
          <p:nvPr/>
        </p:nvSpPr>
        <p:spPr>
          <a:xfrm>
            <a:off x="9277553" y="4181330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noProof="1">
                <a:cs typeface="Times New Roman" panose="02020603050405020304" pitchFamily="18" charset="0"/>
              </a:rPr>
              <a:t>5V</a:t>
            </a:r>
            <a:r>
              <a:rPr lang="en-US" sz="1400" b="1" i="1" baseline="-25000" noProof="1">
                <a:cs typeface="Times New Roman" panose="02020603050405020304" pitchFamily="18" charset="0"/>
              </a:rPr>
              <a:t>DC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1AA73F6-CFC8-F2F1-1574-5AB4825A734E}"/>
              </a:ext>
            </a:extLst>
          </p:cNvPr>
          <p:cNvSpPr txBox="1"/>
          <p:nvPr/>
        </p:nvSpPr>
        <p:spPr>
          <a:xfrm>
            <a:off x="8283176" y="398535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0C8F415-DB42-FD4B-A961-4F0767482EA9}"/>
              </a:ext>
            </a:extLst>
          </p:cNvPr>
          <p:cNvSpPr txBox="1"/>
          <p:nvPr/>
        </p:nvSpPr>
        <p:spPr>
          <a:xfrm>
            <a:off x="8283176" y="2913495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i="1" baseline="30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8x8</a:t>
            </a:r>
            <a:endParaRPr lang="en-US" i="1" baseline="-25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40F631-3087-1615-95AD-8B77476DAA9B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658518" y="3981289"/>
            <a:ext cx="3190" cy="62255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B7779F-98BE-F4A1-10FA-6B78F703C95C}"/>
              </a:ext>
            </a:extLst>
          </p:cNvPr>
          <p:cNvCxnSpPr>
            <a:cxnSpLocks/>
          </p:cNvCxnSpPr>
          <p:nvPr/>
        </p:nvCxnSpPr>
        <p:spPr>
          <a:xfrm flipV="1">
            <a:off x="3658518" y="2708138"/>
            <a:ext cx="2394" cy="53088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AF5DFE8-E4B9-83ED-3A37-6C1D0DF1C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75" y="2913495"/>
            <a:ext cx="1821006" cy="14788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5714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1937F-0DCC-99ED-E1EF-0C497E22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A30F9C84-C2CF-F18F-3BCB-8BDDEDC768E6}"/>
              </a:ext>
            </a:extLst>
          </p:cNvPr>
          <p:cNvSpPr/>
          <p:nvPr/>
        </p:nvSpPr>
        <p:spPr>
          <a:xfrm>
            <a:off x="7830718" y="707086"/>
            <a:ext cx="4004939" cy="60312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Sensor Array System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20FB699-CEFD-FDD2-95C6-4F450C38C0F4}"/>
              </a:ext>
            </a:extLst>
          </p:cNvPr>
          <p:cNvSpPr/>
          <p:nvPr/>
        </p:nvSpPr>
        <p:spPr>
          <a:xfrm>
            <a:off x="134618" y="648274"/>
            <a:ext cx="4004939" cy="6090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Robotic Arm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BBE3D-A354-1DA5-A8D0-0535B0D79753}"/>
              </a:ext>
            </a:extLst>
          </p:cNvPr>
          <p:cNvSpPr/>
          <p:nvPr/>
        </p:nvSpPr>
        <p:spPr>
          <a:xfrm>
            <a:off x="4338797" y="4300441"/>
            <a:ext cx="3307796" cy="2437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noProof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 PC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0E17C4-BFB8-F7F9-FAF1-FC515EDEFCD3}"/>
              </a:ext>
            </a:extLst>
          </p:cNvPr>
          <p:cNvSpPr/>
          <p:nvPr/>
        </p:nvSpPr>
        <p:spPr>
          <a:xfrm>
            <a:off x="4472660" y="4636986"/>
            <a:ext cx="3024599" cy="6673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Sensor Signal Processing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9373E62-520B-6D4C-BD71-C1ACE6250049}"/>
              </a:ext>
            </a:extLst>
          </p:cNvPr>
          <p:cNvSpPr/>
          <p:nvPr/>
        </p:nvSpPr>
        <p:spPr>
          <a:xfrm>
            <a:off x="5001107" y="5491565"/>
            <a:ext cx="1967707" cy="3743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Control System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D18F30-0B35-A0F4-EFC5-7D5654F9B0C5}"/>
              </a:ext>
            </a:extLst>
          </p:cNvPr>
          <p:cNvSpPr/>
          <p:nvPr/>
        </p:nvSpPr>
        <p:spPr>
          <a:xfrm>
            <a:off x="4736883" y="6051144"/>
            <a:ext cx="2496152" cy="5902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Trajectory Optimization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332E2E4-83F7-1C3E-B6EA-97E845E688FB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5984960" y="5304383"/>
            <a:ext cx="1" cy="187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90657A-D1E7-E81B-44F4-B864FF58987A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5984959" y="5865928"/>
            <a:ext cx="2" cy="185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C1CF974-3BB4-7865-D238-A8C21E51FCD1}"/>
              </a:ext>
            </a:extLst>
          </p:cNvPr>
          <p:cNvSpPr txBox="1"/>
          <p:nvPr/>
        </p:nvSpPr>
        <p:spPr>
          <a:xfrm>
            <a:off x="10247774" y="345696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085066-0766-CA4C-E2C7-AC56713BCB40}"/>
              </a:ext>
            </a:extLst>
          </p:cNvPr>
          <p:cNvSpPr txBox="1"/>
          <p:nvPr/>
        </p:nvSpPr>
        <p:spPr>
          <a:xfrm>
            <a:off x="10731083" y="262858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3D88F2-2FE6-FBD3-018A-84785AC1E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537" y="261520"/>
            <a:ext cx="3184926" cy="394199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B5A946-10B2-6CBC-7674-D028C0A0B57F}"/>
              </a:ext>
            </a:extLst>
          </p:cNvPr>
          <p:cNvSpPr/>
          <p:nvPr/>
        </p:nvSpPr>
        <p:spPr>
          <a:xfrm>
            <a:off x="394778" y="4350985"/>
            <a:ext cx="3398837" cy="116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Arduino UNO Q</a:t>
            </a:r>
          </a:p>
          <a:p>
            <a:pPr algn="ctr"/>
            <a:r>
              <a:rPr lang="en-US" sz="1200" noProof="1"/>
              <a:t>Powerful microprocessor handling:</a:t>
            </a:r>
          </a:p>
          <a:p>
            <a:pPr algn="ctr"/>
            <a:r>
              <a:rPr lang="en-US" sz="1200" noProof="1"/>
              <a:t>- Generation of PWM (</a:t>
            </a:r>
            <a:r>
              <a:rPr lang="en-US" sz="12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200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200" noProof="1"/>
              <a:t>) for </a:t>
            </a:r>
            <a:r>
              <a:rPr lang="en-US" sz="1200" i="1" noProof="1"/>
              <a:t>N</a:t>
            </a:r>
            <a:r>
              <a:rPr lang="en-US" sz="1200" noProof="1"/>
              <a:t> motor drives</a:t>
            </a:r>
          </a:p>
          <a:p>
            <a:pPr algn="ctr"/>
            <a:r>
              <a:rPr lang="en-US" sz="1200" noProof="1"/>
              <a:t>- Data Acquisiton of encoder angles (</a:t>
            </a:r>
            <a:r>
              <a:rPr lang="en-US" sz="1200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200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1200" noProof="1"/>
              <a:t>) for control system feedback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FBE1D-92E4-A0F7-91EA-E86AF9455C97}"/>
              </a:ext>
            </a:extLst>
          </p:cNvPr>
          <p:cNvSpPr/>
          <p:nvPr/>
        </p:nvSpPr>
        <p:spPr>
          <a:xfrm>
            <a:off x="8200452" y="4350985"/>
            <a:ext cx="3398837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Teensy 4.1</a:t>
            </a:r>
          </a:p>
          <a:p>
            <a:pPr algn="ctr"/>
            <a:r>
              <a:rPr lang="en-US" sz="1200" noProof="1"/>
              <a:t>Extended I/O to handle I2C bus from analog ToF sensor outputs (</a:t>
            </a:r>
            <a:r>
              <a:rPr lang="en-US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noProof="1"/>
              <a:t>) and digital logic from IR sensors (</a:t>
            </a:r>
            <a:r>
              <a:rPr lang="en-US" sz="1200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200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noProof="1"/>
              <a:t>) to use for disturbance or obstacle modeling in the host PC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1ACDE-2475-3210-19F1-6393F6AD0238}"/>
              </a:ext>
            </a:extLst>
          </p:cNvPr>
          <p:cNvSpPr/>
          <p:nvPr/>
        </p:nvSpPr>
        <p:spPr>
          <a:xfrm>
            <a:off x="2343680" y="2280036"/>
            <a:ext cx="903673" cy="6963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Servo Driver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976809-709D-3364-DA6E-C5A8E109B288}"/>
              </a:ext>
            </a:extLst>
          </p:cNvPr>
          <p:cNvSpPr/>
          <p:nvPr/>
        </p:nvSpPr>
        <p:spPr>
          <a:xfrm>
            <a:off x="593512" y="2280036"/>
            <a:ext cx="1244088" cy="6963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Position Feedback</a:t>
            </a: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34DE6D0B-6E02-B983-FB66-EC74E645889B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7353" y="707086"/>
            <a:ext cx="2397996" cy="1921134"/>
          </a:xfrm>
          <a:prstGeom prst="curvedConnector3">
            <a:avLst>
              <a:gd name="adj1" fmla="val 37716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33B0E640-C283-B20B-8316-583F7FD9F07E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7353" y="1671437"/>
            <a:ext cx="1846398" cy="956783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89DB744F-394B-A034-5C8F-A291FFF1684E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247353" y="2628220"/>
            <a:ext cx="1896306" cy="361517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CBF4B7D4-F65E-7D59-B94A-EB68627780D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247353" y="2628220"/>
            <a:ext cx="1789631" cy="684728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23CDD96F-7DC4-8441-9574-F877F32902B7}"/>
              </a:ext>
            </a:extLst>
          </p:cNvPr>
          <p:cNvCxnSpPr>
            <a:cxnSpLocks/>
            <a:stCxn id="22" idx="3"/>
            <a:endCxn id="18" idx="0"/>
          </p:cNvCxnSpPr>
          <p:nvPr/>
        </p:nvCxnSpPr>
        <p:spPr>
          <a:xfrm flipV="1">
            <a:off x="3247353" y="261520"/>
            <a:ext cx="2848647" cy="2366700"/>
          </a:xfrm>
          <a:prstGeom prst="curvedConnector4">
            <a:avLst>
              <a:gd name="adj1" fmla="val 22049"/>
              <a:gd name="adj2" fmla="val 109659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BA0DD07-6A82-1A1B-60ED-8ED972FB46C0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2795517" y="2976403"/>
            <a:ext cx="0" cy="137458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1FB7F6-B30D-B461-B3CE-6B9CAC62E93A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flipH="1">
            <a:off x="1837600" y="2628220"/>
            <a:ext cx="50608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AAC4CB4-CB5A-F6C7-5CC6-ECA063A39071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1193896" y="2976403"/>
            <a:ext cx="21660" cy="137458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43ACFB2-46D0-C4E5-DD5D-5EE6F3C3DC95}"/>
              </a:ext>
            </a:extLst>
          </p:cNvPr>
          <p:cNvSpPr txBox="1"/>
          <p:nvPr/>
        </p:nvSpPr>
        <p:spPr>
          <a:xfrm>
            <a:off x="2728373" y="3430970"/>
            <a:ext cx="54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E45C6-93B5-D98D-A41B-5D5E6C3A48F2}"/>
              </a:ext>
            </a:extLst>
          </p:cNvPr>
          <p:cNvSpPr txBox="1"/>
          <p:nvPr/>
        </p:nvSpPr>
        <p:spPr>
          <a:xfrm>
            <a:off x="3314497" y="2658557"/>
            <a:ext cx="54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4A31B0-4B36-5F3C-2454-914EA2A916C1}"/>
              </a:ext>
            </a:extLst>
          </p:cNvPr>
          <p:cNvSpPr txBox="1"/>
          <p:nvPr/>
        </p:nvSpPr>
        <p:spPr>
          <a:xfrm>
            <a:off x="1930876" y="262040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en-US" b="1" i="1" baseline="-25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875ABB-A056-6696-2494-DB3451DC6C3F}"/>
              </a:ext>
            </a:extLst>
          </p:cNvPr>
          <p:cNvSpPr txBox="1"/>
          <p:nvPr/>
        </p:nvSpPr>
        <p:spPr>
          <a:xfrm>
            <a:off x="1178952" y="3377117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3C4CBF-C524-C8C3-3FCB-67E28DF3CA90}"/>
              </a:ext>
            </a:extLst>
          </p:cNvPr>
          <p:cNvSpPr/>
          <p:nvPr/>
        </p:nvSpPr>
        <p:spPr>
          <a:xfrm>
            <a:off x="7990101" y="1245782"/>
            <a:ext cx="1592087" cy="886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Early Warning</a:t>
            </a:r>
          </a:p>
          <a:p>
            <a:pPr algn="ctr"/>
            <a:r>
              <a:rPr lang="en-US" noProof="1"/>
              <a:t>ToF</a:t>
            </a:r>
          </a:p>
          <a:p>
            <a:pPr algn="ctr"/>
            <a:r>
              <a:rPr lang="en-US" noProof="1"/>
              <a:t>Sensors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789DA97-8BC6-AC54-939A-DE2763F71D75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>
            <a:off x="6095813" y="938789"/>
            <a:ext cx="1894288" cy="750307"/>
          </a:xfrm>
          <a:prstGeom prst="bentConnector3">
            <a:avLst>
              <a:gd name="adj1" fmla="val 99891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47B5498-1820-86C7-824F-CFD8F3D711A0}"/>
              </a:ext>
            </a:extLst>
          </p:cNvPr>
          <p:cNvSpPr/>
          <p:nvPr/>
        </p:nvSpPr>
        <p:spPr>
          <a:xfrm>
            <a:off x="7977827" y="2474006"/>
            <a:ext cx="1592087" cy="886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IR “Skin”</a:t>
            </a:r>
          </a:p>
          <a:p>
            <a:pPr algn="ctr"/>
            <a:r>
              <a:rPr lang="en-US" noProof="1"/>
              <a:t>Sensors</a:t>
            </a:r>
          </a:p>
        </p:txBody>
      </p: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F6C19022-AFF0-4F4B-ED93-75B305447C8D}"/>
              </a:ext>
            </a:extLst>
          </p:cNvPr>
          <p:cNvCxnSpPr>
            <a:cxnSpLocks/>
            <a:stCxn id="97" idx="1"/>
          </p:cNvCxnSpPr>
          <p:nvPr/>
        </p:nvCxnSpPr>
        <p:spPr>
          <a:xfrm rot="10800000">
            <a:off x="5664375" y="1311769"/>
            <a:ext cx="2313452" cy="1605551"/>
          </a:xfrm>
          <a:prstGeom prst="curvedConnector3">
            <a:avLst>
              <a:gd name="adj1" fmla="val 79976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Curved 122">
            <a:extLst>
              <a:ext uri="{FF2B5EF4-FFF2-40B4-BE49-F238E27FC236}">
                <a16:creationId xmlns:a16="http://schemas.microsoft.com/office/drawing/2014/main" id="{DDD0117B-D5A1-55A0-7363-B2ED8474D010}"/>
              </a:ext>
            </a:extLst>
          </p:cNvPr>
          <p:cNvCxnSpPr>
            <a:stCxn id="97" idx="1"/>
          </p:cNvCxnSpPr>
          <p:nvPr/>
        </p:nvCxnSpPr>
        <p:spPr>
          <a:xfrm rot="10800000">
            <a:off x="5700241" y="2356493"/>
            <a:ext cx="2277586" cy="560826"/>
          </a:xfrm>
          <a:prstGeom prst="curvedConnector3">
            <a:avLst>
              <a:gd name="adj1" fmla="val 73442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D0108D7-17C6-8161-E5C2-6CFCC6418A72}"/>
              </a:ext>
            </a:extLst>
          </p:cNvPr>
          <p:cNvSpPr/>
          <p:nvPr/>
        </p:nvSpPr>
        <p:spPr>
          <a:xfrm>
            <a:off x="10069950" y="1735882"/>
            <a:ext cx="1315243" cy="396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1"/>
              <a:t>I2C MUX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3D43926-A914-1EF0-9A10-8811C39BEE09}"/>
              </a:ext>
            </a:extLst>
          </p:cNvPr>
          <p:cNvSpPr/>
          <p:nvPr/>
        </p:nvSpPr>
        <p:spPr>
          <a:xfrm>
            <a:off x="10903574" y="1065495"/>
            <a:ext cx="777688" cy="478098"/>
          </a:xfrm>
          <a:prstGeom prst="rect">
            <a:avLst/>
          </a:prstGeom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noProof="1">
                <a:cs typeface="Times New Roman" panose="02020603050405020304" pitchFamily="18" charset="0"/>
              </a:rPr>
              <a:t>5V</a:t>
            </a:r>
            <a:r>
              <a:rPr lang="en-US" b="1" i="1" baseline="-25000" noProof="1">
                <a:cs typeface="Times New Roman" panose="02020603050405020304" pitchFamily="18" charset="0"/>
              </a:rPr>
              <a:t>DC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43FCC220-3410-4FB4-D7E3-3DD0EFA33C69}"/>
              </a:ext>
            </a:extLst>
          </p:cNvPr>
          <p:cNvCxnSpPr>
            <a:cxnSpLocks/>
            <a:stCxn id="127" idx="1"/>
            <a:endCxn id="69" idx="3"/>
          </p:cNvCxnSpPr>
          <p:nvPr/>
        </p:nvCxnSpPr>
        <p:spPr>
          <a:xfrm rot="10800000" flipV="1">
            <a:off x="9582188" y="1304543"/>
            <a:ext cx="1321386" cy="384551"/>
          </a:xfrm>
          <a:prstGeom prst="bentConnector3">
            <a:avLst>
              <a:gd name="adj1" fmla="val 82974"/>
            </a:avLst>
          </a:prstGeom>
          <a:ln w="28575"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EB0A8104-1F61-DF7D-A1A1-3B95DB156E31}"/>
              </a:ext>
            </a:extLst>
          </p:cNvPr>
          <p:cNvCxnSpPr>
            <a:cxnSpLocks/>
            <a:endCxn id="97" idx="3"/>
          </p:cNvCxnSpPr>
          <p:nvPr/>
        </p:nvCxnSpPr>
        <p:spPr>
          <a:xfrm rot="5400000">
            <a:off x="9074247" y="2184764"/>
            <a:ext cx="1228222" cy="236888"/>
          </a:xfrm>
          <a:prstGeom prst="bentConnector2">
            <a:avLst/>
          </a:prstGeom>
          <a:ln w="28575"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3FE2FC2-9615-2D84-CF4C-1F128F188123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582188" y="1934145"/>
            <a:ext cx="48776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E9F86AE6-7949-55A5-6C30-368DB53CA9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88853" y="3222978"/>
            <a:ext cx="1209068" cy="1046943"/>
          </a:xfrm>
          <a:prstGeom prst="bentConnector3">
            <a:avLst>
              <a:gd name="adj1" fmla="val -1265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844B7CA-641A-375C-B7F8-B9C9A4DF4F0B}"/>
              </a:ext>
            </a:extLst>
          </p:cNvPr>
          <p:cNvCxnSpPr>
            <a:stCxn id="125" idx="2"/>
          </p:cNvCxnSpPr>
          <p:nvPr/>
        </p:nvCxnSpPr>
        <p:spPr>
          <a:xfrm flipH="1">
            <a:off x="10727571" y="2132408"/>
            <a:ext cx="1" cy="22185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CC2F883-0D6D-CC30-8595-FFCAEF045FC4}"/>
              </a:ext>
            </a:extLst>
          </p:cNvPr>
          <p:cNvCxnSpPr>
            <a:stCxn id="19" idx="3"/>
          </p:cNvCxnSpPr>
          <p:nvPr/>
        </p:nvCxnSpPr>
        <p:spPr>
          <a:xfrm flipV="1">
            <a:off x="3793615" y="4934078"/>
            <a:ext cx="679045" cy="110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0CA0C030-1E9E-23E9-7DEF-FC26BC1BAEF8}"/>
              </a:ext>
            </a:extLst>
          </p:cNvPr>
          <p:cNvCxnSpPr>
            <a:stCxn id="57" idx="1"/>
            <a:endCxn id="19" idx="2"/>
          </p:cNvCxnSpPr>
          <p:nvPr/>
        </p:nvCxnSpPr>
        <p:spPr>
          <a:xfrm rot="10800000">
            <a:off x="2094197" y="5519386"/>
            <a:ext cx="2642686" cy="826891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14D05062-5D22-2353-F1DE-293BA20D310C}"/>
              </a:ext>
            </a:extLst>
          </p:cNvPr>
          <p:cNvSpPr txBox="1"/>
          <p:nvPr/>
        </p:nvSpPr>
        <p:spPr>
          <a:xfrm>
            <a:off x="2113723" y="5939845"/>
            <a:ext cx="681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EFF8E75-D7D5-C9AC-D3A6-E403FE9987D8}"/>
              </a:ext>
            </a:extLst>
          </p:cNvPr>
          <p:cNvSpPr txBox="1"/>
          <p:nvPr/>
        </p:nvSpPr>
        <p:spPr>
          <a:xfrm>
            <a:off x="3763859" y="4935051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b="1" i="1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C718A0AC-AD98-833A-A87E-9B09F25156FE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7497259" y="4934078"/>
            <a:ext cx="703193" cy="110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18531C5-4BB1-0666-3336-BFD1B7118067}"/>
              </a:ext>
            </a:extLst>
          </p:cNvPr>
          <p:cNvSpPr/>
          <p:nvPr/>
        </p:nvSpPr>
        <p:spPr>
          <a:xfrm>
            <a:off x="877202" y="1456047"/>
            <a:ext cx="777688" cy="478098"/>
          </a:xfrm>
          <a:prstGeom prst="rect">
            <a:avLst/>
          </a:prstGeom>
          <a:ln w="28575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noProof="1">
                <a:cs typeface="Times New Roman" panose="02020603050405020304" pitchFamily="18" charset="0"/>
              </a:rPr>
              <a:t>9V</a:t>
            </a:r>
            <a:r>
              <a:rPr lang="en-US" b="1" i="1" baseline="-25000" noProof="1">
                <a:cs typeface="Times New Roman" panose="02020603050405020304" pitchFamily="18" charset="0"/>
              </a:rPr>
              <a:t>DC</a:t>
            </a:r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2915CBA6-F484-2A47-6AF0-DBCDE6585BDA}"/>
              </a:ext>
            </a:extLst>
          </p:cNvPr>
          <p:cNvCxnSpPr>
            <a:cxnSpLocks/>
            <a:stCxn id="183" idx="3"/>
            <a:endCxn id="22" idx="0"/>
          </p:cNvCxnSpPr>
          <p:nvPr/>
        </p:nvCxnSpPr>
        <p:spPr>
          <a:xfrm>
            <a:off x="1654890" y="1695096"/>
            <a:ext cx="1140627" cy="584940"/>
          </a:xfrm>
          <a:prstGeom prst="bentConnector2">
            <a:avLst/>
          </a:prstGeom>
          <a:ln w="28575"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76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58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223</Words>
  <Application>Microsoft Office PowerPoint</Application>
  <PresentationFormat>Widescreen</PresentationFormat>
  <Paragraphs>67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Oviedo</dc:creator>
  <cp:lastModifiedBy>Sebastian Oviedo</cp:lastModifiedBy>
  <cp:revision>5</cp:revision>
  <dcterms:created xsi:type="dcterms:W3CDTF">2026-02-01T21:54:08Z</dcterms:created>
  <dcterms:modified xsi:type="dcterms:W3CDTF">2026-02-25T18:35:26Z</dcterms:modified>
</cp:coreProperties>
</file>