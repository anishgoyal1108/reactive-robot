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6"/>
    <p:sldMasterId id="2147483660"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1" roundtripDataSignature="AMtx7mhAkYYx4qAXegLL+DCArFvqGoxbsw=="/>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5" name="Anish Goyal"/>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365516A-CBCE-4A81-B2A1-20CACE4A26FA}">
  <a:tblStyle styleId="{3365516A-CBCE-4A81-B2A1-20CACE4A26F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slide" Target="slides/slide21.xml"/><Relationship Id="rId7" Type="http://schemas.openxmlformats.org/officeDocument/2006/relationships/slideMaster" Target="slideMasters/slideMaster2.xml"/><Relationship Id="rId8" Type="http://schemas.openxmlformats.org/officeDocument/2006/relationships/notesMaster" Target="notesMasters/notesMaster1.xml"/><Relationship Id="rId31" Type="http://customschemas.google.com/relationships/presentationmetadata" Target="metadata"/><Relationship Id="rId30" Type="http://schemas.openxmlformats.org/officeDocument/2006/relationships/slide" Target="slides/slide22.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2-09T19:07:24.570">
    <p:pos x="288" y="173"/>
    <p:text>Describe what the ethical case is about</p:text>
    <p:extLst>
      <p:ext uri="{C676402C-5697-4E1C-873F-D02D1690AC5C}">
        <p15:threadingInfo timeZoneBias="0"/>
      </p:ext>
      <p:ext uri="http://customooxmlschemas.google.com/">
        <go:slidesCustomData xmlns:go="http://customooxmlschemas.google.com/" commentPostId="AAAB0CwO2K0"/>
      </p:ext>
    </p:extLs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2-09T19:07:44.454">
    <p:pos x="288" y="173"/>
    <p:text>Identify the ethical conflict/s</p:text>
    <p:extLst>
      <p:ext uri="{C676402C-5697-4E1C-873F-D02D1690AC5C}">
        <p15:threadingInfo timeZoneBias="0"/>
      </p:ext>
      <p:ext uri="http://customooxmlschemas.google.com/">
        <go:slidesCustomData xmlns:go="http://customooxmlschemas.google.com/" commentPostId="AAAB0CwO2K8"/>
      </p:ext>
    </p:extLs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2-09T19:08:16.602">
    <p:pos x="288" y="173"/>
    <p:text>Explain what was the original solution</p:text>
    <p:extLst>
      <p:ext uri="{C676402C-5697-4E1C-873F-D02D1690AC5C}">
        <p15:threadingInfo timeZoneBias="0"/>
      </p:ext>
      <p:ext uri="http://customooxmlschemas.google.com/">
        <go:slidesCustomData xmlns:go="http://customooxmlschemas.google.com/" commentPostId="AAAB0CwO2LA"/>
      </p:ext>
    </p:extLs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2-09T19:08:22.544">
    <p:pos x="288" y="173"/>
    <p:text>Explain what is your proposed solution/s</p:text>
    <p:extLst>
      <p:ext uri="{C676402C-5697-4E1C-873F-D02D1690AC5C}">
        <p15:threadingInfo timeZoneBias="0"/>
      </p:ext>
      <p:ext uri="http://customooxmlschemas.google.com/">
        <go:slidesCustomData xmlns:go="http://customooxmlschemas.google.com/" commentPostId="AAAB0CwO2LE"/>
      </p:ext>
    </p:extLs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02-16T04:38:49.302">
    <p:pos x="288" y="173"/>
    <p:text>Team should start a discussion with the audience about the previous and proposed solutions</p:text>
    <p:extLst>
      <p:ext uri="{C676402C-5697-4E1C-873F-D02D1690AC5C}">
        <p15:threadingInfo timeZoneBias="0"/>
      </p:ext>
      <p:ext uri="http://customooxmlschemas.google.com/">
        <go:slidesCustomData xmlns:go="http://customooxmlschemas.google.com/" commentPostId="AAAB0CwO2LI"/>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Good afternoon, everyone. Today our team will be presenting an ethics case focused on artificial intelligence, specifically looking at the question of whether society should push forward with AI development or slow down and apply stronger safeguards. Our case is titled ‘Artificial Intelligence: Tap or Slam the Brakes?’ and it examines the ethical responsibilities engineers and technology companies face when powerful technologies are introduced into public spaces, especially law enforcement. </a:t>
            </a:r>
            <a:endParaRPr>
              <a:solidFill>
                <a:schemeClr val="dk1"/>
              </a:solidFill>
            </a:endParaRPr>
          </a:p>
        </p:txBody>
      </p:sp>
      <p:sp>
        <p:nvSpPr>
          <p:cNvPr id="149" name="Google Shape;14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8566f1eb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8566f1eb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Elizabeth: Before we begin</a:t>
            </a:r>
            <a:r>
              <a:rPr lang="en-US"/>
              <a:t>, I want you all to keep this in mind, since it is the main theme of this case study: </a:t>
            </a:r>
            <a:r>
              <a:rPr lang="en-US">
                <a:solidFill>
                  <a:schemeClr val="dk1"/>
                </a:solidFill>
              </a:rPr>
              <a:t>If an AI system is only 60-70% accurate in correctly identifying suspects in an ongoing investigation, should it be allowed to command an immediate arrest or detention? Would you feel safer or pressured to act in a certain way if you knew that you are being watched, and judged any time you are in public, with a 30% chance that you may be arrested on the spot regardless of your innocence?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Elizabeth:</a:t>
            </a:r>
            <a:endParaRPr>
              <a:solidFill>
                <a:schemeClr val="dk1"/>
              </a:solidFill>
            </a:endParaRPr>
          </a:p>
          <a:p>
            <a:pPr indent="0" lvl="0" marL="0" rtl="0" algn="l">
              <a:spcBef>
                <a:spcPts val="0"/>
              </a:spcBef>
              <a:spcAft>
                <a:spcPts val="0"/>
              </a:spcAft>
              <a:buNone/>
            </a:pPr>
            <a:r>
              <a:rPr lang="en-US">
                <a:solidFill>
                  <a:schemeClr val="dk1"/>
                </a:solidFill>
              </a:rPr>
              <a:t>This case explores the ethical challenges surrounding the use of AI-powered facial recognition technology by law enforcement agencies. While artificial intelligence has the potential to improve public safety and efficiency, it also introduces serious concerns related to privacy, bias, accuracy, and civil liberties. The case forces us to consider whether deploying AI too quickly—before it is fully tested and regulated—can cause more harm than good, even when the original intention is to protect society..</a:t>
            </a:r>
            <a:endParaRPr/>
          </a:p>
        </p:txBody>
      </p:sp>
      <p:sp>
        <p:nvSpPr>
          <p:cNvPr id="161" name="Google Shape;16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Sebastian:</a:t>
            </a:r>
            <a:endParaRPr/>
          </a:p>
          <a:p>
            <a:pPr indent="0" lvl="0" marL="0" rtl="0" algn="l">
              <a:spcBef>
                <a:spcPts val="0"/>
              </a:spcBef>
              <a:spcAft>
                <a:spcPts val="0"/>
              </a:spcAft>
              <a:buNone/>
            </a:pPr>
            <a:r>
              <a:rPr lang="en-US"/>
              <a:t>Boundless Brain is a private artificial intelligence startup based in the United States, with a market value of about twenty-five million dollars. The company first gained commercial success by using AI to analyze social media platforms and identify real-time events and situations. In other words, their AI is effective in delivering an answer quickly, so their priority is speed. This early success encouraged the company to expand into more advanced applications of artificial intelligence. One of their major developments was facial recognition technology built using neural networks and complex algorithms, which allowed individuals to be identified through their facial features. This technology positioned Boundless Brain as a pioneer in face-based identification systems, meaning that they are at the forefront of the technology and all other competition would aim to </a:t>
            </a:r>
            <a:r>
              <a:rPr lang="en-US"/>
              <a:t>deliver</a:t>
            </a:r>
            <a:r>
              <a:rPr lang="en-US"/>
              <a:t> similar products.</a:t>
            </a:r>
            <a:endParaRPr/>
          </a:p>
        </p:txBody>
      </p:sp>
      <p:sp>
        <p:nvSpPr>
          <p:cNvPr id="169" name="Google Shape;16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c70b5139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solidFill>
                  <a:schemeClr val="dk1"/>
                </a:solidFill>
              </a:rPr>
              <a:t>Sebastian:</a:t>
            </a:r>
            <a:endParaRPr/>
          </a:p>
          <a:p>
            <a:pPr indent="0" lvl="0" marL="0" rtl="0" algn="l">
              <a:spcBef>
                <a:spcPts val="0"/>
              </a:spcBef>
              <a:spcAft>
                <a:spcPts val="0"/>
              </a:spcAft>
              <a:buNone/>
            </a:pPr>
            <a:r>
              <a:rPr lang="en-US"/>
              <a:t>As the company continued to grow, Boundless Brain began integrating its facial recognition technology into police body cameras and video surveillance equipment. Now, unlike traditional facial recognition, which is often used after a crime has occurred, this system identifies individuals in real time, therefore being able to influence what happens at the moment of recognition. This capability quickly attracted interest from multiple police departments and even federal agencies such as U.S. Immigration and Customs Enforcement. However, the technology is still in its early stages and has an error rate of approximately thirty-five percent, which raised serious concerns among employees, as a 35% error rate also </a:t>
            </a:r>
            <a:r>
              <a:rPr lang="en-US"/>
              <a:t>means</a:t>
            </a:r>
            <a:r>
              <a:rPr lang="en-US"/>
              <a:t> that one in three people would be falsely identified as a criminal, with what happening next depending solely on how law enforcement chooses to act. Some employees refused to work on certain projects, fearing that the technology could be misused, target innocent individuals, or disproportionately harm marginalized communities. Now that we understand what the system is, where its being used, and what is at stake, we can look at the ethical concerns.</a:t>
            </a:r>
            <a:endParaRPr/>
          </a:p>
        </p:txBody>
      </p:sp>
      <p:sp>
        <p:nvSpPr>
          <p:cNvPr id="176" name="Google Shape;176;g3c70b51396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Ariana:</a:t>
            </a:r>
            <a:endParaRPr/>
          </a:p>
          <a:p>
            <a:pPr indent="0" lvl="0" marL="0" rtl="0" algn="l">
              <a:spcBef>
                <a:spcPts val="0"/>
              </a:spcBef>
              <a:spcAft>
                <a:spcPts val="0"/>
              </a:spcAft>
              <a:buNone/>
            </a:pPr>
            <a:r>
              <a:rPr lang="en-US"/>
              <a:t>What we are considering to be the major ethical issue in this case is the accuracy and reliability of the data provided by this hypothetical model. We know that this AI is in its </a:t>
            </a:r>
            <a:r>
              <a:rPr lang="en-US"/>
              <a:t>early</a:t>
            </a:r>
            <a:r>
              <a:rPr lang="en-US"/>
              <a:t> stages, and has not been fully validated. </a:t>
            </a:r>
            <a:r>
              <a:rPr lang="en-US"/>
              <a:t>Deploying AI with known flaws in law enforcement settings introduces risks to individual rights and public trust. An innocent person can be detained, questioned, or arrested when they did nothing wrong; in other words, we are concerned that this technology’s errors could translate into harm. It’s not a superficial case about an inaccurate AI, but there are also concerns about misuse, lack of transparency, racial bias, and the possibility that innocent individuals could be harmed due to system errors. At the heart of the issue is a conflict between rapid technological innovation and the ethical obligation to protect the public.</a:t>
            </a:r>
            <a:endParaRPr/>
          </a:p>
        </p:txBody>
      </p:sp>
      <p:sp>
        <p:nvSpPr>
          <p:cNvPr id="184" name="Google Shape;18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Ariana:</a:t>
            </a:r>
            <a:endParaRPr/>
          </a:p>
          <a:p>
            <a:pPr indent="0" lvl="0" marL="0" rtl="0" algn="l">
              <a:spcBef>
                <a:spcPts val="0"/>
              </a:spcBef>
              <a:spcAft>
                <a:spcPts val="0"/>
              </a:spcAft>
              <a:buNone/>
            </a:pPr>
            <a:r>
              <a:rPr lang="en-US"/>
              <a:t>The primary ethical issues involve the reliability and fairness of the facial recognition software. With an error rate of approximately thirty-five percent, the system is prone to misidentifying individuals. This raises serious concerns about wrongful detentions, arrests, or increased surveillance of innocent people. There are also privacy concerns related to constant monitoring in public spaces, as well as security risks involving how biometric data is stored and used. These issues are especially troubling when the technology is applied without clear limits or oversight.</a:t>
            </a:r>
            <a:endParaRPr/>
          </a:p>
        </p:txBody>
      </p:sp>
      <p:sp>
        <p:nvSpPr>
          <p:cNvPr id="191" name="Google Shape;19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Anish:</a:t>
            </a:r>
            <a:endParaRPr/>
          </a:p>
          <a:p>
            <a:pPr indent="0" lvl="0" marL="0" rtl="0" algn="l">
              <a:spcBef>
                <a:spcPts val="0"/>
              </a:spcBef>
              <a:spcAft>
                <a:spcPts val="0"/>
              </a:spcAft>
              <a:buNone/>
            </a:pPr>
            <a:r>
              <a:rPr lang="en-US"/>
              <a:t>Several groups are affected by this situation. Within Boundless Brain, executives, board members, and employees all play key roles in decision-making. Some employees have openly resisted working on certain AI projects due to ethical concerns. Externally, law enforcement agencies and government bodies like ICE are major stakeholders. Most importantly, the general public—and particularly marginalized communities—are directly impacted, as they are the ones being monitored and potentially misidentified by the technology.</a:t>
            </a:r>
            <a:endParaRPr/>
          </a:p>
        </p:txBody>
      </p:sp>
      <p:sp>
        <p:nvSpPr>
          <p:cNvPr id="199" name="Google Shape;19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Anish: </a:t>
            </a:r>
            <a:endParaRPr/>
          </a:p>
          <a:p>
            <a:pPr indent="0" lvl="0" marL="0" rtl="0" algn="l">
              <a:spcBef>
                <a:spcPts val="0"/>
              </a:spcBef>
              <a:spcAft>
                <a:spcPts val="0"/>
              </a:spcAft>
              <a:buNone/>
            </a:pPr>
            <a:r>
              <a:rPr lang="en-US"/>
              <a:t>These ethical issues take place primarily in the United States, in public environments such as streets, borders, protests, and community spaces where police body cameras and surveillance systems are used. The technology is also intended for use along the U.S.–Mexico border, which adds another layer of ethical concern related to immigration enforcement and vulnerable populations.</a:t>
            </a:r>
            <a:endParaRPr/>
          </a:p>
        </p:txBody>
      </p:sp>
      <p:sp>
        <p:nvSpPr>
          <p:cNvPr id="206" name="Google Shape;20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Anish:</a:t>
            </a:r>
            <a:endParaRPr/>
          </a:p>
          <a:p>
            <a:pPr indent="0" lvl="0" marL="0" rtl="0" algn="l">
              <a:spcBef>
                <a:spcPts val="0"/>
              </a:spcBef>
              <a:spcAft>
                <a:spcPts val="0"/>
              </a:spcAft>
              <a:buNone/>
            </a:pPr>
            <a:r>
              <a:rPr lang="en-US"/>
              <a:t>The ethical issues occur during the early development and deployment phase of the technology—before sufficient testing, regulation, or accuracy improvements have been made. This timing is critical because once the technology is deployed, its impact on citizens is immediate, and mistakes can have serious real-world consequences.</a:t>
            </a:r>
            <a:endParaRPr/>
          </a:p>
        </p:txBody>
      </p:sp>
      <p:sp>
        <p:nvSpPr>
          <p:cNvPr id="213" name="Google Shape;21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Anish: </a:t>
            </a:r>
            <a:endParaRPr/>
          </a:p>
          <a:p>
            <a:pPr indent="0" lvl="0" marL="0" rtl="0" algn="l">
              <a:spcBef>
                <a:spcPts val="0"/>
              </a:spcBef>
              <a:spcAft>
                <a:spcPts val="0"/>
              </a:spcAft>
              <a:buNone/>
            </a:pPr>
            <a:r>
              <a:rPr lang="en-US"/>
              <a:t>These ethical issues exist largely due to economic pressure and competition in the AI industry. Boundless Brain wants to capitalize on the rapid growth of artificial intelligence and secure lucrative contracts with law enforcement agencies. There is also a belief among company leadership that the potential benefits, such as reducing crime or improving security, outweigh the risks. However, the lack of clear regulations allows these decisions to be made without sufficient ethical safeguards.</a:t>
            </a:r>
            <a:endParaRPr/>
          </a:p>
        </p:txBody>
      </p:sp>
      <p:sp>
        <p:nvSpPr>
          <p:cNvPr id="220" name="Google Shape;22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Anish:</a:t>
            </a:r>
            <a:endParaRPr/>
          </a:p>
          <a:p>
            <a:pPr indent="0" lvl="0" marL="0" rtl="0" algn="l">
              <a:spcBef>
                <a:spcPts val="0"/>
              </a:spcBef>
              <a:spcAft>
                <a:spcPts val="0"/>
              </a:spcAft>
              <a:buNone/>
            </a:pPr>
            <a:r>
              <a:rPr lang="en-US"/>
              <a:t>These ethical challenges can be addressed through a combination of regulation, accountability, and technical improvements. Governments should establish clear rules for how AI surveillance technologies can be used. Independent audits should be required to assess bias and accuracy. Transparency about how algorithms function is essential, and the technology should not be deployed in real time until it meets strict accuracy standards. These steps help ensure that innovation does not come at the cost of civil rights.</a:t>
            </a:r>
            <a:endParaRPr/>
          </a:p>
        </p:txBody>
      </p:sp>
      <p:sp>
        <p:nvSpPr>
          <p:cNvPr id="226" name="Google Shape;22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8677718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Sebastian: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In this case, several specific IEEE Codes of Ethics are violated or placed at serious risk.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First, </a:t>
            </a:r>
            <a:r>
              <a:rPr b="1" lang="en-US">
                <a:solidFill>
                  <a:schemeClr val="dk1"/>
                </a:solidFill>
              </a:rPr>
              <a:t>IEEE Code 1 and Code 9 are violated</a:t>
            </a:r>
            <a:r>
              <a:rPr lang="en-US">
                <a:solidFill>
                  <a:schemeClr val="dk1"/>
                </a:solidFill>
              </a:rPr>
              <a:t>, which requires engineers to prioritize the safety, health, and welfare of the public as well as avoid injuring others, their reputation or employment. We merged these two under the same discussion as it involves the same major problem: Deploying facial recognition technology with a thirty-five percent error rate in real-time law enforcement scenarios puts innocent people immediately at risk of being misidentified, detained, or surveilled without cause. Compliance with this would be restricting the AI for only post-investigative use or until its proven to be safe for real-time use, as relying on AI for probable cause is unreasonable, corroboration is a must.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Second, </a:t>
            </a:r>
            <a:r>
              <a:rPr b="1" lang="en-US">
                <a:solidFill>
                  <a:schemeClr val="dk1"/>
                </a:solidFill>
              </a:rPr>
              <a:t>IEEE Code 3</a:t>
            </a:r>
            <a:r>
              <a:rPr lang="en-US">
                <a:solidFill>
                  <a:schemeClr val="dk1"/>
                </a:solidFill>
              </a:rPr>
              <a:t>, which emphasizes honesty and realism in stating technical limitations, is also violated. While Boundless Brain promotes the potential benefits of their technology’s applications, it shows how internally they show little concern about the technology’s readiness and potential consequences. Leadership actively pushes to sell a product that is defective, at least a third of the time, to government agencies that potentially aim to overtrust the outputs of the model. Compliance with the code would involve leadership disclosing limitations, and simply recognizing that the model is not ready for real-time decision making, making it clear to contracting agencies to not immediately take the model’s outputs as probable cause.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a:solidFill>
                  <a:schemeClr val="dk1"/>
                </a:solidFill>
              </a:rPr>
              <a:t>Third, </a:t>
            </a:r>
            <a:r>
              <a:rPr b="1" lang="en-US">
                <a:solidFill>
                  <a:schemeClr val="dk1"/>
                </a:solidFill>
              </a:rPr>
              <a:t>IEEE Code 5 </a:t>
            </a:r>
            <a:r>
              <a:rPr lang="en-US">
                <a:solidFill>
                  <a:schemeClr val="dk1"/>
                </a:solidFill>
              </a:rPr>
              <a:t> is violated because the company does not adequately address the broader societal consequences of its technology. The leadership focuses on crime reduction and efficiency, but fails to fully consider the long-term impacts on privacy, civil liberties, and public trust. Compliance with these codes would be the establishment of a Human Factors department with certain authority in the company, that is in charge of documenting and assessing the model’s performance and long-term impacts on public applications of the AI</a:t>
            </a:r>
            <a:endParaRPr>
              <a:solidFill>
                <a:schemeClr val="dk1"/>
              </a:solidFill>
            </a:endParaRPr>
          </a:p>
          <a:p>
            <a:pPr indent="0" lvl="0" marL="0" rtl="0" algn="l">
              <a:spcBef>
                <a:spcPts val="1200"/>
              </a:spcBef>
              <a:spcAft>
                <a:spcPts val="0"/>
              </a:spcAft>
              <a:buNone/>
            </a:pPr>
            <a:r>
              <a:t/>
            </a:r>
            <a:endParaRPr/>
          </a:p>
        </p:txBody>
      </p:sp>
      <p:sp>
        <p:nvSpPr>
          <p:cNvPr id="232" name="Google Shape;232;g3c8677718e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8677718e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8677718e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US">
                <a:solidFill>
                  <a:schemeClr val="dk1"/>
                </a:solidFill>
              </a:rPr>
              <a:t>Sebastian</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US">
                <a:solidFill>
                  <a:schemeClr val="dk1"/>
                </a:solidFill>
              </a:rPr>
              <a:t>IEEE Code 7</a:t>
            </a:r>
            <a:r>
              <a:rPr lang="en-US">
                <a:solidFill>
                  <a:schemeClr val="dk1"/>
                </a:solidFill>
              </a:rPr>
              <a:t> requires seeking and accepting criticism, which is also relevant, as employee concerns and internal criticism were raised but not meaningfully addressed by leadership and are instead minimized. </a:t>
            </a:r>
            <a:endParaRPr>
              <a:solidFill>
                <a:schemeClr val="dk1"/>
              </a:solidFill>
            </a:endParaRPr>
          </a:p>
          <a:p>
            <a:pPr indent="0" lvl="0" marL="0" rtl="0" algn="l">
              <a:lnSpc>
                <a:spcPct val="115000"/>
              </a:lnSpc>
              <a:spcBef>
                <a:spcPts val="1200"/>
              </a:spcBef>
              <a:spcAft>
                <a:spcPts val="0"/>
              </a:spcAft>
              <a:buNone/>
            </a:pPr>
            <a:r>
              <a:rPr lang="en-US">
                <a:solidFill>
                  <a:schemeClr val="dk1"/>
                </a:solidFill>
              </a:rPr>
              <a:t>Finally, </a:t>
            </a:r>
            <a:r>
              <a:rPr b="1" lang="en-US">
                <a:solidFill>
                  <a:schemeClr val="dk1"/>
                </a:solidFill>
              </a:rPr>
              <a:t>IEEE Code 8</a:t>
            </a:r>
            <a:r>
              <a:rPr lang="en-US">
                <a:solidFill>
                  <a:schemeClr val="dk1"/>
                </a:solidFill>
              </a:rPr>
              <a:t>, which requires fair treatment of all individuals regardless of race or gender, is clearly violated due to the system’s higher error rates for darker-skinned women and marginalized groups. This creates discriminatory outcomes that conflict directly with ethical engineering standards.”</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a:solidFill>
                  <a:schemeClr val="dk1"/>
                </a:solidFill>
              </a:rPr>
              <a:t>To summarize our assessment on the IEEE codes violated, is that the identified violations along with their root causes point at a leadership that refuses feedback, and instead is pushing a defective technology that has the potential to affect the liberty and safety of the general public. Ethical engineering requires validation, transparency, and safety before real-time deployment.</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c8677718e0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c8677718e0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Sebastian: A real world example that has some parallels with this case study is Palantir Technologies and their partnership with US Government agencies, including DHS components like ICE. Palantir is a company that, in short terms, develops software that enables governments or contractors to process massive amounts of data used in law enforcement or security applications.</a:t>
            </a:r>
            <a:endParaRPr/>
          </a:p>
          <a:p>
            <a:pPr indent="0" lvl="0" marL="0" rtl="0" algn="l">
              <a:spcBef>
                <a:spcPts val="0"/>
              </a:spcBef>
              <a:spcAft>
                <a:spcPts val="0"/>
              </a:spcAft>
              <a:buNone/>
            </a:pPr>
            <a:r>
              <a:rPr lang="en-US"/>
              <a:t>In the immigration context, several reports and </a:t>
            </a:r>
            <a:r>
              <a:rPr lang="en-US"/>
              <a:t>investigations</a:t>
            </a:r>
            <a:r>
              <a:rPr lang="en-US"/>
              <a:t> raised concerns that these kinds of tools increases the ability for the </a:t>
            </a:r>
            <a:r>
              <a:rPr lang="en-US"/>
              <a:t>government</a:t>
            </a:r>
            <a:r>
              <a:rPr lang="en-US"/>
              <a:t> to identify, track, and act on </a:t>
            </a:r>
            <a:r>
              <a:rPr lang="en-US"/>
              <a:t>individuals</a:t>
            </a:r>
            <a:r>
              <a:rPr lang="en-US"/>
              <a:t> quickly, which leaves room for error or weak oversight. While the current accuracy and leverage that Palantir’s software has over recent events is still </a:t>
            </a:r>
            <a:r>
              <a:rPr lang="en-US"/>
              <a:t>debatable</a:t>
            </a:r>
            <a:r>
              <a:rPr lang="en-US"/>
              <a:t>, a historical case from is their involvement in conducting arrests of sponsors of unaccompanied children. We connect this to IEEE codes 1 and 9, because surveillance and identification tools have been deployed in a setting that can expose vulnerable populations to harm.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c8677718e0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c8677718e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Another real world parallel to this case study is the ring doorbell search party program. Ring describes search party as a system that networks all opting ring cameras and uses AI to help find lost dogs. On paper, its a community safety feature, but its a stepping stone that can be easily expanded or abused in the scope of </a:t>
            </a:r>
            <a:r>
              <a:rPr lang="en-US"/>
              <a:t>surveillance</a:t>
            </a:r>
            <a:r>
              <a:rPr lang="en-US"/>
              <a:t>. A networked neighborhood security camera system can create public fear that it will be adapted to track other things later down the line. Especially when one considers that in 2023, the FTC alleged that Ring employees and contractors had too much access to customer videos, exposing the private lives and routines of customers to potential security threats. We connect this to IEEE codes 3, 5, and 6. As Ring </a:t>
            </a:r>
            <a:r>
              <a:rPr lang="en-US"/>
              <a:t>has</a:t>
            </a:r>
            <a:r>
              <a:rPr lang="en-US"/>
              <a:t> a history of dishonesty regarding its access to customer videos, and the potential consequences of implementing an AI tool that can be easily abused without proper safeguards. As of last week, the search party program has been canceled.</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Ariana:</a:t>
            </a:r>
            <a:endParaRPr/>
          </a:p>
          <a:p>
            <a:pPr indent="0" lvl="0" marL="0" rtl="0" algn="l">
              <a:spcBef>
                <a:spcPts val="0"/>
              </a:spcBef>
              <a:spcAft>
                <a:spcPts val="0"/>
              </a:spcAft>
              <a:buNone/>
            </a:pPr>
            <a:r>
              <a:rPr lang="en-US"/>
              <a:t>The original approach taken by Boundless Brain leadership was to continue developing and deploying the technology with minimal restrictions. The Chief Innovation Officer argued that regulation would slow progress and increase costs. The Board of Directors believed the benefits to law enforcement and national security justified the risks. However, this solution largely ignored the concerns raised by employees and civil liberties advocates.</a:t>
            </a:r>
            <a:endParaRPr/>
          </a:p>
        </p:txBody>
      </p:sp>
      <p:sp>
        <p:nvSpPr>
          <p:cNvPr id="263" name="Google Shape;26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Ariana:</a:t>
            </a:r>
            <a:endParaRPr/>
          </a:p>
          <a:p>
            <a:pPr indent="0" lvl="0" marL="0" rtl="0" algn="l">
              <a:spcBef>
                <a:spcPts val="0"/>
              </a:spcBef>
              <a:spcAft>
                <a:spcPts val="0"/>
              </a:spcAft>
              <a:buNone/>
            </a:pPr>
            <a:r>
              <a:rPr lang="en-US"/>
              <a:t>Our team proposes a more ethically responsible solution. Deployment of real-time facial recognition should be paused until the technology reaches a much higher accuracy level. Independent audits should be mandatory, and clear regulations must govern how and when AI surveillance is used. We also believe usage should be limited to serious crimes and require warrants. These measures allow AI to benefit society while minimizing harm and protecting constitutional rights.</a:t>
            </a:r>
            <a:endParaRPr/>
          </a:p>
        </p:txBody>
      </p:sp>
      <p:sp>
        <p:nvSpPr>
          <p:cNvPr id="269" name="Google Shape;26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Elizabeth: </a:t>
            </a:r>
            <a:r>
              <a:rPr lang="en-US"/>
              <a:t>At this point, we’d like to open the discussion to the audience. Should AI be allowed in law enforcement before it is highly accurate? Do the potential benefits outweigh the risks to privacy and civil liberties? And who should ultimately be responsible for regulating these technologies—governments, companies, or both? These are questions that engineers and policymakers will continue to face as AI becomes more powerful.</a:t>
            </a:r>
            <a:endParaRPr/>
          </a:p>
        </p:txBody>
      </p:sp>
      <p:sp>
        <p:nvSpPr>
          <p:cNvPr id="275" name="Google Shape;2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Elizabeth:</a:t>
            </a:r>
            <a:endParaRPr/>
          </a:p>
          <a:p>
            <a:pPr indent="0" lvl="0" marL="0" rtl="0" algn="l">
              <a:spcBef>
                <a:spcPts val="0"/>
              </a:spcBef>
              <a:spcAft>
                <a:spcPts val="0"/>
              </a:spcAft>
              <a:buNone/>
            </a:pPr>
            <a:r>
              <a:rPr lang="en-US"/>
              <a:t>In conclusion, while artificial intelligence offers powerful tools for improving public safety, it also introduces serious ethical risks when deployed without sufficient safeguards. The Boundless Brain case shows how high error rates, bias, and lack of transparency can threaten individual rights. By following IEEE ethical principles, engineers can help ensure that innovation serves society responsibly. Ethical AI development requires balancing progress with accountability, fairness, and respect for human rights.</a:t>
            </a:r>
            <a:endParaRPr/>
          </a:p>
        </p:txBody>
      </p:sp>
      <p:sp>
        <p:nvSpPr>
          <p:cNvPr id="282" name="Google Shape;28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c84d93448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c84d93448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8677718e0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3c8677718e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17"/>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10" name="Google Shape;10;p1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 name="Google Shape;11;p1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 name="Google Shape;12;p1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 name="Google Shape;15;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6" name="Google Shape;16;p2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 name="Google Shape;17;p2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2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1" name="Google Shape;21;p2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22" name="Google Shape;22;p2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3" name="Google Shape;23;p2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4" name="Google Shape;24;p2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2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7" name="Google Shape;27;p2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8" name="Google Shape;28;p2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9" name="Google Shape;29;p2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0" name="Google Shape;30;p2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1" name="Google Shape;31;p2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2" name="Shape 32"/>
        <p:cNvGrpSpPr/>
        <p:nvPr/>
      </p:nvGrpSpPr>
      <p:grpSpPr>
        <a:xfrm>
          <a:off x="0" y="0"/>
          <a:ext cx="0" cy="0"/>
          <a:chOff x="0" y="0"/>
          <a:chExt cx="0" cy="0"/>
        </a:xfrm>
      </p:grpSpPr>
      <p:sp>
        <p:nvSpPr>
          <p:cNvPr id="33" name="Google Shape;33;p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4" name="Google Shape;34;p2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5" name="Google Shape;35;p2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36" name="Google Shape;36;p2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37" name="Google Shape;37;p2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38" name="Google Shape;38;p2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9" name="Google Shape;39;p2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2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2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3" name="Google Shape;43;p2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4" name="Google Shape;44;p2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5" name="Google Shape;45;p2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
        <p:nvSpPr>
          <p:cNvPr id="47" name="Google Shape;47;p2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8" name="Google Shape;48;p2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2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0" name="Shape 50"/>
        <p:cNvGrpSpPr/>
        <p:nvPr/>
      </p:nvGrpSpPr>
      <p:grpSpPr>
        <a:xfrm>
          <a:off x="0" y="0"/>
          <a:ext cx="0" cy="0"/>
          <a:chOff x="0" y="0"/>
          <a:chExt cx="0" cy="0"/>
        </a:xfrm>
      </p:grpSpPr>
      <p:sp>
        <p:nvSpPr>
          <p:cNvPr id="51" name="Google Shape;51;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 name="Google Shape;52;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54" name="Google Shape;54;p2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5" name="Google Shape;55;p2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6" name="Google Shape;56;p2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7" name="Shape 57"/>
        <p:cNvGrpSpPr/>
        <p:nvPr/>
      </p:nvGrpSpPr>
      <p:grpSpPr>
        <a:xfrm>
          <a:off x="0" y="0"/>
          <a:ext cx="0" cy="0"/>
          <a:chOff x="0" y="0"/>
          <a:chExt cx="0" cy="0"/>
        </a:xfrm>
      </p:grpSpPr>
      <p:sp>
        <p:nvSpPr>
          <p:cNvPr id="58" name="Google Shape;58;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9" name="Google Shape;59;p27"/>
          <p:cNvSpPr/>
          <p:nvPr>
            <p:ph idx="2" type="pic"/>
          </p:nvPr>
        </p:nvSpPr>
        <p:spPr>
          <a:xfrm>
            <a:off x="1792288" y="612775"/>
            <a:ext cx="5486400" cy="4114800"/>
          </a:xfrm>
          <a:prstGeom prst="rect">
            <a:avLst/>
          </a:prstGeom>
          <a:noFill/>
          <a:ln>
            <a:noFill/>
          </a:ln>
        </p:spPr>
      </p:sp>
      <p:sp>
        <p:nvSpPr>
          <p:cNvPr id="60" name="Google Shape;60;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61" name="Google Shape;61;p2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2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3" name="Google Shape;63;p2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4" name="Shape 64"/>
        <p:cNvGrpSpPr/>
        <p:nvPr/>
      </p:nvGrpSpPr>
      <p:grpSpPr>
        <a:xfrm>
          <a:off x="0" y="0"/>
          <a:ext cx="0" cy="0"/>
          <a:chOff x="0" y="0"/>
          <a:chExt cx="0" cy="0"/>
        </a:xfrm>
      </p:grpSpPr>
      <p:sp>
        <p:nvSpPr>
          <p:cNvPr id="65" name="Google Shape;65;p2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6" name="Google Shape;66;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2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8" name="Google Shape;68;p2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9" name="Google Shape;69;p2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0" name="Shape 70"/>
        <p:cNvGrpSpPr/>
        <p:nvPr/>
      </p:nvGrpSpPr>
      <p:grpSpPr>
        <a:xfrm>
          <a:off x="0" y="0"/>
          <a:ext cx="0" cy="0"/>
          <a:chOff x="0" y="0"/>
          <a:chExt cx="0" cy="0"/>
        </a:xfrm>
      </p:grpSpPr>
      <p:sp>
        <p:nvSpPr>
          <p:cNvPr id="71" name="Google Shape;71;p29"/>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2" name="Google Shape;72;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73" name="Google Shape;73;p2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4" name="Google Shape;74;p2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5" name="Google Shape;75;p2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8" name="Shape 78"/>
        <p:cNvGrpSpPr/>
        <p:nvPr/>
      </p:nvGrpSpPr>
      <p:grpSpPr>
        <a:xfrm>
          <a:off x="0" y="0"/>
          <a:ext cx="0" cy="0"/>
          <a:chOff x="0" y="0"/>
          <a:chExt cx="0" cy="0"/>
        </a:xfrm>
      </p:grpSpPr>
      <p:sp>
        <p:nvSpPr>
          <p:cNvPr id="79" name="Google Shape;79;p1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1" name="Google Shape;81;p1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2" name="Google Shape;82;p1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3" name="Google Shape;83;p1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4" name="Shape 84"/>
        <p:cNvGrpSpPr/>
        <p:nvPr/>
      </p:nvGrpSpPr>
      <p:grpSpPr>
        <a:xfrm>
          <a:off x="0" y="0"/>
          <a:ext cx="0" cy="0"/>
          <a:chOff x="0" y="0"/>
          <a:chExt cx="0" cy="0"/>
        </a:xfrm>
      </p:grpSpPr>
      <p:sp>
        <p:nvSpPr>
          <p:cNvPr id="85" name="Google Shape;85;p30"/>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6" name="Google Shape;86;p3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640"/>
              </a:spcBef>
              <a:spcAft>
                <a:spcPts val="0"/>
              </a:spcAft>
              <a:buClr>
                <a:srgbClr val="888888"/>
              </a:buClr>
              <a:buSzPts val="3200"/>
              <a:buFont typeface="Arial"/>
              <a:buNone/>
              <a:defRPr b="0" i="0" sz="3200" u="none" cap="none" strike="noStrike">
                <a:solidFill>
                  <a:srgbClr val="888888"/>
                </a:solidFill>
                <a:latin typeface="Calibri"/>
                <a:ea typeface="Calibri"/>
                <a:cs typeface="Calibri"/>
                <a:sym typeface="Calibri"/>
              </a:defRPr>
            </a:lvl1pPr>
            <a:lvl2pPr lvl="1" marR="0" rtl="0" algn="ctr">
              <a:spcBef>
                <a:spcPts val="560"/>
              </a:spcBef>
              <a:spcAft>
                <a:spcPts val="0"/>
              </a:spcAft>
              <a:buClr>
                <a:srgbClr val="888888"/>
              </a:buClr>
              <a:buSzPts val="2800"/>
              <a:buFont typeface="Arial"/>
              <a:buNone/>
              <a:defRPr b="0" i="0" sz="2800" u="none" cap="none" strike="noStrike">
                <a:solidFill>
                  <a:srgbClr val="888888"/>
                </a:solidFill>
                <a:latin typeface="Calibri"/>
                <a:ea typeface="Calibri"/>
                <a:cs typeface="Calibri"/>
                <a:sym typeface="Calibri"/>
              </a:defRPr>
            </a:lvl2pPr>
            <a:lvl3pPr lvl="2" marR="0" rtl="0" algn="ctr">
              <a:spcBef>
                <a:spcPts val="48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3pPr>
            <a:lvl4pPr lvl="3"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4pPr>
            <a:lvl5pPr lvl="4"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5pPr>
            <a:lvl6pPr lvl="5"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6pPr>
            <a:lvl7pPr lvl="6"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7pPr>
            <a:lvl8pPr lvl="7"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8pPr>
            <a:lvl9pPr lvl="8" marR="0" rtl="0" algn="ctr">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9pPr>
          </a:lstStyle>
          <a:p/>
        </p:txBody>
      </p:sp>
      <p:sp>
        <p:nvSpPr>
          <p:cNvPr id="87" name="Google Shape;87;p30"/>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30"/>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30"/>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0" name="Shape 90"/>
        <p:cNvGrpSpPr/>
        <p:nvPr/>
      </p:nvGrpSpPr>
      <p:grpSpPr>
        <a:xfrm>
          <a:off x="0" y="0"/>
          <a:ext cx="0" cy="0"/>
          <a:chOff x="0" y="0"/>
          <a:chExt cx="0" cy="0"/>
        </a:xfrm>
      </p:grpSpPr>
      <p:sp>
        <p:nvSpPr>
          <p:cNvPr id="91" name="Google Shape;91;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1"/>
              </a:buClr>
              <a:buSzPts val="4000"/>
              <a:buFont typeface="Calibri"/>
              <a:buNone/>
              <a:defRPr b="1" i="0" sz="4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2" name="Google Shape;92;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1pPr>
            <a:lvl2pPr indent="-228600" lvl="1" marL="914400" marR="0" rtl="0" algn="l">
              <a:spcBef>
                <a:spcPts val="36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2pPr>
            <a:lvl3pPr indent="-228600" lvl="2" marL="1371600" marR="0" rtl="0" algn="l">
              <a:spcBef>
                <a:spcPts val="32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3pPr>
            <a:lvl4pPr indent="-228600" lvl="3" marL="1828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4pPr>
            <a:lvl5pPr indent="-228600" lvl="4" marL="22860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5pPr>
            <a:lvl6pPr indent="-228600" lvl="5" marL="27432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6pPr>
            <a:lvl7pPr indent="-228600" lvl="6" marL="32004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7pPr>
            <a:lvl8pPr indent="-228600" lvl="7" marL="36576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8pPr>
            <a:lvl9pPr indent="-228600" lvl="8" marL="4114800" marR="0" rtl="0" algn="l">
              <a:spcBef>
                <a:spcPts val="280"/>
              </a:spcBef>
              <a:spcAft>
                <a:spcPts val="0"/>
              </a:spcAft>
              <a:buClr>
                <a:srgbClr val="888888"/>
              </a:buClr>
              <a:buSzPts val="1400"/>
              <a:buFont typeface="Arial"/>
              <a:buNone/>
              <a:defRPr b="0" i="0" sz="1400" u="none" cap="none" strike="noStrike">
                <a:solidFill>
                  <a:srgbClr val="888888"/>
                </a:solidFill>
                <a:latin typeface="Calibri"/>
                <a:ea typeface="Calibri"/>
                <a:cs typeface="Calibri"/>
                <a:sym typeface="Calibri"/>
              </a:defRPr>
            </a:lvl9pPr>
          </a:lstStyle>
          <a:p/>
        </p:txBody>
      </p:sp>
      <p:sp>
        <p:nvSpPr>
          <p:cNvPr id="93" name="Google Shape;93;p31"/>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4" name="Google Shape;94;p31"/>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5" name="Google Shape;95;p31"/>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96" name="Shape 96"/>
        <p:cNvGrpSpPr/>
        <p:nvPr/>
      </p:nvGrpSpPr>
      <p:grpSpPr>
        <a:xfrm>
          <a:off x="0" y="0"/>
          <a:ext cx="0" cy="0"/>
          <a:chOff x="0" y="0"/>
          <a:chExt cx="0" cy="0"/>
        </a:xfrm>
      </p:grpSpPr>
      <p:sp>
        <p:nvSpPr>
          <p:cNvPr id="97" name="Google Shape;97;p3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8" name="Google Shape;98;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99" name="Google Shape;99;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0" name="Google Shape;100;p32"/>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1" name="Google Shape;101;p32"/>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2" name="Google Shape;102;p32"/>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3" name="Shape 103"/>
        <p:cNvGrpSpPr/>
        <p:nvPr/>
      </p:nvGrpSpPr>
      <p:grpSpPr>
        <a:xfrm>
          <a:off x="0" y="0"/>
          <a:ext cx="0" cy="0"/>
          <a:chOff x="0" y="0"/>
          <a:chExt cx="0" cy="0"/>
        </a:xfrm>
      </p:grpSpPr>
      <p:sp>
        <p:nvSpPr>
          <p:cNvPr id="104" name="Google Shape;104;p3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5" name="Google Shape;105;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06" name="Google Shape;106;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107" name="Google Shape;107;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spcBef>
                <a:spcPts val="4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08" name="Google Shape;108;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55600" lvl="1" marL="914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Calibri"/>
                <a:ea typeface="Calibri"/>
                <a:cs typeface="Calibri"/>
                <a:sym typeface="Calibri"/>
              </a:defRPr>
            </a:lvl9pPr>
          </a:lstStyle>
          <a:p/>
        </p:txBody>
      </p:sp>
      <p:sp>
        <p:nvSpPr>
          <p:cNvPr id="109" name="Google Shape;109;p33"/>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0" name="Google Shape;110;p33"/>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1" name="Google Shape;111;p33"/>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2" name="Shape 112"/>
        <p:cNvGrpSpPr/>
        <p:nvPr/>
      </p:nvGrpSpPr>
      <p:grpSpPr>
        <a:xfrm>
          <a:off x="0" y="0"/>
          <a:ext cx="0" cy="0"/>
          <a:chOff x="0" y="0"/>
          <a:chExt cx="0" cy="0"/>
        </a:xfrm>
      </p:grpSpPr>
      <p:sp>
        <p:nvSpPr>
          <p:cNvPr id="113" name="Google Shape;113;p3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4" name="Google Shape;114;p34"/>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5" name="Google Shape;115;p34"/>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34"/>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7" name="Shape 117"/>
        <p:cNvGrpSpPr/>
        <p:nvPr/>
      </p:nvGrpSpPr>
      <p:grpSpPr>
        <a:xfrm>
          <a:off x="0" y="0"/>
          <a:ext cx="0" cy="0"/>
          <a:chOff x="0" y="0"/>
          <a:chExt cx="0" cy="0"/>
        </a:xfrm>
      </p:grpSpPr>
      <p:sp>
        <p:nvSpPr>
          <p:cNvPr id="118" name="Google Shape;118;p35"/>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9" name="Google Shape;119;p35"/>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0" name="Google Shape;120;p35"/>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1" name="Shape 121"/>
        <p:cNvGrpSpPr/>
        <p:nvPr/>
      </p:nvGrpSpPr>
      <p:grpSpPr>
        <a:xfrm>
          <a:off x="0" y="0"/>
          <a:ext cx="0" cy="0"/>
          <a:chOff x="0" y="0"/>
          <a:chExt cx="0" cy="0"/>
        </a:xfrm>
      </p:grpSpPr>
      <p:sp>
        <p:nvSpPr>
          <p:cNvPr id="122" name="Google Shape;122;p3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3" name="Google Shape;123;p3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4" name="Google Shape;124;p3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25" name="Google Shape;125;p36"/>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6" name="Google Shape;126;p36"/>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7" name="Google Shape;127;p36"/>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8" name="Shape 128"/>
        <p:cNvGrpSpPr/>
        <p:nvPr/>
      </p:nvGrpSpPr>
      <p:grpSpPr>
        <a:xfrm>
          <a:off x="0" y="0"/>
          <a:ext cx="0" cy="0"/>
          <a:chOff x="0" y="0"/>
          <a:chExt cx="0" cy="0"/>
        </a:xfrm>
      </p:grpSpPr>
      <p:sp>
        <p:nvSpPr>
          <p:cNvPr id="129" name="Google Shape;129;p3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Clr>
                <a:schemeClr val="dk1"/>
              </a:buClr>
              <a:buSzPts val="2000"/>
              <a:buFont typeface="Calibri"/>
              <a:buNone/>
              <a:defRPr b="1" i="0" sz="20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0" name="Google Shape;130;p37"/>
          <p:cNvSpPr/>
          <p:nvPr>
            <p:ph idx="2" type="pic"/>
          </p:nvPr>
        </p:nvSpPr>
        <p:spPr>
          <a:xfrm>
            <a:off x="1792288" y="612775"/>
            <a:ext cx="5486400" cy="4114800"/>
          </a:xfrm>
          <a:prstGeom prst="rect">
            <a:avLst/>
          </a:prstGeom>
          <a:noFill/>
          <a:ln>
            <a:noFill/>
          </a:ln>
        </p:spPr>
      </p:sp>
      <p:sp>
        <p:nvSpPr>
          <p:cNvPr id="131" name="Google Shape;131;p3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1pPr>
            <a:lvl2pPr indent="-228600" lvl="1" marL="914400" marR="0" rtl="0" algn="l">
              <a:spcBef>
                <a:spcPts val="24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Calibri"/>
                <a:ea typeface="Calibri"/>
                <a:cs typeface="Calibri"/>
                <a:sym typeface="Calibri"/>
              </a:defRPr>
            </a:lvl9pPr>
          </a:lstStyle>
          <a:p/>
        </p:txBody>
      </p:sp>
      <p:sp>
        <p:nvSpPr>
          <p:cNvPr id="132" name="Google Shape;132;p37"/>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37"/>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4" name="Google Shape;134;p37"/>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5" name="Shape 135"/>
        <p:cNvGrpSpPr/>
        <p:nvPr/>
      </p:nvGrpSpPr>
      <p:grpSpPr>
        <a:xfrm>
          <a:off x="0" y="0"/>
          <a:ext cx="0" cy="0"/>
          <a:chOff x="0" y="0"/>
          <a:chExt cx="0" cy="0"/>
        </a:xfrm>
      </p:grpSpPr>
      <p:sp>
        <p:nvSpPr>
          <p:cNvPr id="136" name="Google Shape;136;p3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7" name="Google Shape;137;p3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8" name="Google Shape;138;p38"/>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9" name="Google Shape;139;p38"/>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0" name="Google Shape;140;p38"/>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1" name="Shape 141"/>
        <p:cNvGrpSpPr/>
        <p:nvPr/>
      </p:nvGrpSpPr>
      <p:grpSpPr>
        <a:xfrm>
          <a:off x="0" y="0"/>
          <a:ext cx="0" cy="0"/>
          <a:chOff x="0" y="0"/>
          <a:chExt cx="0" cy="0"/>
        </a:xfrm>
      </p:grpSpPr>
      <p:sp>
        <p:nvSpPr>
          <p:cNvPr id="142" name="Google Shape;142;p39"/>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3" name="Google Shape;143;p3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44" name="Google Shape;144;p39"/>
          <p:cNvSpPr txBox="1"/>
          <p:nvPr>
            <p:ph idx="10" type="dt"/>
          </p:nvPr>
        </p:nvSpPr>
        <p:spPr>
          <a:xfrm>
            <a:off x="457200" y="6356350"/>
            <a:ext cx="2133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5" name="Google Shape;145;p39"/>
          <p:cNvSpPr txBox="1"/>
          <p:nvPr>
            <p:ph idx="11" type="ftr"/>
          </p:nvPr>
        </p:nvSpPr>
        <p:spPr>
          <a:xfrm>
            <a:off x="3124200" y="6356350"/>
            <a:ext cx="289560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6" name="Google Shape;146;p39"/>
          <p:cNvSpPr txBox="1"/>
          <p:nvPr>
            <p:ph idx="12" type="sldNum"/>
          </p:nvPr>
        </p:nvSpPr>
        <p:spPr>
          <a:xfrm>
            <a:off x="6553200" y="6356350"/>
            <a:ext cx="213360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3.xml"/><Relationship Id="rId12" Type="http://schemas.openxmlformats.org/officeDocument/2006/relationships/slideLayout" Target="../slideLayouts/slideLayout22.xml"/><Relationship Id="rId1" Type="http://schemas.openxmlformats.org/officeDocument/2006/relationships/image" Target="../media/image9.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Slide 1b.jpg" id="6" name="Google Shape;6;p16"/>
          <p:cNvPicPr preferRelativeResize="0"/>
          <p:nvPr/>
        </p:nvPicPr>
        <p:blipFill rotWithShape="1">
          <a:blip r:embed="rId1">
            <a:alphaModFix/>
          </a:blip>
          <a:srcRect b="0" l="0" r="0" t="0"/>
          <a:stretch/>
        </p:blipFill>
        <p:spPr>
          <a:xfrm>
            <a:off x="0" y="0"/>
            <a:ext cx="9144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6" name="Shape 76"/>
        <p:cNvGrpSpPr/>
        <p:nvPr/>
      </p:nvGrpSpPr>
      <p:grpSpPr>
        <a:xfrm>
          <a:off x="0" y="0"/>
          <a:ext cx="0" cy="0"/>
          <a:chOff x="0" y="0"/>
          <a:chExt cx="0" cy="0"/>
        </a:xfrm>
      </p:grpSpPr>
      <p:pic>
        <p:nvPicPr>
          <p:cNvPr descr="Slide 1a.jpg" id="77" name="Google Shape;77;p18"/>
          <p:cNvPicPr preferRelativeResize="0"/>
          <p:nvPr/>
        </p:nvPicPr>
        <p:blipFill rotWithShape="1">
          <a:blip r:embed="rId1">
            <a:alphaModFix/>
          </a:blip>
          <a:srcRect b="0" l="0" r="0" t="0"/>
          <a:stretch/>
        </p:blipFill>
        <p:spPr>
          <a:xfrm>
            <a:off x="0" y="0"/>
            <a:ext cx="9144000" cy="68580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comments" Target="../comments/comment1.xml"/><Relationship Id="rId4" Type="http://schemas.openxmlformats.org/officeDocument/2006/relationships/image" Target="../media/image2.png"/><Relationship Id="rId5"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comments" Target="../comments/commen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5.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7.jp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comments" Target="../comments/commen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comments" Target="../comments/commen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comments" Target="../comments/comment5.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8.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www.ieee.org/about/corporate/governance/p7-8" TargetMode="External"/><Relationship Id="rId4" Type="http://schemas.openxmlformats.org/officeDocument/2006/relationships/hyperlink" Target="https://www.americanimmigrationcouncil.org/blog/ice-immigrationos-palantir-ai-track-immigrants/" TargetMode="External"/><Relationship Id="rId5" Type="http://schemas.openxmlformats.org/officeDocument/2006/relationships/hyperlink" Target="https://www.theguardian.com/us-news/ng-interactive/2025/sep/22/ice-palantir-data?utm_source=chatgpt.com" TargetMode="External"/><Relationship Id="rId6" Type="http://schemas.openxmlformats.org/officeDocument/2006/relationships/hyperlink" Target="https://www.amnestyusa.org/press-releases/palantirs-contracts-with-ice-raise-human-rights-concerns-around-direct-listing/?utm_source=chatgpt.com" TargetMode="External"/><Relationship Id="rId7" Type="http://schemas.openxmlformats.org/officeDocument/2006/relationships/hyperlink" Target="https://www.ftc.gov/news-events/news/press-releases/2023/05/ftc-says-ring-employees-illegally-surveilled-customers-failed-stop-hackers-taking-control-users?utm_source=chatgpt.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
          <p:cNvSpPr txBox="1"/>
          <p:nvPr>
            <p:ph type="ctrTitle"/>
          </p:nvPr>
        </p:nvSpPr>
        <p:spPr>
          <a:xfrm>
            <a:off x="685800" y="1213000"/>
            <a:ext cx="7772400" cy="1470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Engineering Ethics Case Study:</a:t>
            </a:r>
            <a:endParaRPr/>
          </a:p>
          <a:p>
            <a:pPr indent="0" lvl="0" marL="0" rtl="0" algn="ctr">
              <a:spcBef>
                <a:spcPts val="0"/>
              </a:spcBef>
              <a:spcAft>
                <a:spcPts val="0"/>
              </a:spcAft>
              <a:buClr>
                <a:schemeClr val="dk1"/>
              </a:buClr>
              <a:buSzPts val="4400"/>
              <a:buFont typeface="Calibri"/>
              <a:buNone/>
            </a:pPr>
            <a:r>
              <a:rPr lang="en-US"/>
              <a:t>Case 28 | Artificial Intelligence</a:t>
            </a:r>
            <a:endParaRPr/>
          </a:p>
        </p:txBody>
      </p:sp>
      <p:sp>
        <p:nvSpPr>
          <p:cNvPr id="152" name="Google Shape;152;p1"/>
          <p:cNvSpPr txBox="1"/>
          <p:nvPr>
            <p:ph idx="1" type="subTitle"/>
          </p:nvPr>
        </p:nvSpPr>
        <p:spPr>
          <a:xfrm>
            <a:off x="1114500" y="3901225"/>
            <a:ext cx="69150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rPr lang="en-US"/>
              <a:t>Team 1</a:t>
            </a:r>
            <a:endParaRPr/>
          </a:p>
          <a:p>
            <a:pPr indent="0" lvl="0" marL="0" rtl="0" algn="ctr">
              <a:spcBef>
                <a:spcPts val="640"/>
              </a:spcBef>
              <a:spcAft>
                <a:spcPts val="0"/>
              </a:spcAft>
              <a:buClr>
                <a:srgbClr val="888888"/>
              </a:buClr>
              <a:buSzPts val="3200"/>
              <a:buNone/>
            </a:pPr>
            <a:r>
              <a:rPr lang="en-US"/>
              <a:t>Sebastian Oviedo, Elizabeth McGlone, </a:t>
            </a:r>
            <a:r>
              <a:rPr lang="en-US"/>
              <a:t>Anish</a:t>
            </a:r>
            <a:r>
              <a:rPr lang="en-US"/>
              <a:t> Goyal, Ariana Story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g3c8566f1ebf_0_0"/>
          <p:cNvSpPr txBox="1"/>
          <p:nvPr>
            <p:ph idx="1" type="body"/>
          </p:nvPr>
        </p:nvSpPr>
        <p:spPr>
          <a:xfrm>
            <a:off x="851850" y="0"/>
            <a:ext cx="7440300" cy="4660800"/>
          </a:xfrm>
          <a:prstGeom prst="rect">
            <a:avLst/>
          </a:prstGeom>
        </p:spPr>
        <p:txBody>
          <a:bodyPr anchorCtr="0" anchor="ctr" bIns="45700" lIns="91425" spcFirstLastPara="1" rIns="91425" wrap="square" tIns="45700">
            <a:noAutofit/>
          </a:bodyPr>
          <a:lstStyle/>
          <a:p>
            <a:pPr indent="0" lvl="0" marL="0" rtl="0" algn="ctr">
              <a:spcBef>
                <a:spcPts val="640"/>
              </a:spcBef>
              <a:spcAft>
                <a:spcPts val="0"/>
              </a:spcAft>
              <a:buNone/>
            </a:pPr>
            <a:r>
              <a:rPr lang="en-US"/>
              <a:t>If an AI system is only </a:t>
            </a:r>
            <a:r>
              <a:rPr b="1" lang="en-US"/>
              <a:t>60-70%</a:t>
            </a:r>
            <a:r>
              <a:rPr lang="en-US"/>
              <a:t> accurate in correctly identifying suspects in an ongoing investigation, </a:t>
            </a:r>
            <a:r>
              <a:rPr i="1" lang="en-US"/>
              <a:t>should it be allowed to command an arrest or detention</a:t>
            </a:r>
            <a:r>
              <a:rPr lang="en-US"/>
              <a:t>?</a:t>
            </a:r>
            <a:endParaRPr/>
          </a:p>
        </p:txBody>
      </p:sp>
      <p:pic>
        <p:nvPicPr>
          <p:cNvPr id="158" name="Google Shape;158;g3c8566f1ebf_0_0"/>
          <p:cNvPicPr preferRelativeResize="0"/>
          <p:nvPr/>
        </p:nvPicPr>
        <p:blipFill>
          <a:blip r:embed="rId3">
            <a:alphaModFix/>
          </a:blip>
          <a:stretch>
            <a:fillRect/>
          </a:stretch>
        </p:blipFill>
        <p:spPr>
          <a:xfrm>
            <a:off x="2442238" y="3429000"/>
            <a:ext cx="4259523" cy="23315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Case Introduction</a:t>
            </a:r>
            <a:endParaRPr/>
          </a:p>
        </p:txBody>
      </p:sp>
      <p:sp>
        <p:nvSpPr>
          <p:cNvPr id="164" name="Google Shape;164;p2"/>
          <p:cNvSpPr txBox="1"/>
          <p:nvPr>
            <p:ph idx="1" type="body"/>
          </p:nvPr>
        </p:nvSpPr>
        <p:spPr>
          <a:xfrm>
            <a:off x="102050" y="869925"/>
            <a:ext cx="5958300" cy="4526100"/>
          </a:xfrm>
          <a:prstGeom prst="rect">
            <a:avLst/>
          </a:prstGeom>
          <a:noFill/>
          <a:ln>
            <a:noFill/>
          </a:ln>
        </p:spPr>
        <p:txBody>
          <a:bodyPr anchorCtr="0" anchor="t" bIns="45700" lIns="91425" spcFirstLastPara="1" rIns="91425" wrap="square" tIns="45700">
            <a:noAutofit/>
          </a:bodyPr>
          <a:lstStyle/>
          <a:p>
            <a:pPr indent="-311150" lvl="0" marL="342900" rtl="0" algn="l">
              <a:spcBef>
                <a:spcPts val="0"/>
              </a:spcBef>
              <a:spcAft>
                <a:spcPts val="0"/>
              </a:spcAft>
              <a:buClr>
                <a:schemeClr val="dk1"/>
              </a:buClr>
              <a:buSzPts val="2700"/>
              <a:buChar char="•"/>
            </a:pPr>
            <a:r>
              <a:rPr lang="en-US" sz="2700"/>
              <a:t>This case examines the ethical implications of using AI-powered facial recognition technology in law enforcement</a:t>
            </a:r>
            <a:endParaRPr sz="2700"/>
          </a:p>
          <a:p>
            <a:pPr indent="-311150" lvl="0" marL="342900" rtl="0" algn="l">
              <a:spcBef>
                <a:spcPts val="0"/>
              </a:spcBef>
              <a:spcAft>
                <a:spcPts val="0"/>
              </a:spcAft>
              <a:buClr>
                <a:schemeClr val="dk1"/>
              </a:buClr>
              <a:buSzPts val="2700"/>
              <a:buChar char="•"/>
            </a:pPr>
            <a:r>
              <a:rPr lang="en-US" sz="2700"/>
              <a:t>Focuses on privacy, accuracy, bias, civil liberties, and public safety</a:t>
            </a:r>
            <a:endParaRPr sz="2700"/>
          </a:p>
          <a:p>
            <a:pPr indent="-311150" lvl="0" marL="342900" rtl="0" algn="l">
              <a:spcBef>
                <a:spcPts val="0"/>
              </a:spcBef>
              <a:spcAft>
                <a:spcPts val="0"/>
              </a:spcAft>
              <a:buClr>
                <a:schemeClr val="dk1"/>
              </a:buClr>
              <a:buSzPts val="2700"/>
              <a:buChar char="•"/>
            </a:pPr>
            <a:r>
              <a:rPr lang="en-US" sz="2700"/>
              <a:t>Explores the tension between technological innovation and ethical responsibility</a:t>
            </a:r>
            <a:endParaRPr sz="2700"/>
          </a:p>
          <a:p>
            <a:pPr indent="-311150" lvl="0" marL="342900" rtl="0" algn="l">
              <a:spcBef>
                <a:spcPts val="0"/>
              </a:spcBef>
              <a:spcAft>
                <a:spcPts val="0"/>
              </a:spcAft>
              <a:buClr>
                <a:schemeClr val="dk1"/>
              </a:buClr>
              <a:buSzPts val="2700"/>
              <a:buChar char="•"/>
            </a:pPr>
            <a:r>
              <a:rPr lang="en-US" sz="2700"/>
              <a:t>Raises concerns about deploying early-stage AI systems in real-world policing</a:t>
            </a:r>
            <a:endParaRPr sz="2700"/>
          </a:p>
        </p:txBody>
      </p:sp>
      <p:pic>
        <p:nvPicPr>
          <p:cNvPr id="165" name="Google Shape;165;p2"/>
          <p:cNvPicPr preferRelativeResize="0"/>
          <p:nvPr/>
        </p:nvPicPr>
        <p:blipFill>
          <a:blip r:embed="rId4">
            <a:alphaModFix/>
          </a:blip>
          <a:stretch>
            <a:fillRect/>
          </a:stretch>
        </p:blipFill>
        <p:spPr>
          <a:xfrm>
            <a:off x="6060362" y="4238075"/>
            <a:ext cx="2943826" cy="1857126"/>
          </a:xfrm>
          <a:prstGeom prst="rect">
            <a:avLst/>
          </a:prstGeom>
          <a:noFill/>
          <a:ln>
            <a:noFill/>
          </a:ln>
        </p:spPr>
      </p:pic>
      <p:pic>
        <p:nvPicPr>
          <p:cNvPr id="166" name="Google Shape;166;p2"/>
          <p:cNvPicPr preferRelativeResize="0"/>
          <p:nvPr/>
        </p:nvPicPr>
        <p:blipFill>
          <a:blip r:embed="rId5">
            <a:alphaModFix/>
          </a:blip>
          <a:stretch>
            <a:fillRect/>
          </a:stretch>
        </p:blipFill>
        <p:spPr>
          <a:xfrm>
            <a:off x="6060350" y="1746775"/>
            <a:ext cx="2943848" cy="168221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Case Description</a:t>
            </a:r>
            <a:endParaRPr/>
          </a:p>
        </p:txBody>
      </p:sp>
      <p:sp>
        <p:nvSpPr>
          <p:cNvPr id="172" name="Google Shape;172;p3"/>
          <p:cNvSpPr txBox="1"/>
          <p:nvPr>
            <p:ph idx="1" type="body"/>
          </p:nvPr>
        </p:nvSpPr>
        <p:spPr>
          <a:xfrm>
            <a:off x="802500" y="1550875"/>
            <a:ext cx="7539000" cy="4526100"/>
          </a:xfrm>
          <a:prstGeom prst="rect">
            <a:avLst/>
          </a:prstGeom>
          <a:noFill/>
          <a:ln>
            <a:noFill/>
          </a:ln>
        </p:spPr>
        <p:txBody>
          <a:bodyPr anchorCtr="0" anchor="t" bIns="45700" lIns="91425" spcFirstLastPara="1" rIns="91425" wrap="square" tIns="45700">
            <a:noAutofit/>
          </a:bodyPr>
          <a:lstStyle/>
          <a:p>
            <a:pPr indent="-330200" lvl="0" marL="342900" rtl="0" algn="l">
              <a:spcBef>
                <a:spcPts val="640"/>
              </a:spcBef>
              <a:spcAft>
                <a:spcPts val="0"/>
              </a:spcAft>
              <a:buClr>
                <a:schemeClr val="dk1"/>
              </a:buClr>
              <a:buSzPts val="3000"/>
              <a:buChar char="•"/>
            </a:pPr>
            <a:r>
              <a:rPr lang="en-US" sz="3000"/>
              <a:t>Boundless Brain is a U.S.-based AI startup valued at $25 million</a:t>
            </a:r>
            <a:endParaRPr sz="3000"/>
          </a:p>
          <a:p>
            <a:pPr indent="-330200" lvl="0" marL="342900" rtl="0" algn="l">
              <a:spcBef>
                <a:spcPts val="640"/>
              </a:spcBef>
              <a:spcAft>
                <a:spcPts val="0"/>
              </a:spcAft>
              <a:buClr>
                <a:schemeClr val="dk1"/>
              </a:buClr>
              <a:buSzPts val="3000"/>
              <a:buChar char="•"/>
            </a:pPr>
            <a:r>
              <a:rPr lang="en-US" sz="3000"/>
              <a:t>Initially successful using AI to analyze social media for real-time events</a:t>
            </a:r>
            <a:endParaRPr sz="3000"/>
          </a:p>
          <a:p>
            <a:pPr indent="-330200" lvl="0" marL="342900" rtl="0" algn="l">
              <a:spcBef>
                <a:spcPts val="640"/>
              </a:spcBef>
              <a:spcAft>
                <a:spcPts val="0"/>
              </a:spcAft>
              <a:buClr>
                <a:schemeClr val="dk1"/>
              </a:buClr>
              <a:buSzPts val="3000"/>
              <a:buChar char="•"/>
            </a:pPr>
            <a:r>
              <a:rPr lang="en-US" sz="3000"/>
              <a:t>Expanded into facial recognition technology using neural networks</a:t>
            </a:r>
            <a:endParaRPr sz="3000"/>
          </a:p>
          <a:p>
            <a:pPr indent="-330200" lvl="0" marL="342900" rtl="0" algn="l">
              <a:spcBef>
                <a:spcPts val="640"/>
              </a:spcBef>
              <a:spcAft>
                <a:spcPts val="0"/>
              </a:spcAft>
              <a:buClr>
                <a:schemeClr val="dk1"/>
              </a:buClr>
              <a:buSzPts val="3000"/>
              <a:buChar char="•"/>
            </a:pPr>
            <a:r>
              <a:rPr lang="en-US" sz="3000"/>
              <a:t>Developed face-as-ID security systems</a:t>
            </a:r>
            <a:endParaRPr sz="3000"/>
          </a:p>
          <a:p>
            <a:pPr indent="-139700" lvl="0" marL="342900" rtl="0" algn="l">
              <a:spcBef>
                <a:spcPts val="640"/>
              </a:spcBef>
              <a:spcAft>
                <a:spcPts val="0"/>
              </a:spcAft>
              <a:buClr>
                <a:schemeClr val="dk1"/>
              </a:buClr>
              <a:buSzPts val="3200"/>
              <a:buNone/>
            </a:pPr>
            <a:r>
              <a:t/>
            </a:r>
            <a:endParaRPr sz="3000"/>
          </a:p>
        </p:txBody>
      </p:sp>
      <p:pic>
        <p:nvPicPr>
          <p:cNvPr id="173" name="Google Shape;173;p3"/>
          <p:cNvPicPr preferRelativeResize="0"/>
          <p:nvPr/>
        </p:nvPicPr>
        <p:blipFill>
          <a:blip r:embed="rId3">
            <a:alphaModFix/>
          </a:blip>
          <a:stretch>
            <a:fillRect/>
          </a:stretch>
        </p:blipFill>
        <p:spPr>
          <a:xfrm>
            <a:off x="5562050" y="4847275"/>
            <a:ext cx="3581951" cy="201072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3c70b513968_0_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Case Description</a:t>
            </a:r>
            <a:endParaRPr/>
          </a:p>
        </p:txBody>
      </p:sp>
      <p:sp>
        <p:nvSpPr>
          <p:cNvPr id="179" name="Google Shape;179;g3c70b513968_0_0"/>
          <p:cNvSpPr txBox="1"/>
          <p:nvPr>
            <p:ph idx="1" type="body"/>
          </p:nvPr>
        </p:nvSpPr>
        <p:spPr>
          <a:xfrm>
            <a:off x="167750" y="1124900"/>
            <a:ext cx="5789100" cy="5001300"/>
          </a:xfrm>
          <a:prstGeom prst="rect">
            <a:avLst/>
          </a:prstGeom>
          <a:noFill/>
          <a:ln>
            <a:noFill/>
          </a:ln>
        </p:spPr>
        <p:txBody>
          <a:bodyPr anchorCtr="0" anchor="t" bIns="45700" lIns="91425" spcFirstLastPara="1" rIns="91425" wrap="square" tIns="45700">
            <a:noAutofit/>
          </a:bodyPr>
          <a:lstStyle/>
          <a:p>
            <a:pPr indent="-285750" lvl="0" marL="342900" rtl="0" algn="l">
              <a:spcBef>
                <a:spcPts val="640"/>
              </a:spcBef>
              <a:spcAft>
                <a:spcPts val="0"/>
              </a:spcAft>
              <a:buClr>
                <a:schemeClr val="dk1"/>
              </a:buClr>
              <a:buSzPts val="2300"/>
              <a:buChar char="•"/>
            </a:pPr>
            <a:r>
              <a:rPr lang="en-US" sz="2300"/>
              <a:t>Company now integrating AI into police body cameras and video surveillance</a:t>
            </a:r>
            <a:endParaRPr sz="2300"/>
          </a:p>
          <a:p>
            <a:pPr indent="-285750" lvl="0" marL="342900" rtl="0" algn="l">
              <a:spcBef>
                <a:spcPts val="640"/>
              </a:spcBef>
              <a:spcAft>
                <a:spcPts val="0"/>
              </a:spcAft>
              <a:buClr>
                <a:schemeClr val="dk1"/>
              </a:buClr>
              <a:buSzPts val="2300"/>
              <a:buChar char="•"/>
            </a:pPr>
            <a:r>
              <a:rPr lang="en-US" sz="2300"/>
              <a:t>Technology identifies suspects in real time, not after crimes</a:t>
            </a:r>
            <a:endParaRPr sz="2300"/>
          </a:p>
          <a:p>
            <a:pPr indent="-285750" lvl="0" marL="342900" rtl="0" algn="l">
              <a:spcBef>
                <a:spcPts val="640"/>
              </a:spcBef>
              <a:spcAft>
                <a:spcPts val="0"/>
              </a:spcAft>
              <a:buClr>
                <a:schemeClr val="dk1"/>
              </a:buClr>
              <a:buSzPts val="2300"/>
              <a:buChar char="•"/>
            </a:pPr>
            <a:r>
              <a:rPr lang="en-US" sz="2300"/>
              <a:t>Interest shown by:</a:t>
            </a:r>
            <a:endParaRPr sz="2000"/>
          </a:p>
          <a:p>
            <a:pPr indent="-254000" lvl="1" marL="742950" rtl="0" algn="l">
              <a:spcBef>
                <a:spcPts val="640"/>
              </a:spcBef>
              <a:spcAft>
                <a:spcPts val="0"/>
              </a:spcAft>
              <a:buClr>
                <a:schemeClr val="dk1"/>
              </a:buClr>
              <a:buSzPts val="2300"/>
              <a:buChar char="–"/>
            </a:pPr>
            <a:r>
              <a:rPr lang="en-US" sz="2300"/>
              <a:t>Local police departments</a:t>
            </a:r>
            <a:endParaRPr sz="2300"/>
          </a:p>
          <a:p>
            <a:pPr indent="-254000" lvl="1" marL="742950" rtl="0" algn="l">
              <a:spcBef>
                <a:spcPts val="640"/>
              </a:spcBef>
              <a:spcAft>
                <a:spcPts val="0"/>
              </a:spcAft>
              <a:buClr>
                <a:schemeClr val="dk1"/>
              </a:buClr>
              <a:buSzPts val="2300"/>
              <a:buChar char="–"/>
            </a:pPr>
            <a:r>
              <a:rPr lang="en-US" sz="2300"/>
              <a:t>U.S. Immigration and Customs Enforcement (ICE)</a:t>
            </a:r>
            <a:endParaRPr sz="2300"/>
          </a:p>
          <a:p>
            <a:pPr indent="-285750" lvl="0" marL="342900" rtl="0" algn="l">
              <a:spcBef>
                <a:spcPts val="640"/>
              </a:spcBef>
              <a:spcAft>
                <a:spcPts val="0"/>
              </a:spcAft>
              <a:buClr>
                <a:schemeClr val="dk1"/>
              </a:buClr>
              <a:buSzPts val="2300"/>
              <a:buChar char="•"/>
            </a:pPr>
            <a:r>
              <a:rPr lang="en-US" sz="2300"/>
              <a:t>Facial recognition system has a 35% error rate</a:t>
            </a:r>
            <a:endParaRPr sz="2300"/>
          </a:p>
          <a:p>
            <a:pPr indent="-285750" lvl="0" marL="342900" rtl="0" algn="l">
              <a:spcBef>
                <a:spcPts val="640"/>
              </a:spcBef>
              <a:spcAft>
                <a:spcPts val="0"/>
              </a:spcAft>
              <a:buClr>
                <a:schemeClr val="dk1"/>
              </a:buClr>
              <a:buSzPts val="2300"/>
              <a:buChar char="•"/>
            </a:pPr>
            <a:r>
              <a:rPr lang="en-US" sz="2300"/>
              <a:t>Employees raised ethical concerns and some refused to work on AI drones</a:t>
            </a:r>
            <a:endParaRPr sz="2300"/>
          </a:p>
          <a:p>
            <a:pPr indent="-139700" lvl="0" marL="342900" rtl="0" algn="l">
              <a:spcBef>
                <a:spcPts val="640"/>
              </a:spcBef>
              <a:spcAft>
                <a:spcPts val="0"/>
              </a:spcAft>
              <a:buClr>
                <a:schemeClr val="dk1"/>
              </a:buClr>
              <a:buSzPts val="3200"/>
              <a:buNone/>
            </a:pPr>
            <a:r>
              <a:t/>
            </a:r>
            <a:endParaRPr sz="3000"/>
          </a:p>
        </p:txBody>
      </p:sp>
      <p:pic>
        <p:nvPicPr>
          <p:cNvPr id="180" name="Google Shape;180;g3c70b513968_0_0"/>
          <p:cNvPicPr preferRelativeResize="0"/>
          <p:nvPr/>
        </p:nvPicPr>
        <p:blipFill>
          <a:blip r:embed="rId3">
            <a:alphaModFix/>
          </a:blip>
          <a:stretch>
            <a:fillRect/>
          </a:stretch>
        </p:blipFill>
        <p:spPr>
          <a:xfrm>
            <a:off x="6237425" y="1417649"/>
            <a:ext cx="2531600" cy="2531600"/>
          </a:xfrm>
          <a:prstGeom prst="rect">
            <a:avLst/>
          </a:prstGeom>
          <a:noFill/>
          <a:ln>
            <a:noFill/>
          </a:ln>
        </p:spPr>
      </p:pic>
      <p:pic>
        <p:nvPicPr>
          <p:cNvPr id="181" name="Google Shape;181;g3c70b513968_0_0"/>
          <p:cNvPicPr preferRelativeResize="0"/>
          <p:nvPr/>
        </p:nvPicPr>
        <p:blipFill>
          <a:blip r:embed="rId4">
            <a:alphaModFix/>
          </a:blip>
          <a:stretch>
            <a:fillRect/>
          </a:stretch>
        </p:blipFill>
        <p:spPr>
          <a:xfrm>
            <a:off x="6062050" y="4381199"/>
            <a:ext cx="2882350" cy="192396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Main Issues Related to Ethics</a:t>
            </a:r>
            <a:endParaRPr/>
          </a:p>
        </p:txBody>
      </p:sp>
      <p:sp>
        <p:nvSpPr>
          <p:cNvPr id="187" name="Google Shape;187;p4"/>
          <p:cNvSpPr txBox="1"/>
          <p:nvPr>
            <p:ph idx="1" type="body"/>
          </p:nvPr>
        </p:nvSpPr>
        <p:spPr>
          <a:xfrm>
            <a:off x="457200" y="1193126"/>
            <a:ext cx="8229600" cy="4933200"/>
          </a:xfrm>
          <a:prstGeom prst="rect">
            <a:avLst/>
          </a:prstGeom>
          <a:noFill/>
          <a:ln>
            <a:noFill/>
          </a:ln>
        </p:spPr>
        <p:txBody>
          <a:bodyPr anchorCtr="0" anchor="t" bIns="45700" lIns="91425" spcFirstLastPara="1" rIns="91425" wrap="square" tIns="45700">
            <a:noAutofit/>
          </a:bodyPr>
          <a:lstStyle/>
          <a:p>
            <a:pPr indent="-311150" lvl="0" marL="342900" rtl="0" algn="l">
              <a:spcBef>
                <a:spcPts val="0"/>
              </a:spcBef>
              <a:spcAft>
                <a:spcPts val="0"/>
              </a:spcAft>
              <a:buClr>
                <a:schemeClr val="dk1"/>
              </a:buClr>
              <a:buSzPts val="2700"/>
              <a:buChar char="•"/>
            </a:pPr>
            <a:r>
              <a:rPr lang="en-US" sz="2700"/>
              <a:t>Use of unproven AI technology in high-risk law enforcement settings</a:t>
            </a:r>
            <a:endParaRPr sz="2700"/>
          </a:p>
          <a:p>
            <a:pPr indent="-311150" lvl="0" marL="342900" rtl="0" algn="l">
              <a:spcBef>
                <a:spcPts val="0"/>
              </a:spcBef>
              <a:spcAft>
                <a:spcPts val="0"/>
              </a:spcAft>
              <a:buClr>
                <a:schemeClr val="dk1"/>
              </a:buClr>
              <a:buSzPts val="2700"/>
              <a:buChar char="•"/>
            </a:pPr>
            <a:r>
              <a:rPr lang="en-US" sz="2700"/>
              <a:t>Violation of privacy and civil liberties</a:t>
            </a:r>
            <a:endParaRPr sz="2700"/>
          </a:p>
          <a:p>
            <a:pPr indent="-311150" lvl="0" marL="342900" rtl="0" algn="l">
              <a:spcBef>
                <a:spcPts val="0"/>
              </a:spcBef>
              <a:spcAft>
                <a:spcPts val="0"/>
              </a:spcAft>
              <a:buClr>
                <a:schemeClr val="dk1"/>
              </a:buClr>
              <a:buSzPts val="2700"/>
              <a:buChar char="•"/>
            </a:pPr>
            <a:r>
              <a:rPr lang="en-US" sz="2700"/>
              <a:t>Bias and discrimination, especially against marginalized groups</a:t>
            </a:r>
            <a:endParaRPr sz="2600"/>
          </a:p>
          <a:p>
            <a:pPr indent="-311150" lvl="0" marL="342900" rtl="0" algn="l">
              <a:spcBef>
                <a:spcPts val="0"/>
              </a:spcBef>
              <a:spcAft>
                <a:spcPts val="0"/>
              </a:spcAft>
              <a:buClr>
                <a:schemeClr val="dk1"/>
              </a:buClr>
              <a:buSzPts val="2700"/>
              <a:buChar char="•"/>
            </a:pPr>
            <a:r>
              <a:rPr lang="en-US" sz="2700"/>
              <a:t>Lack of transparency and accountability in AI algorithms</a:t>
            </a:r>
            <a:endParaRPr sz="2700"/>
          </a:p>
          <a:p>
            <a:pPr indent="-311150" lvl="0" marL="342900" rtl="0" algn="l">
              <a:spcBef>
                <a:spcPts val="0"/>
              </a:spcBef>
              <a:spcAft>
                <a:spcPts val="0"/>
              </a:spcAft>
              <a:buClr>
                <a:schemeClr val="dk1"/>
              </a:buClr>
              <a:buSzPts val="2700"/>
              <a:buChar char="•"/>
            </a:pPr>
            <a:r>
              <a:rPr lang="en-US" sz="2700"/>
              <a:t>Conflict between innovation vs. regulation</a:t>
            </a:r>
            <a:endParaRPr sz="2700"/>
          </a:p>
        </p:txBody>
      </p:sp>
      <p:pic>
        <p:nvPicPr>
          <p:cNvPr id="188" name="Google Shape;188;p4"/>
          <p:cNvPicPr preferRelativeResize="0"/>
          <p:nvPr/>
        </p:nvPicPr>
        <p:blipFill>
          <a:blip r:embed="rId4">
            <a:alphaModFix/>
          </a:blip>
          <a:stretch>
            <a:fillRect/>
          </a:stretch>
        </p:blipFill>
        <p:spPr>
          <a:xfrm>
            <a:off x="5170613" y="4649925"/>
            <a:ext cx="3516175" cy="20271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5"/>
          <p:cNvSpPr txBox="1"/>
          <p:nvPr>
            <p:ph type="title"/>
          </p:nvPr>
        </p:nvSpPr>
        <p:spPr>
          <a:xfrm>
            <a:off x="457200" y="57748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What are the ethical issues?</a:t>
            </a:r>
            <a:endParaRPr/>
          </a:p>
        </p:txBody>
      </p:sp>
      <p:sp>
        <p:nvSpPr>
          <p:cNvPr id="194" name="Google Shape;194;p5"/>
          <p:cNvSpPr txBox="1"/>
          <p:nvPr>
            <p:ph idx="1" type="body"/>
          </p:nvPr>
        </p:nvSpPr>
        <p:spPr>
          <a:xfrm>
            <a:off x="118400" y="1288650"/>
            <a:ext cx="5295600" cy="4526100"/>
          </a:xfrm>
          <a:prstGeom prst="rect">
            <a:avLst/>
          </a:prstGeom>
          <a:noFill/>
          <a:ln>
            <a:noFill/>
          </a:ln>
        </p:spPr>
        <p:txBody>
          <a:bodyPr anchorCtr="0" anchor="t" bIns="45700" lIns="91425" spcFirstLastPara="1" rIns="91425" wrap="square" tIns="45700">
            <a:noAutofit/>
          </a:bodyPr>
          <a:lstStyle/>
          <a:p>
            <a:pPr indent="-400050" lvl="0" marL="457200" rtl="0" algn="l">
              <a:spcBef>
                <a:spcPts val="0"/>
              </a:spcBef>
              <a:spcAft>
                <a:spcPts val="0"/>
              </a:spcAft>
              <a:buSzPts val="2700"/>
              <a:buChar char="•"/>
            </a:pPr>
            <a:r>
              <a:rPr lang="en-US" sz="2700"/>
              <a:t>Deployment of facial recognition with high error rates</a:t>
            </a:r>
            <a:endParaRPr sz="2700"/>
          </a:p>
          <a:p>
            <a:pPr indent="-400050" lvl="0" marL="457200" rtl="0" algn="l">
              <a:spcBef>
                <a:spcPts val="0"/>
              </a:spcBef>
              <a:spcAft>
                <a:spcPts val="0"/>
              </a:spcAft>
              <a:buSzPts val="2700"/>
              <a:buChar char="•"/>
            </a:pPr>
            <a:r>
              <a:rPr lang="en-US" sz="2700"/>
              <a:t>Potential misidentification leading to wrongful arrests</a:t>
            </a:r>
            <a:endParaRPr sz="2700"/>
          </a:p>
          <a:p>
            <a:pPr indent="-400050" lvl="0" marL="457200" rtl="0" algn="l">
              <a:spcBef>
                <a:spcPts val="0"/>
              </a:spcBef>
              <a:spcAft>
                <a:spcPts val="0"/>
              </a:spcAft>
              <a:buSzPts val="2700"/>
              <a:buChar char="•"/>
            </a:pPr>
            <a:r>
              <a:rPr lang="en-US" sz="2700"/>
              <a:t>Surveillance of lawful protesters</a:t>
            </a:r>
            <a:endParaRPr sz="2700"/>
          </a:p>
          <a:p>
            <a:pPr indent="-400050" lvl="0" marL="457200" rtl="0" algn="l">
              <a:spcBef>
                <a:spcPts val="0"/>
              </a:spcBef>
              <a:spcAft>
                <a:spcPts val="0"/>
              </a:spcAft>
              <a:buSzPts val="2700"/>
              <a:buChar char="•"/>
            </a:pPr>
            <a:r>
              <a:rPr lang="en-US" sz="2700"/>
              <a:t>Racial and gender bias in AI decision-making</a:t>
            </a:r>
            <a:endParaRPr sz="2700"/>
          </a:p>
          <a:p>
            <a:pPr indent="-400050" lvl="0" marL="457200" rtl="0" algn="l">
              <a:spcBef>
                <a:spcPts val="0"/>
              </a:spcBef>
              <a:spcAft>
                <a:spcPts val="0"/>
              </a:spcAft>
              <a:buSzPts val="2700"/>
              <a:buChar char="•"/>
            </a:pPr>
            <a:r>
              <a:rPr lang="en-US" sz="2700"/>
              <a:t>Insufficient safeguards for data security and misuse</a:t>
            </a:r>
            <a:endParaRPr sz="2700"/>
          </a:p>
          <a:p>
            <a:pPr indent="-400050" lvl="0" marL="457200" rtl="0" algn="l">
              <a:spcBef>
                <a:spcPts val="0"/>
              </a:spcBef>
              <a:spcAft>
                <a:spcPts val="0"/>
              </a:spcAft>
              <a:buSzPts val="2700"/>
              <a:buChar char="•"/>
            </a:pPr>
            <a:r>
              <a:rPr lang="en-US" sz="2700"/>
              <a:t>Absence of clear government oversight</a:t>
            </a:r>
            <a:endParaRPr sz="2700"/>
          </a:p>
        </p:txBody>
      </p:sp>
      <p:pic>
        <p:nvPicPr>
          <p:cNvPr id="195" name="Google Shape;195;p5"/>
          <p:cNvPicPr preferRelativeResize="0"/>
          <p:nvPr/>
        </p:nvPicPr>
        <p:blipFill>
          <a:blip r:embed="rId3">
            <a:alphaModFix/>
          </a:blip>
          <a:stretch>
            <a:fillRect/>
          </a:stretch>
        </p:blipFill>
        <p:spPr>
          <a:xfrm>
            <a:off x="5414000" y="1720488"/>
            <a:ext cx="3425200" cy="2286321"/>
          </a:xfrm>
          <a:prstGeom prst="rect">
            <a:avLst/>
          </a:prstGeom>
          <a:noFill/>
          <a:ln>
            <a:noFill/>
          </a:ln>
        </p:spPr>
      </p:pic>
      <p:pic>
        <p:nvPicPr>
          <p:cNvPr id="196" name="Google Shape;196;p5"/>
          <p:cNvPicPr preferRelativeResize="0"/>
          <p:nvPr/>
        </p:nvPicPr>
        <p:blipFill>
          <a:blip r:embed="rId4">
            <a:alphaModFix/>
          </a:blip>
          <a:stretch>
            <a:fillRect/>
          </a:stretch>
        </p:blipFill>
        <p:spPr>
          <a:xfrm>
            <a:off x="5414000" y="4224984"/>
            <a:ext cx="3425200" cy="22841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6"/>
          <p:cNvSpPr txBox="1"/>
          <p:nvPr>
            <p:ph type="title"/>
          </p:nvPr>
        </p:nvSpPr>
        <p:spPr>
          <a:xfrm>
            <a:off x="457200" y="274649"/>
            <a:ext cx="8229600" cy="10389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Who is involved?</a:t>
            </a:r>
            <a:endParaRPr/>
          </a:p>
        </p:txBody>
      </p:sp>
      <p:sp>
        <p:nvSpPr>
          <p:cNvPr id="202" name="Google Shape;202;p6"/>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Boundless Brain executives:</a:t>
            </a:r>
            <a:endParaRPr/>
          </a:p>
          <a:p>
            <a:pPr indent="-381000" lvl="1" marL="914400" rtl="0" algn="l">
              <a:spcBef>
                <a:spcPts val="0"/>
              </a:spcBef>
              <a:spcAft>
                <a:spcPts val="0"/>
              </a:spcAft>
              <a:buSzPts val="2400"/>
              <a:buChar char="–"/>
            </a:pPr>
            <a:r>
              <a:rPr lang="en-US"/>
              <a:t>CEO (supports expansion)</a:t>
            </a:r>
            <a:endParaRPr/>
          </a:p>
          <a:p>
            <a:pPr indent="-381000" lvl="1" marL="914400" rtl="0" algn="l">
              <a:spcBef>
                <a:spcPts val="0"/>
              </a:spcBef>
              <a:spcAft>
                <a:spcPts val="0"/>
              </a:spcAft>
              <a:buSzPts val="2400"/>
              <a:buChar char="–"/>
            </a:pPr>
            <a:r>
              <a:rPr lang="en-US"/>
              <a:t>CIO (anti-regulation)</a:t>
            </a:r>
            <a:endParaRPr/>
          </a:p>
          <a:p>
            <a:pPr indent="-381000" lvl="1" marL="914400" rtl="0" algn="l">
              <a:spcBef>
                <a:spcPts val="0"/>
              </a:spcBef>
              <a:spcAft>
                <a:spcPts val="0"/>
              </a:spcAft>
              <a:buSzPts val="2400"/>
              <a:buChar char="–"/>
            </a:pPr>
            <a:r>
              <a:rPr lang="en-US"/>
              <a:t>CLO (supports regulation)</a:t>
            </a:r>
            <a:endParaRPr/>
          </a:p>
          <a:p>
            <a:pPr indent="-406400" lvl="0" marL="457200" rtl="0" algn="l">
              <a:spcBef>
                <a:spcPts val="0"/>
              </a:spcBef>
              <a:spcAft>
                <a:spcPts val="0"/>
              </a:spcAft>
              <a:buSzPts val="2800"/>
              <a:buChar char="•"/>
            </a:pPr>
            <a:r>
              <a:rPr lang="en-US"/>
              <a:t>Board of Directors</a:t>
            </a:r>
            <a:endParaRPr/>
          </a:p>
          <a:p>
            <a:pPr indent="-406400" lvl="0" marL="457200" rtl="0" algn="l">
              <a:spcBef>
                <a:spcPts val="0"/>
              </a:spcBef>
              <a:spcAft>
                <a:spcPts val="0"/>
              </a:spcAft>
              <a:buSzPts val="2800"/>
              <a:buChar char="•"/>
            </a:pPr>
            <a:r>
              <a:rPr lang="en-US"/>
              <a:t>Boundless Brain employees</a:t>
            </a:r>
            <a:endParaRPr/>
          </a:p>
        </p:txBody>
      </p:sp>
      <p:sp>
        <p:nvSpPr>
          <p:cNvPr id="203" name="Google Shape;203;p6"/>
          <p:cNvSpPr txBox="1"/>
          <p:nvPr>
            <p:ph idx="2" type="body"/>
          </p:nvPr>
        </p:nvSpPr>
        <p:spPr>
          <a:xfrm>
            <a:off x="4648200" y="1600200"/>
            <a:ext cx="4038600" cy="4526100"/>
          </a:xfrm>
          <a:prstGeom prst="rect">
            <a:avLst/>
          </a:prstGeom>
        </p:spPr>
        <p:txBody>
          <a:bodyPr anchorCtr="0" anchor="t" bIns="45700" lIns="91425" spcFirstLastPara="1" rIns="91425" wrap="square" tIns="45700">
            <a:noAutofit/>
          </a:bodyPr>
          <a:lstStyle/>
          <a:p>
            <a:pPr indent="-406400" lvl="0" marL="457200" rtl="0" algn="l">
              <a:spcBef>
                <a:spcPts val="560"/>
              </a:spcBef>
              <a:spcAft>
                <a:spcPts val="0"/>
              </a:spcAft>
              <a:buSzPts val="2800"/>
              <a:buChar char="•"/>
            </a:pPr>
            <a:r>
              <a:rPr lang="en-US"/>
              <a:t>Law enforcement agencies</a:t>
            </a:r>
            <a:endParaRPr/>
          </a:p>
          <a:p>
            <a:pPr indent="-406400" lvl="0" marL="457200" rtl="0" algn="l">
              <a:spcBef>
                <a:spcPts val="0"/>
              </a:spcBef>
              <a:spcAft>
                <a:spcPts val="0"/>
              </a:spcAft>
              <a:buSzPts val="2800"/>
              <a:buChar char="•"/>
            </a:pPr>
            <a:r>
              <a:rPr lang="en-US"/>
              <a:t>Government agencies (ICE)</a:t>
            </a:r>
            <a:endParaRPr/>
          </a:p>
          <a:p>
            <a:pPr indent="-406400" lvl="0" marL="457200" rtl="0" algn="l">
              <a:spcBef>
                <a:spcPts val="0"/>
              </a:spcBef>
              <a:spcAft>
                <a:spcPts val="0"/>
              </a:spcAft>
              <a:buSzPts val="2800"/>
              <a:buChar char="•"/>
            </a:pPr>
            <a:r>
              <a:rPr lang="en-US"/>
              <a:t>General public</a:t>
            </a:r>
            <a:endParaRPr/>
          </a:p>
          <a:p>
            <a:pPr indent="-406400" lvl="0" marL="457200" rtl="0" algn="l">
              <a:spcBef>
                <a:spcPts val="0"/>
              </a:spcBef>
              <a:spcAft>
                <a:spcPts val="0"/>
              </a:spcAft>
              <a:buSzPts val="2800"/>
              <a:buChar char="•"/>
            </a:pPr>
            <a:r>
              <a:rPr lang="en-US"/>
              <a:t>Marginalized communities (especially people of color)</a:t>
            </a:r>
            <a:endParaRPr/>
          </a:p>
          <a:p>
            <a:pPr indent="-406400" lvl="0" marL="457200" rtl="0" algn="l">
              <a:spcBef>
                <a:spcPts val="0"/>
              </a:spcBef>
              <a:spcAft>
                <a:spcPts val="0"/>
              </a:spcAft>
              <a:buSzPts val="2800"/>
              <a:buChar char="•"/>
            </a:pPr>
            <a:r>
              <a:rPr lang="en-US"/>
              <a:t>Civil liberties organizations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Where is this taking place?</a:t>
            </a:r>
            <a:endParaRPr/>
          </a:p>
        </p:txBody>
      </p:sp>
      <p:sp>
        <p:nvSpPr>
          <p:cNvPr id="209" name="Google Shape;209;p7"/>
          <p:cNvSpPr txBox="1"/>
          <p:nvPr>
            <p:ph idx="1" type="body"/>
          </p:nvPr>
        </p:nvSpPr>
        <p:spPr>
          <a:xfrm>
            <a:off x="457200" y="1417650"/>
            <a:ext cx="8229600" cy="4526100"/>
          </a:xfrm>
          <a:prstGeom prst="rect">
            <a:avLst/>
          </a:prstGeom>
          <a:noFill/>
          <a:ln>
            <a:noFill/>
          </a:ln>
        </p:spPr>
        <p:txBody>
          <a:bodyPr anchorCtr="0" anchor="t" bIns="45700" lIns="91425" spcFirstLastPara="1" rIns="91425" wrap="square" tIns="45700">
            <a:noAutofit/>
          </a:bodyPr>
          <a:lstStyle/>
          <a:p>
            <a:pPr indent="-431800" lvl="0" marL="457200" rtl="0" algn="l">
              <a:spcBef>
                <a:spcPts val="0"/>
              </a:spcBef>
              <a:spcAft>
                <a:spcPts val="0"/>
              </a:spcAft>
              <a:buSzPts val="3200"/>
              <a:buChar char="•"/>
            </a:pPr>
            <a:r>
              <a:rPr lang="en-US"/>
              <a:t>United States</a:t>
            </a:r>
            <a:endParaRPr/>
          </a:p>
          <a:p>
            <a:pPr indent="-431800" lvl="0" marL="457200" rtl="0" algn="l">
              <a:spcBef>
                <a:spcPts val="0"/>
              </a:spcBef>
              <a:spcAft>
                <a:spcPts val="0"/>
              </a:spcAft>
              <a:buSzPts val="3200"/>
              <a:buChar char="•"/>
            </a:pPr>
            <a:r>
              <a:rPr lang="en-US"/>
              <a:t>Police departments using body cameras</a:t>
            </a:r>
            <a:endParaRPr/>
          </a:p>
          <a:p>
            <a:pPr indent="-431800" lvl="0" marL="457200" rtl="0" algn="l">
              <a:spcBef>
                <a:spcPts val="0"/>
              </a:spcBef>
              <a:spcAft>
                <a:spcPts val="0"/>
              </a:spcAft>
              <a:buSzPts val="3200"/>
              <a:buChar char="•"/>
            </a:pPr>
            <a:r>
              <a:rPr lang="en-US"/>
              <a:t>Public spaces (protests, borders, streets)</a:t>
            </a:r>
            <a:endParaRPr/>
          </a:p>
          <a:p>
            <a:pPr indent="-431800" lvl="0" marL="457200" rtl="0" algn="l">
              <a:spcBef>
                <a:spcPts val="0"/>
              </a:spcBef>
              <a:spcAft>
                <a:spcPts val="0"/>
              </a:spcAft>
              <a:buSzPts val="3200"/>
              <a:buChar char="•"/>
            </a:pPr>
            <a:r>
              <a:rPr lang="en-US"/>
              <a:t>U.S.–Mexico border surveillance</a:t>
            </a:r>
            <a:endParaRPr/>
          </a:p>
          <a:p>
            <a:pPr indent="-431800" lvl="0" marL="457200" rtl="0" algn="l">
              <a:spcBef>
                <a:spcPts val="0"/>
              </a:spcBef>
              <a:spcAft>
                <a:spcPts val="0"/>
              </a:spcAft>
              <a:buSzPts val="3200"/>
              <a:buChar char="•"/>
            </a:pPr>
            <a:r>
              <a:rPr lang="en-US"/>
              <a:t>Government and law enforcement environments</a:t>
            </a:r>
            <a:endParaRPr/>
          </a:p>
          <a:p>
            <a:pPr indent="0" lvl="0" marL="457200" rtl="0" algn="l">
              <a:spcBef>
                <a:spcPts val="0"/>
              </a:spcBef>
              <a:spcAft>
                <a:spcPts val="0"/>
              </a:spcAft>
              <a:buNone/>
            </a:pPr>
            <a:r>
              <a:t/>
            </a:r>
            <a:endParaRPr/>
          </a:p>
        </p:txBody>
      </p:sp>
      <p:pic>
        <p:nvPicPr>
          <p:cNvPr id="210" name="Google Shape;210;p7"/>
          <p:cNvPicPr preferRelativeResize="0"/>
          <p:nvPr/>
        </p:nvPicPr>
        <p:blipFill>
          <a:blip r:embed="rId3">
            <a:alphaModFix/>
          </a:blip>
          <a:stretch>
            <a:fillRect/>
          </a:stretch>
        </p:blipFill>
        <p:spPr>
          <a:xfrm>
            <a:off x="4460175" y="4085775"/>
            <a:ext cx="4127800" cy="25637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When do ethical issues occur?</a:t>
            </a:r>
            <a:endParaRPr/>
          </a:p>
        </p:txBody>
      </p:sp>
      <p:sp>
        <p:nvSpPr>
          <p:cNvPr id="216" name="Google Shape;216;p8"/>
          <p:cNvSpPr txBox="1"/>
          <p:nvPr>
            <p:ph idx="1" type="body"/>
          </p:nvPr>
        </p:nvSpPr>
        <p:spPr>
          <a:xfrm>
            <a:off x="457200" y="1041025"/>
            <a:ext cx="8229600" cy="4526100"/>
          </a:xfrm>
          <a:prstGeom prst="rect">
            <a:avLst/>
          </a:prstGeom>
          <a:noFill/>
          <a:ln>
            <a:noFill/>
          </a:ln>
        </p:spPr>
        <p:txBody>
          <a:bodyPr anchorCtr="0" anchor="t" bIns="45700" lIns="91425" spcFirstLastPara="1" rIns="91425" wrap="square" tIns="45700">
            <a:noAutofit/>
          </a:bodyPr>
          <a:lstStyle/>
          <a:p>
            <a:pPr indent="-419100" lvl="0" marL="457200" rtl="0" algn="l">
              <a:spcBef>
                <a:spcPts val="0"/>
              </a:spcBef>
              <a:spcAft>
                <a:spcPts val="0"/>
              </a:spcAft>
              <a:buSzPts val="3000"/>
              <a:buChar char="•"/>
            </a:pPr>
            <a:r>
              <a:rPr lang="en-US" sz="3000"/>
              <a:t>During early-stage development of AI facial recognition</a:t>
            </a:r>
            <a:endParaRPr sz="3000"/>
          </a:p>
          <a:p>
            <a:pPr indent="-419100" lvl="0" marL="457200" rtl="0" algn="l">
              <a:spcBef>
                <a:spcPts val="0"/>
              </a:spcBef>
              <a:spcAft>
                <a:spcPts val="0"/>
              </a:spcAft>
              <a:buSzPts val="3000"/>
              <a:buChar char="•"/>
            </a:pPr>
            <a:r>
              <a:rPr lang="en-US" sz="3000"/>
              <a:t>Before sufficient testing and validation</a:t>
            </a:r>
            <a:endParaRPr sz="3000"/>
          </a:p>
          <a:p>
            <a:pPr indent="-419100" lvl="0" marL="457200" rtl="0" algn="l">
              <a:spcBef>
                <a:spcPts val="0"/>
              </a:spcBef>
              <a:spcAft>
                <a:spcPts val="0"/>
              </a:spcAft>
              <a:buSzPts val="3000"/>
              <a:buChar char="•"/>
            </a:pPr>
            <a:r>
              <a:rPr lang="en-US" sz="3000"/>
              <a:t>When law enforcement agencies seek rapid adoption</a:t>
            </a:r>
            <a:endParaRPr sz="3000"/>
          </a:p>
          <a:p>
            <a:pPr indent="-419100" lvl="0" marL="457200" rtl="0" algn="l">
              <a:spcBef>
                <a:spcPts val="0"/>
              </a:spcBef>
              <a:spcAft>
                <a:spcPts val="0"/>
              </a:spcAft>
              <a:buSzPts val="3000"/>
              <a:buChar char="•"/>
            </a:pPr>
            <a:r>
              <a:rPr lang="en-US" sz="3000"/>
              <a:t>During increased public scrutiny of surveillance technologies</a:t>
            </a:r>
            <a:endParaRPr sz="3000"/>
          </a:p>
        </p:txBody>
      </p:sp>
      <p:pic>
        <p:nvPicPr>
          <p:cNvPr id="217" name="Google Shape;217;p8"/>
          <p:cNvPicPr preferRelativeResize="0"/>
          <p:nvPr/>
        </p:nvPicPr>
        <p:blipFill>
          <a:blip r:embed="rId3">
            <a:alphaModFix/>
          </a:blip>
          <a:stretch>
            <a:fillRect/>
          </a:stretch>
        </p:blipFill>
        <p:spPr>
          <a:xfrm>
            <a:off x="4264825" y="4068750"/>
            <a:ext cx="4879176" cy="2789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Why do the ethical issues occur?</a:t>
            </a:r>
            <a:endParaRPr/>
          </a:p>
        </p:txBody>
      </p:sp>
      <p:sp>
        <p:nvSpPr>
          <p:cNvPr id="223" name="Google Shape;22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sz="2800"/>
              <a:t>Pressure to capitalize on the rapid growth of AI markets</a:t>
            </a:r>
            <a:endParaRPr sz="2800"/>
          </a:p>
          <a:p>
            <a:pPr indent="-406400" lvl="0" marL="457200" rtl="0" algn="l">
              <a:spcBef>
                <a:spcPts val="0"/>
              </a:spcBef>
              <a:spcAft>
                <a:spcPts val="0"/>
              </a:spcAft>
              <a:buSzPts val="2800"/>
              <a:buChar char="•"/>
            </a:pPr>
            <a:r>
              <a:rPr lang="en-US" sz="2800"/>
              <a:t>Financial incentives and venture funding</a:t>
            </a:r>
            <a:endParaRPr sz="2800"/>
          </a:p>
          <a:p>
            <a:pPr indent="-406400" lvl="0" marL="457200" rtl="0" algn="l">
              <a:spcBef>
                <a:spcPts val="0"/>
              </a:spcBef>
              <a:spcAft>
                <a:spcPts val="0"/>
              </a:spcAft>
              <a:buSzPts val="2800"/>
              <a:buChar char="•"/>
            </a:pPr>
            <a:r>
              <a:rPr lang="en-US" sz="2800"/>
              <a:t>Belief that AI can:</a:t>
            </a:r>
            <a:endParaRPr sz="2800"/>
          </a:p>
          <a:p>
            <a:pPr indent="-381000" lvl="1" marL="914400" rtl="0" algn="l">
              <a:spcBef>
                <a:spcPts val="0"/>
              </a:spcBef>
              <a:spcAft>
                <a:spcPts val="0"/>
              </a:spcAft>
              <a:buSzPts val="2400"/>
              <a:buChar char="–"/>
            </a:pPr>
            <a:r>
              <a:rPr lang="en-US" sz="2400"/>
              <a:t>Reduce crime</a:t>
            </a:r>
            <a:endParaRPr sz="2400"/>
          </a:p>
          <a:p>
            <a:pPr indent="-381000" lvl="1" marL="914400" rtl="0" algn="l">
              <a:spcBef>
                <a:spcPts val="0"/>
              </a:spcBef>
              <a:spcAft>
                <a:spcPts val="0"/>
              </a:spcAft>
              <a:buSzPts val="2400"/>
              <a:buChar char="–"/>
            </a:pPr>
            <a:r>
              <a:rPr lang="en-US" sz="2400"/>
              <a:t>Improve border security</a:t>
            </a:r>
            <a:endParaRPr sz="2400"/>
          </a:p>
          <a:p>
            <a:pPr indent="-381000" lvl="1" marL="914400" rtl="0" algn="l">
              <a:spcBef>
                <a:spcPts val="0"/>
              </a:spcBef>
              <a:spcAft>
                <a:spcPts val="0"/>
              </a:spcAft>
              <a:buSzPts val="2400"/>
              <a:buChar char="–"/>
            </a:pPr>
            <a:r>
              <a:rPr lang="en-US" sz="2400"/>
              <a:t>Prevent terrorism</a:t>
            </a:r>
            <a:endParaRPr sz="2400"/>
          </a:p>
          <a:p>
            <a:pPr indent="-406400" lvl="0" marL="457200" rtl="0" algn="l">
              <a:spcBef>
                <a:spcPts val="0"/>
              </a:spcBef>
              <a:spcAft>
                <a:spcPts val="0"/>
              </a:spcAft>
              <a:buSzPts val="2800"/>
              <a:buChar char="•"/>
            </a:pPr>
            <a:r>
              <a:rPr lang="en-US" sz="2800"/>
              <a:t>Lack of enforced regulations governing AI deployment</a:t>
            </a:r>
            <a:endParaRPr sz="2800"/>
          </a:p>
          <a:p>
            <a:pPr indent="-406400" lvl="0" marL="457200" rtl="0" algn="l">
              <a:spcBef>
                <a:spcPts val="0"/>
              </a:spcBef>
              <a:spcAft>
                <a:spcPts val="0"/>
              </a:spcAft>
              <a:buSzPts val="2800"/>
              <a:buChar char="•"/>
            </a:pPr>
            <a:r>
              <a:rPr lang="en-US" sz="2800"/>
              <a:t>Desire for competitive advantage over other AI firms</a:t>
            </a:r>
            <a:endParaRPr sz="2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How can these issues be addressed?</a:t>
            </a:r>
            <a:endParaRPr/>
          </a:p>
        </p:txBody>
      </p:sp>
      <p:sp>
        <p:nvSpPr>
          <p:cNvPr id="229" name="Google Shape;229;p1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sz="2800"/>
              <a:t>Implement strict government regulations for AI surveillance</a:t>
            </a:r>
            <a:endParaRPr sz="2800"/>
          </a:p>
          <a:p>
            <a:pPr indent="-406400" lvl="0" marL="457200" rtl="0" algn="l">
              <a:spcBef>
                <a:spcPts val="0"/>
              </a:spcBef>
              <a:spcAft>
                <a:spcPts val="0"/>
              </a:spcAft>
              <a:buSzPts val="2800"/>
              <a:buChar char="•"/>
            </a:pPr>
            <a:r>
              <a:rPr lang="en-US" sz="2800"/>
              <a:t>Require minimum accuracy thresholds before deployment</a:t>
            </a:r>
            <a:endParaRPr sz="2800"/>
          </a:p>
          <a:p>
            <a:pPr indent="-406400" lvl="0" marL="457200" rtl="0" algn="l">
              <a:spcBef>
                <a:spcPts val="0"/>
              </a:spcBef>
              <a:spcAft>
                <a:spcPts val="0"/>
              </a:spcAft>
              <a:buSzPts val="2800"/>
              <a:buChar char="•"/>
            </a:pPr>
            <a:r>
              <a:rPr lang="en-US" sz="2800"/>
              <a:t>Conduct independent bias and performance audits</a:t>
            </a:r>
            <a:endParaRPr sz="2800"/>
          </a:p>
          <a:p>
            <a:pPr indent="-406400" lvl="0" marL="457200" rtl="0" algn="l">
              <a:spcBef>
                <a:spcPts val="0"/>
              </a:spcBef>
              <a:spcAft>
                <a:spcPts val="0"/>
              </a:spcAft>
              <a:buSzPts val="2800"/>
              <a:buChar char="•"/>
            </a:pPr>
            <a:r>
              <a:rPr lang="en-US" sz="2800"/>
              <a:t>Increase transparency of AI algorithms</a:t>
            </a:r>
            <a:endParaRPr sz="2800"/>
          </a:p>
          <a:p>
            <a:pPr indent="-406400" lvl="0" marL="457200" rtl="0" algn="l">
              <a:spcBef>
                <a:spcPts val="0"/>
              </a:spcBef>
              <a:spcAft>
                <a:spcPts val="0"/>
              </a:spcAft>
              <a:buSzPts val="2800"/>
              <a:buChar char="•"/>
            </a:pPr>
            <a:r>
              <a:rPr lang="en-US" sz="2800"/>
              <a:t>Limit AI use to post-incident analysis, not real-time identification</a:t>
            </a:r>
            <a:endParaRPr sz="2800"/>
          </a:p>
          <a:p>
            <a:pPr indent="-406400" lvl="0" marL="457200" rtl="0" algn="l">
              <a:spcBef>
                <a:spcPts val="0"/>
              </a:spcBef>
              <a:spcAft>
                <a:spcPts val="0"/>
              </a:spcAft>
              <a:buSzPts val="2800"/>
              <a:buChar char="•"/>
            </a:pPr>
            <a:r>
              <a:rPr lang="en-US" sz="2800"/>
              <a:t>Establish clear accountability for misuse or errors</a:t>
            </a:r>
            <a:endParaRPr sz="28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c8677718e0_0_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IEEE Codes Violated</a:t>
            </a:r>
            <a:endParaRPr/>
          </a:p>
        </p:txBody>
      </p:sp>
      <p:graphicFrame>
        <p:nvGraphicFramePr>
          <p:cNvPr id="235" name="Google Shape;235;g3c8677718e0_0_0"/>
          <p:cNvGraphicFramePr/>
          <p:nvPr/>
        </p:nvGraphicFramePr>
        <p:xfrm>
          <a:off x="952500" y="1504350"/>
          <a:ext cx="3000000" cy="3000000"/>
        </p:xfrm>
        <a:graphic>
          <a:graphicData uri="http://schemas.openxmlformats.org/drawingml/2006/table">
            <a:tbl>
              <a:tblPr>
                <a:noFill/>
                <a:tableStyleId>{3365516A-CBCE-4A81-B2A1-20CACE4A26FA}</a:tableStyleId>
              </a:tblPr>
              <a:tblGrid>
                <a:gridCol w="3619500"/>
                <a:gridCol w="3619500"/>
              </a:tblGrid>
              <a:tr h="860825">
                <a:tc>
                  <a:txBody>
                    <a:bodyPr/>
                    <a:lstStyle/>
                    <a:p>
                      <a:pPr indent="0" lvl="0" marL="0" rtl="0" algn="ctr">
                        <a:spcBef>
                          <a:spcPts val="0"/>
                        </a:spcBef>
                        <a:spcAft>
                          <a:spcPts val="0"/>
                        </a:spcAft>
                        <a:buNone/>
                      </a:pPr>
                      <a:r>
                        <a:rPr b="1" lang="en-US"/>
                        <a:t>IEEE Code Number &amp; Brief Description*</a:t>
                      </a:r>
                      <a:endParaRPr b="1"/>
                    </a:p>
                  </a:txBody>
                  <a:tcPr marT="91425" marB="91425" marR="91425" marL="91425" anchor="ctr">
                    <a:solidFill>
                      <a:srgbClr val="D9D9D9"/>
                    </a:solidFill>
                  </a:tcPr>
                </a:tc>
                <a:tc>
                  <a:txBody>
                    <a:bodyPr/>
                    <a:lstStyle/>
                    <a:p>
                      <a:pPr indent="0" lvl="0" marL="0" rtl="0" algn="ctr">
                        <a:spcBef>
                          <a:spcPts val="0"/>
                        </a:spcBef>
                        <a:spcAft>
                          <a:spcPts val="0"/>
                        </a:spcAft>
                        <a:buNone/>
                      </a:pPr>
                      <a:r>
                        <a:rPr b="1" lang="en-US"/>
                        <a:t>Reaso</a:t>
                      </a:r>
                      <a:r>
                        <a:rPr b="1" lang="en-US"/>
                        <a:t>n </a:t>
                      </a:r>
                      <a:endParaRPr b="1"/>
                    </a:p>
                  </a:txBody>
                  <a:tcPr marT="91425" marB="91425" marR="91425" marL="91425" anchor="ctr">
                    <a:solidFill>
                      <a:srgbClr val="D9D9D9"/>
                    </a:solidFill>
                  </a:tcPr>
                </a:tc>
              </a:tr>
              <a:tr h="1030700">
                <a:tc>
                  <a:txBody>
                    <a:bodyPr/>
                    <a:lstStyle/>
                    <a:p>
                      <a:pPr indent="0" lvl="0" marL="0" rtl="0" algn="just">
                        <a:spcBef>
                          <a:spcPts val="0"/>
                        </a:spcBef>
                        <a:spcAft>
                          <a:spcPts val="0"/>
                        </a:spcAft>
                        <a:buNone/>
                      </a:pPr>
                      <a:r>
                        <a:rPr b="1" lang="en-US"/>
                        <a:t>Code 1 &amp; 9:</a:t>
                      </a:r>
                      <a:r>
                        <a:rPr lang="en-US"/>
                        <a:t> </a:t>
                      </a:r>
                      <a:r>
                        <a:rPr i="1" lang="en-US"/>
                        <a:t>Prevent and disclose potential public endangerment, avoid if possible by false or </a:t>
                      </a:r>
                      <a:r>
                        <a:rPr i="1" lang="en-US"/>
                        <a:t>malicious</a:t>
                      </a:r>
                      <a:r>
                        <a:rPr i="1" lang="en-US"/>
                        <a:t> action.</a:t>
                      </a:r>
                      <a:endParaRPr i="1"/>
                    </a:p>
                  </a:txBody>
                  <a:tcPr marT="91425" marB="91425" marR="91425" marL="91425" anchor="ctr"/>
                </a:tc>
                <a:tc>
                  <a:txBody>
                    <a:bodyPr/>
                    <a:lstStyle/>
                    <a:p>
                      <a:pPr indent="0" lvl="0" marL="0" rtl="0" algn="just">
                        <a:spcBef>
                          <a:spcPts val="0"/>
                        </a:spcBef>
                        <a:spcAft>
                          <a:spcPts val="0"/>
                        </a:spcAft>
                        <a:buNone/>
                      </a:pPr>
                      <a:r>
                        <a:rPr lang="en-US"/>
                        <a:t>Failure to </a:t>
                      </a:r>
                      <a:r>
                        <a:rPr lang="en-US"/>
                        <a:t>protect</a:t>
                      </a:r>
                      <a:r>
                        <a:rPr lang="en-US"/>
                        <a:t> public safety due to high error rate</a:t>
                      </a:r>
                      <a:endParaRPr/>
                    </a:p>
                  </a:txBody>
                  <a:tcPr marT="91425" marB="91425" marR="91425" marL="91425" anchor="ctr"/>
                </a:tc>
              </a:tr>
              <a:tr h="860825">
                <a:tc>
                  <a:txBody>
                    <a:bodyPr/>
                    <a:lstStyle/>
                    <a:p>
                      <a:pPr indent="0" lvl="0" marL="0" rtl="0" algn="just">
                        <a:spcBef>
                          <a:spcPts val="0"/>
                        </a:spcBef>
                        <a:spcAft>
                          <a:spcPts val="0"/>
                        </a:spcAft>
                        <a:buNone/>
                      </a:pPr>
                      <a:r>
                        <a:rPr b="1" lang="en-US"/>
                        <a:t>Code 3: </a:t>
                      </a:r>
                      <a:r>
                        <a:rPr i="1" lang="en-US"/>
                        <a:t>To be honest and realistic claims based on available data</a:t>
                      </a:r>
                      <a:endParaRPr i="1"/>
                    </a:p>
                  </a:txBody>
                  <a:tcPr marT="91425" marB="91425" marR="91425" marL="91425" anchor="ctr"/>
                </a:tc>
                <a:tc>
                  <a:txBody>
                    <a:bodyPr/>
                    <a:lstStyle/>
                    <a:p>
                      <a:pPr indent="0" lvl="0" marL="0" rtl="0" algn="just">
                        <a:spcBef>
                          <a:spcPts val="0"/>
                        </a:spcBef>
                        <a:spcAft>
                          <a:spcPts val="0"/>
                        </a:spcAft>
                        <a:buNone/>
                      </a:pPr>
                      <a:r>
                        <a:rPr lang="en-US"/>
                        <a:t>Lack of honesty about AI limitations</a:t>
                      </a:r>
                      <a:endParaRPr/>
                    </a:p>
                  </a:txBody>
                  <a:tcPr marT="91425" marB="91425" marR="91425" marL="91425" anchor="ctr"/>
                </a:tc>
              </a:tr>
              <a:tr h="860825">
                <a:tc>
                  <a:txBody>
                    <a:bodyPr/>
                    <a:lstStyle/>
                    <a:p>
                      <a:pPr indent="0" lvl="0" marL="0" rtl="0" algn="just">
                        <a:spcBef>
                          <a:spcPts val="0"/>
                        </a:spcBef>
                        <a:spcAft>
                          <a:spcPts val="0"/>
                        </a:spcAft>
                        <a:buNone/>
                      </a:pPr>
                      <a:r>
                        <a:rPr b="1" lang="en-US"/>
                        <a:t>Code 5:</a:t>
                      </a:r>
                      <a:r>
                        <a:rPr lang="en-US"/>
                        <a:t> </a:t>
                      </a:r>
                      <a:r>
                        <a:rPr i="1" lang="en-US"/>
                        <a:t>Improve</a:t>
                      </a:r>
                      <a:r>
                        <a:rPr i="1" lang="en-US"/>
                        <a:t> the understanding of technology</a:t>
                      </a:r>
                      <a:endParaRPr i="1"/>
                    </a:p>
                  </a:txBody>
                  <a:tcPr marT="91425" marB="91425" marR="91425" marL="91425" anchor="ctr"/>
                </a:tc>
                <a:tc>
                  <a:txBody>
                    <a:bodyPr/>
                    <a:lstStyle/>
                    <a:p>
                      <a:pPr indent="0" lvl="0" marL="0" rtl="0" algn="just">
                        <a:spcBef>
                          <a:spcPts val="0"/>
                        </a:spcBef>
                        <a:spcAft>
                          <a:spcPts val="0"/>
                        </a:spcAft>
                        <a:buNone/>
                      </a:pPr>
                      <a:r>
                        <a:rPr lang="en-US"/>
                        <a:t>Inadequate discussion and consideration of societal consequences by leadership</a:t>
                      </a:r>
                      <a:endParaRPr/>
                    </a:p>
                  </a:txBody>
                  <a:tcPr marT="91425" marB="91425" marR="91425" marL="91425" anchor="ctr"/>
                </a:tc>
              </a:tr>
            </a:tbl>
          </a:graphicData>
        </a:graphic>
      </p:graphicFrame>
      <p:sp>
        <p:nvSpPr>
          <p:cNvPr id="236" name="Google Shape;236;g3c8677718e0_0_0"/>
          <p:cNvSpPr txBox="1"/>
          <p:nvPr/>
        </p:nvSpPr>
        <p:spPr>
          <a:xfrm>
            <a:off x="4572000" y="6299975"/>
            <a:ext cx="4836600" cy="2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a:t>* See [1] for full description of IEEE code of ethics.</a:t>
            </a:r>
            <a:endParaRPr i="1"/>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g3c8677718e0_0_7"/>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IEEE Codes Violated</a:t>
            </a:r>
            <a:endParaRPr/>
          </a:p>
          <a:p>
            <a:pPr indent="0" lvl="0" marL="0" rtl="0" algn="ctr">
              <a:spcBef>
                <a:spcPts val="0"/>
              </a:spcBef>
              <a:spcAft>
                <a:spcPts val="0"/>
              </a:spcAft>
              <a:buNone/>
            </a:pPr>
            <a:r>
              <a:t/>
            </a:r>
            <a:endParaRPr/>
          </a:p>
        </p:txBody>
      </p:sp>
      <p:sp>
        <p:nvSpPr>
          <p:cNvPr id="242" name="Google Shape;242;g3c8677718e0_0_7"/>
          <p:cNvSpPr txBox="1"/>
          <p:nvPr>
            <p:ph idx="1" type="body"/>
          </p:nvPr>
        </p:nvSpPr>
        <p:spPr>
          <a:xfrm>
            <a:off x="457200" y="3893875"/>
            <a:ext cx="8229600" cy="1696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2600"/>
              <a:t>Overall, the IEEE codes violated point to leadership treating this as routine software rollout rather than a significant and potentially defective paradigm shift in how law enforcement is conducted.</a:t>
            </a:r>
            <a:endParaRPr sz="2600"/>
          </a:p>
        </p:txBody>
      </p:sp>
      <p:graphicFrame>
        <p:nvGraphicFramePr>
          <p:cNvPr id="243" name="Google Shape;243;g3c8677718e0_0_7"/>
          <p:cNvGraphicFramePr/>
          <p:nvPr/>
        </p:nvGraphicFramePr>
        <p:xfrm>
          <a:off x="952500" y="1354800"/>
          <a:ext cx="3000000" cy="3000000"/>
        </p:xfrm>
        <a:graphic>
          <a:graphicData uri="http://schemas.openxmlformats.org/drawingml/2006/table">
            <a:tbl>
              <a:tblPr>
                <a:noFill/>
                <a:tableStyleId>{3365516A-CBCE-4A81-B2A1-20CACE4A26FA}</a:tableStyleId>
              </a:tblPr>
              <a:tblGrid>
                <a:gridCol w="3619500"/>
                <a:gridCol w="3619500"/>
              </a:tblGrid>
              <a:tr h="720225">
                <a:tc>
                  <a:txBody>
                    <a:bodyPr/>
                    <a:lstStyle/>
                    <a:p>
                      <a:pPr indent="0" lvl="0" marL="0" rtl="0" algn="ctr">
                        <a:spcBef>
                          <a:spcPts val="0"/>
                        </a:spcBef>
                        <a:spcAft>
                          <a:spcPts val="0"/>
                        </a:spcAft>
                        <a:buNone/>
                      </a:pPr>
                      <a:r>
                        <a:rPr b="1" lang="en-US"/>
                        <a:t>IEEE Code Number &amp; Brief Description*</a:t>
                      </a:r>
                      <a:endParaRPr b="1"/>
                    </a:p>
                  </a:txBody>
                  <a:tcPr marT="91425" marB="91425" marR="91425" marL="91425" anchor="ctr">
                    <a:solidFill>
                      <a:srgbClr val="D9D9D9"/>
                    </a:solidFill>
                  </a:tcPr>
                </a:tc>
                <a:tc>
                  <a:txBody>
                    <a:bodyPr/>
                    <a:lstStyle/>
                    <a:p>
                      <a:pPr indent="0" lvl="0" marL="0" rtl="0" algn="ctr">
                        <a:spcBef>
                          <a:spcPts val="0"/>
                        </a:spcBef>
                        <a:spcAft>
                          <a:spcPts val="0"/>
                        </a:spcAft>
                        <a:buNone/>
                      </a:pPr>
                      <a:r>
                        <a:rPr b="1" lang="en-US"/>
                        <a:t>Reason </a:t>
                      </a:r>
                      <a:endParaRPr b="1"/>
                    </a:p>
                  </a:txBody>
                  <a:tcPr marT="91425" marB="91425" marR="91425" marL="91425" anchor="ctr">
                    <a:solidFill>
                      <a:srgbClr val="D9D9D9"/>
                    </a:solidFill>
                  </a:tcPr>
                </a:tc>
              </a:tr>
              <a:tr h="862375">
                <a:tc>
                  <a:txBody>
                    <a:bodyPr/>
                    <a:lstStyle/>
                    <a:p>
                      <a:pPr indent="0" lvl="0" marL="0" rtl="0" algn="just">
                        <a:spcBef>
                          <a:spcPts val="0"/>
                        </a:spcBef>
                        <a:spcAft>
                          <a:spcPts val="0"/>
                        </a:spcAft>
                        <a:buNone/>
                      </a:pPr>
                      <a:r>
                        <a:rPr b="1" lang="en-US"/>
                        <a:t>Code 7:</a:t>
                      </a:r>
                      <a:r>
                        <a:rPr lang="en-US"/>
                        <a:t> </a:t>
                      </a:r>
                      <a:r>
                        <a:rPr i="1" lang="en-US"/>
                        <a:t>Seek, accept, offer honest criticism of technical work, acknowledge and correct errors</a:t>
                      </a:r>
                      <a:endParaRPr i="1"/>
                    </a:p>
                  </a:txBody>
                  <a:tcPr marT="91425" marB="91425" marR="91425" marL="91425" anchor="ctr"/>
                </a:tc>
                <a:tc>
                  <a:txBody>
                    <a:bodyPr/>
                    <a:lstStyle/>
                    <a:p>
                      <a:pPr indent="0" lvl="0" marL="0" rtl="0" algn="just">
                        <a:spcBef>
                          <a:spcPts val="0"/>
                        </a:spcBef>
                        <a:spcAft>
                          <a:spcPts val="0"/>
                        </a:spcAft>
                        <a:buNone/>
                      </a:pPr>
                      <a:r>
                        <a:rPr lang="en-US"/>
                        <a:t>Ignoring employee’s unrest and criticism about the proposed technology</a:t>
                      </a:r>
                      <a:endParaRPr/>
                    </a:p>
                  </a:txBody>
                  <a:tcPr marT="91425" marB="91425" marR="91425" marL="91425" anchor="ctr"/>
                </a:tc>
              </a:tr>
              <a:tr h="720225">
                <a:tc>
                  <a:txBody>
                    <a:bodyPr/>
                    <a:lstStyle/>
                    <a:p>
                      <a:pPr indent="0" lvl="0" marL="0" rtl="0" algn="just">
                        <a:spcBef>
                          <a:spcPts val="0"/>
                        </a:spcBef>
                        <a:spcAft>
                          <a:spcPts val="0"/>
                        </a:spcAft>
                        <a:buNone/>
                      </a:pPr>
                      <a:r>
                        <a:rPr b="1" lang="en-US"/>
                        <a:t>Code 8: </a:t>
                      </a:r>
                      <a:r>
                        <a:rPr i="1" lang="en-US"/>
                        <a:t>Treat all persons fairly, regardless of race, ethnicity, gender, etc.</a:t>
                      </a:r>
                      <a:endParaRPr i="1"/>
                    </a:p>
                  </a:txBody>
                  <a:tcPr marT="91425" marB="91425" marR="91425" marL="91425" anchor="ctr"/>
                </a:tc>
                <a:tc>
                  <a:txBody>
                    <a:bodyPr/>
                    <a:lstStyle/>
                    <a:p>
                      <a:pPr indent="0" lvl="0" marL="0" rtl="0" algn="just">
                        <a:spcBef>
                          <a:spcPts val="0"/>
                        </a:spcBef>
                        <a:spcAft>
                          <a:spcPts val="0"/>
                        </a:spcAft>
                        <a:buNone/>
                      </a:pPr>
                      <a:r>
                        <a:rPr lang="en-US"/>
                        <a:t>Discriminatory impact on marginalized communities</a:t>
                      </a:r>
                      <a:endParaRPr/>
                    </a:p>
                  </a:txBody>
                  <a:tcPr marT="91425" marB="91425" marR="91425" marL="91425" anchor="ctr"/>
                </a:tc>
              </a:tr>
            </a:tbl>
          </a:graphicData>
        </a:graphic>
      </p:graphicFrame>
      <p:sp>
        <p:nvSpPr>
          <p:cNvPr id="244" name="Google Shape;244;g3c8677718e0_0_7"/>
          <p:cNvSpPr txBox="1"/>
          <p:nvPr/>
        </p:nvSpPr>
        <p:spPr>
          <a:xfrm>
            <a:off x="4572000" y="6299975"/>
            <a:ext cx="4836600" cy="26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US"/>
              <a:t>* See [1] for full description of IEEE code of ethics.</a:t>
            </a:r>
            <a:endParaRPr i="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3c8677718e0_0_13"/>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Real-World Parallel: Palantir</a:t>
            </a:r>
            <a:endParaRPr/>
          </a:p>
        </p:txBody>
      </p:sp>
      <p:sp>
        <p:nvSpPr>
          <p:cNvPr id="250" name="Google Shape;250;g3c8677718e0_0_13"/>
          <p:cNvSpPr txBox="1"/>
          <p:nvPr>
            <p:ph idx="1" type="body"/>
          </p:nvPr>
        </p:nvSpPr>
        <p:spPr>
          <a:xfrm>
            <a:off x="457200" y="2835800"/>
            <a:ext cx="8229600" cy="2955600"/>
          </a:xfrm>
          <a:prstGeom prst="rect">
            <a:avLst/>
          </a:prstGeom>
        </p:spPr>
        <p:txBody>
          <a:bodyPr anchorCtr="0" anchor="t" bIns="45700" lIns="91425" spcFirstLastPara="1" rIns="91425" wrap="square" tIns="45700">
            <a:noAutofit/>
          </a:bodyPr>
          <a:lstStyle/>
          <a:p>
            <a:pPr indent="-393700" lvl="0" marL="457200" rtl="0" algn="l">
              <a:spcBef>
                <a:spcPts val="640"/>
              </a:spcBef>
              <a:spcAft>
                <a:spcPts val="0"/>
              </a:spcAft>
              <a:buSzPts val="2600"/>
              <a:buChar char="•"/>
            </a:pPr>
            <a:r>
              <a:rPr lang="en-US" sz="2600"/>
              <a:t>Company that builds software that enable government agencies to visualize and analyze massive datasets</a:t>
            </a:r>
            <a:endParaRPr sz="2600"/>
          </a:p>
          <a:p>
            <a:pPr indent="-393700" lvl="0" marL="457200" rtl="0" algn="l">
              <a:spcBef>
                <a:spcPts val="0"/>
              </a:spcBef>
              <a:spcAft>
                <a:spcPts val="0"/>
              </a:spcAft>
              <a:buSzPts val="2600"/>
              <a:buChar char="•"/>
            </a:pPr>
            <a:r>
              <a:rPr lang="en-US" sz="2600"/>
              <a:t>Recent concerns raised about Palantir’s partnerships with DHS and ICE. [2] [3]</a:t>
            </a:r>
            <a:endParaRPr sz="2600"/>
          </a:p>
          <a:p>
            <a:pPr indent="-393700" lvl="0" marL="457200" rtl="0" algn="l">
              <a:spcBef>
                <a:spcPts val="0"/>
              </a:spcBef>
              <a:spcAft>
                <a:spcPts val="0"/>
              </a:spcAft>
              <a:buSzPts val="2600"/>
              <a:buChar char="•"/>
            </a:pPr>
            <a:r>
              <a:rPr lang="en-US" sz="2600"/>
              <a:t>In 2017, Palantir technology was used by ICE to arrest parents and caregivers of unaccompanied children, harming children’s welfare [4]</a:t>
            </a:r>
            <a:endParaRPr sz="2600"/>
          </a:p>
        </p:txBody>
      </p:sp>
      <p:pic>
        <p:nvPicPr>
          <p:cNvPr id="251" name="Google Shape;251;g3c8677718e0_0_13"/>
          <p:cNvPicPr preferRelativeResize="0"/>
          <p:nvPr/>
        </p:nvPicPr>
        <p:blipFill>
          <a:blip r:embed="rId3">
            <a:alphaModFix/>
          </a:blip>
          <a:stretch>
            <a:fillRect/>
          </a:stretch>
        </p:blipFill>
        <p:spPr>
          <a:xfrm>
            <a:off x="1450975" y="1233250"/>
            <a:ext cx="2742277" cy="1432749"/>
          </a:xfrm>
          <a:prstGeom prst="rect">
            <a:avLst/>
          </a:prstGeom>
          <a:noFill/>
          <a:ln>
            <a:noFill/>
          </a:ln>
        </p:spPr>
      </p:pic>
      <p:pic>
        <p:nvPicPr>
          <p:cNvPr id="252" name="Google Shape;252;g3c8677718e0_0_13" title="3f3536e8d9aa963e1e33f84b76165fe7.png"/>
          <p:cNvPicPr preferRelativeResize="0"/>
          <p:nvPr/>
        </p:nvPicPr>
        <p:blipFill>
          <a:blip r:embed="rId4">
            <a:alphaModFix/>
          </a:blip>
          <a:stretch>
            <a:fillRect/>
          </a:stretch>
        </p:blipFill>
        <p:spPr>
          <a:xfrm>
            <a:off x="5391325" y="1063450"/>
            <a:ext cx="1678319" cy="16025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g3c8677718e0_0_32"/>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Real-World Parallel: Ring </a:t>
            </a:r>
            <a:r>
              <a:rPr lang="en-US"/>
              <a:t>Search Party</a:t>
            </a:r>
            <a:endParaRPr/>
          </a:p>
        </p:txBody>
      </p:sp>
      <p:sp>
        <p:nvSpPr>
          <p:cNvPr id="258" name="Google Shape;258;g3c8677718e0_0_32"/>
          <p:cNvSpPr txBox="1"/>
          <p:nvPr>
            <p:ph idx="1" type="body"/>
          </p:nvPr>
        </p:nvSpPr>
        <p:spPr>
          <a:xfrm>
            <a:off x="159575" y="1737425"/>
            <a:ext cx="4966500" cy="3715200"/>
          </a:xfrm>
          <a:prstGeom prst="rect">
            <a:avLst/>
          </a:prstGeom>
        </p:spPr>
        <p:txBody>
          <a:bodyPr anchorCtr="0" anchor="t" bIns="45700" lIns="91425" spcFirstLastPara="1" rIns="91425" wrap="square" tIns="45700">
            <a:noAutofit/>
          </a:bodyPr>
          <a:lstStyle/>
          <a:p>
            <a:pPr indent="-393700" lvl="0" marL="457200" rtl="0" algn="l">
              <a:spcBef>
                <a:spcPts val="640"/>
              </a:spcBef>
              <a:spcAft>
                <a:spcPts val="0"/>
              </a:spcAft>
              <a:buSzPts val="2600"/>
              <a:buChar char="•"/>
            </a:pPr>
            <a:r>
              <a:rPr lang="en-US" sz="2600"/>
              <a:t>Ring is an Amazon-owned company that makes hardware and software for smart home security.</a:t>
            </a:r>
            <a:endParaRPr sz="2600"/>
          </a:p>
          <a:p>
            <a:pPr indent="-393700" lvl="0" marL="457200" rtl="0" algn="l">
              <a:spcBef>
                <a:spcPts val="0"/>
              </a:spcBef>
              <a:spcAft>
                <a:spcPts val="0"/>
              </a:spcAft>
              <a:buSzPts val="2600"/>
              <a:buChar char="•"/>
            </a:pPr>
            <a:r>
              <a:rPr lang="en-US" sz="2600"/>
              <a:t>In 2026, they announced a partnership with Flock Security to develop “</a:t>
            </a:r>
            <a:r>
              <a:rPr lang="en-US" sz="2600"/>
              <a:t>Search Party</a:t>
            </a:r>
            <a:r>
              <a:rPr lang="en-US" sz="2600"/>
              <a:t>”</a:t>
            </a:r>
            <a:endParaRPr sz="2600"/>
          </a:p>
          <a:p>
            <a:pPr indent="-393700" lvl="0" marL="457200" rtl="0" algn="l">
              <a:spcBef>
                <a:spcPts val="0"/>
              </a:spcBef>
              <a:spcAft>
                <a:spcPts val="0"/>
              </a:spcAft>
              <a:buSzPts val="2600"/>
              <a:buChar char="•"/>
            </a:pPr>
            <a:r>
              <a:rPr lang="en-US" sz="2600"/>
              <a:t>In 2023, Ring employees allegedly surveilled customers, sparking mistrust [5]</a:t>
            </a:r>
            <a:endParaRPr sz="2600"/>
          </a:p>
        </p:txBody>
      </p:sp>
      <p:pic>
        <p:nvPicPr>
          <p:cNvPr id="259" name="Google Shape;259;g3c8677718e0_0_32" title="ce40e63caacc400d45c4a27aeb10e823.png"/>
          <p:cNvPicPr preferRelativeResize="0"/>
          <p:nvPr/>
        </p:nvPicPr>
        <p:blipFill>
          <a:blip r:embed="rId3">
            <a:alphaModFix/>
          </a:blip>
          <a:stretch>
            <a:fillRect/>
          </a:stretch>
        </p:blipFill>
        <p:spPr>
          <a:xfrm>
            <a:off x="5597513" y="4034976"/>
            <a:ext cx="3211950" cy="1834525"/>
          </a:xfrm>
          <a:prstGeom prst="rect">
            <a:avLst/>
          </a:prstGeom>
          <a:noFill/>
          <a:ln>
            <a:noFill/>
          </a:ln>
        </p:spPr>
      </p:pic>
      <p:pic>
        <p:nvPicPr>
          <p:cNvPr id="260" name="Google Shape;260;g3c8677718e0_0_32" title="Screenshot-2026-02-10-101237-1260x704.png"/>
          <p:cNvPicPr preferRelativeResize="0"/>
          <p:nvPr/>
        </p:nvPicPr>
        <p:blipFill>
          <a:blip r:embed="rId4">
            <a:alphaModFix/>
          </a:blip>
          <a:stretch>
            <a:fillRect/>
          </a:stretch>
        </p:blipFill>
        <p:spPr>
          <a:xfrm>
            <a:off x="5349300" y="1737425"/>
            <a:ext cx="3708375" cy="207197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Original Solution to the Case</a:t>
            </a:r>
            <a:endParaRPr/>
          </a:p>
        </p:txBody>
      </p:sp>
      <p:sp>
        <p:nvSpPr>
          <p:cNvPr id="266" name="Google Shape;266;p12"/>
          <p:cNvSpPr txBox="1"/>
          <p:nvPr>
            <p:ph idx="1" type="body"/>
          </p:nvPr>
        </p:nvSpPr>
        <p:spPr>
          <a:xfrm>
            <a:off x="457200" y="1417650"/>
            <a:ext cx="8229600" cy="45261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Company leadership favored continued development and deployment</a:t>
            </a:r>
            <a:endParaRPr/>
          </a:p>
          <a:p>
            <a:pPr indent="-342900" lvl="0" marL="342900" rtl="0" algn="l">
              <a:spcBef>
                <a:spcPts val="0"/>
              </a:spcBef>
              <a:spcAft>
                <a:spcPts val="0"/>
              </a:spcAft>
              <a:buClr>
                <a:schemeClr val="dk1"/>
              </a:buClr>
              <a:buSzPts val="3200"/>
              <a:buChar char="•"/>
            </a:pPr>
            <a:r>
              <a:rPr lang="en-US"/>
              <a:t>CIO argued against regulation to avoid slowing innovation</a:t>
            </a:r>
            <a:endParaRPr/>
          </a:p>
          <a:p>
            <a:pPr indent="-342900" lvl="0" marL="342900" rtl="0" algn="l">
              <a:spcBef>
                <a:spcPts val="0"/>
              </a:spcBef>
              <a:spcAft>
                <a:spcPts val="0"/>
              </a:spcAft>
              <a:buClr>
                <a:schemeClr val="dk1"/>
              </a:buClr>
              <a:buSzPts val="3200"/>
              <a:buChar char="•"/>
            </a:pPr>
            <a:r>
              <a:rPr lang="en-US"/>
              <a:t>BoD believed benefits outweighed ethical risks</a:t>
            </a:r>
            <a:endParaRPr/>
          </a:p>
          <a:p>
            <a:pPr indent="-342900" lvl="0" marL="342900" rtl="0" algn="l">
              <a:spcBef>
                <a:spcPts val="0"/>
              </a:spcBef>
              <a:spcAft>
                <a:spcPts val="0"/>
              </a:spcAft>
              <a:buClr>
                <a:schemeClr val="dk1"/>
              </a:buClr>
              <a:buSzPts val="3200"/>
              <a:buChar char="•"/>
            </a:pPr>
            <a:r>
              <a:rPr lang="en-US"/>
              <a:t>No clear safeguards or accuracy improvements before rollout</a:t>
            </a:r>
            <a:endParaRPr/>
          </a:p>
          <a:p>
            <a:pPr indent="-342900" lvl="0" marL="342900" rtl="0" algn="l">
              <a:spcBef>
                <a:spcPts val="0"/>
              </a:spcBef>
              <a:spcAft>
                <a:spcPts val="0"/>
              </a:spcAft>
              <a:buClr>
                <a:schemeClr val="dk1"/>
              </a:buClr>
              <a:buSzPts val="3200"/>
              <a:buChar char="•"/>
            </a:pPr>
            <a:r>
              <a:rPr lang="en-US"/>
              <a:t>Relied on law enforcement discretion rather than ethical controls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1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Team’s Proposed Solution</a:t>
            </a:r>
            <a:endParaRPr/>
          </a:p>
        </p:txBody>
      </p:sp>
      <p:sp>
        <p:nvSpPr>
          <p:cNvPr id="272" name="Google Shape;272;p13"/>
          <p:cNvSpPr txBox="1"/>
          <p:nvPr>
            <p:ph idx="1" type="body"/>
          </p:nvPr>
        </p:nvSpPr>
        <p:spPr>
          <a:xfrm>
            <a:off x="563050" y="1727175"/>
            <a:ext cx="8229600" cy="4526100"/>
          </a:xfrm>
          <a:prstGeom prst="rect">
            <a:avLst/>
          </a:prstGeom>
          <a:noFill/>
          <a:ln>
            <a:noFill/>
          </a:ln>
        </p:spPr>
        <p:txBody>
          <a:bodyPr anchorCtr="0" anchor="t" bIns="45700" lIns="91425" spcFirstLastPara="1" rIns="91425" wrap="square" tIns="45700">
            <a:noAutofit/>
          </a:bodyPr>
          <a:lstStyle/>
          <a:p>
            <a:pPr indent="-330200" lvl="0" marL="342900" rtl="0" algn="l">
              <a:spcBef>
                <a:spcPts val="0"/>
              </a:spcBef>
              <a:spcAft>
                <a:spcPts val="0"/>
              </a:spcAft>
              <a:buClr>
                <a:schemeClr val="dk1"/>
              </a:buClr>
              <a:buSzPts val="3000"/>
              <a:buChar char="•"/>
            </a:pPr>
            <a:r>
              <a:rPr lang="en-US" sz="3000"/>
              <a:t>Pause real-time deployment until accuracy exceeds 95%</a:t>
            </a:r>
            <a:endParaRPr sz="3000"/>
          </a:p>
          <a:p>
            <a:pPr indent="-330200" lvl="0" marL="342900" rtl="0" algn="l">
              <a:spcBef>
                <a:spcPts val="0"/>
              </a:spcBef>
              <a:spcAft>
                <a:spcPts val="0"/>
              </a:spcAft>
              <a:buClr>
                <a:schemeClr val="dk1"/>
              </a:buClr>
              <a:buSzPts val="3000"/>
              <a:buChar char="•"/>
            </a:pPr>
            <a:r>
              <a:rPr lang="en-US" sz="3000"/>
              <a:t>Mandatory third-party audits for bias and fairness</a:t>
            </a:r>
            <a:endParaRPr sz="3000"/>
          </a:p>
          <a:p>
            <a:pPr indent="-330200" lvl="0" marL="342900" rtl="0" algn="l">
              <a:spcBef>
                <a:spcPts val="0"/>
              </a:spcBef>
              <a:spcAft>
                <a:spcPts val="0"/>
              </a:spcAft>
              <a:buClr>
                <a:schemeClr val="dk1"/>
              </a:buClr>
              <a:buSzPts val="3000"/>
              <a:buChar char="•"/>
            </a:pPr>
            <a:r>
              <a:rPr lang="en-US" sz="3000"/>
              <a:t>Clear federal regulations for AI surveillance use</a:t>
            </a:r>
            <a:endParaRPr sz="3000"/>
          </a:p>
          <a:p>
            <a:pPr indent="-330200" lvl="0" marL="342900" rtl="0" algn="l">
              <a:spcBef>
                <a:spcPts val="0"/>
              </a:spcBef>
              <a:spcAft>
                <a:spcPts val="0"/>
              </a:spcAft>
              <a:buClr>
                <a:schemeClr val="dk1"/>
              </a:buClr>
              <a:buSzPts val="3000"/>
              <a:buChar char="•"/>
            </a:pPr>
            <a:r>
              <a:rPr lang="en-US" sz="3000"/>
              <a:t>Restrict use to serious crimes only</a:t>
            </a:r>
            <a:endParaRPr sz="3000"/>
          </a:p>
          <a:p>
            <a:pPr indent="-330200" lvl="0" marL="342900" rtl="0" algn="l">
              <a:spcBef>
                <a:spcPts val="0"/>
              </a:spcBef>
              <a:spcAft>
                <a:spcPts val="0"/>
              </a:spcAft>
              <a:buClr>
                <a:schemeClr val="dk1"/>
              </a:buClr>
              <a:buSzPts val="3000"/>
              <a:buChar char="•"/>
            </a:pPr>
            <a:r>
              <a:rPr lang="en-US" sz="3000"/>
              <a:t>Require warrants and transparency reports</a:t>
            </a:r>
            <a:endParaRPr sz="3000"/>
          </a:p>
          <a:p>
            <a:pPr indent="-330200" lvl="0" marL="342900" rtl="0" algn="l">
              <a:spcBef>
                <a:spcPts val="0"/>
              </a:spcBef>
              <a:spcAft>
                <a:spcPts val="0"/>
              </a:spcAft>
              <a:buClr>
                <a:schemeClr val="dk1"/>
              </a:buClr>
              <a:buSzPts val="3000"/>
              <a:buChar char="•"/>
            </a:pPr>
            <a:r>
              <a:rPr lang="en-US" sz="3000"/>
              <a:t>Create ethics review boards within AI companies</a:t>
            </a:r>
            <a:endParaRPr sz="3000"/>
          </a:p>
          <a:p>
            <a:pPr indent="-330200" lvl="0" marL="342900" rtl="0" algn="l">
              <a:spcBef>
                <a:spcPts val="0"/>
              </a:spcBef>
              <a:spcAft>
                <a:spcPts val="0"/>
              </a:spcAft>
              <a:buClr>
                <a:schemeClr val="dk1"/>
              </a:buClr>
              <a:buSzPts val="3000"/>
              <a:buChar char="•"/>
            </a:pPr>
            <a:r>
              <a:rPr lang="en-US" sz="3000"/>
              <a:t>Ongoing monitoring and public accountability</a:t>
            </a:r>
            <a:endParaRPr sz="3000"/>
          </a:p>
          <a:p>
            <a:pPr indent="-139700" lvl="0" marL="342900" rtl="0" algn="l">
              <a:spcBef>
                <a:spcPts val="640"/>
              </a:spcBef>
              <a:spcAft>
                <a:spcPts val="0"/>
              </a:spcAft>
              <a:buClr>
                <a:schemeClr val="dk1"/>
              </a:buClr>
              <a:buSzPts val="32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4"/>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Discussion</a:t>
            </a:r>
            <a:endParaRPr/>
          </a:p>
        </p:txBody>
      </p:sp>
      <p:sp>
        <p:nvSpPr>
          <p:cNvPr id="278" name="Google Shape;278;p14"/>
          <p:cNvSpPr txBox="1"/>
          <p:nvPr>
            <p:ph idx="1" type="body"/>
          </p:nvPr>
        </p:nvSpPr>
        <p:spPr>
          <a:xfrm>
            <a:off x="457200" y="1165950"/>
            <a:ext cx="8229600" cy="4526100"/>
          </a:xfrm>
          <a:prstGeom prst="rect">
            <a:avLst/>
          </a:prstGeom>
          <a:noFill/>
          <a:ln>
            <a:noFill/>
          </a:ln>
        </p:spPr>
        <p:txBody>
          <a:bodyPr anchorCtr="0" anchor="t" bIns="45700" lIns="91425" spcFirstLastPara="1" rIns="91425" wrap="square" tIns="45700">
            <a:noAutofit/>
          </a:bodyPr>
          <a:lstStyle/>
          <a:p>
            <a:pPr indent="-330200" lvl="0" marL="342900" rtl="0" algn="l">
              <a:spcBef>
                <a:spcPts val="0"/>
              </a:spcBef>
              <a:spcAft>
                <a:spcPts val="0"/>
              </a:spcAft>
              <a:buClr>
                <a:schemeClr val="dk1"/>
              </a:buClr>
              <a:buSzPts val="3000"/>
              <a:buChar char="•"/>
            </a:pPr>
            <a:r>
              <a:rPr lang="en-US" sz="3000"/>
              <a:t>Should AI be allowed in policing before it is fully accurate?</a:t>
            </a:r>
            <a:endParaRPr sz="3000"/>
          </a:p>
          <a:p>
            <a:pPr indent="-330200" lvl="0" marL="342900" rtl="0" algn="l">
              <a:spcBef>
                <a:spcPts val="0"/>
              </a:spcBef>
              <a:spcAft>
                <a:spcPts val="0"/>
              </a:spcAft>
              <a:buClr>
                <a:schemeClr val="dk1"/>
              </a:buClr>
              <a:buSzPts val="3000"/>
              <a:buChar char="•"/>
            </a:pPr>
            <a:r>
              <a:rPr lang="en-US" sz="3000"/>
              <a:t>Can public safety benefits justify privacy trade-offs?</a:t>
            </a:r>
            <a:endParaRPr sz="3000"/>
          </a:p>
          <a:p>
            <a:pPr indent="-330200" lvl="0" marL="342900" rtl="0" algn="l">
              <a:spcBef>
                <a:spcPts val="0"/>
              </a:spcBef>
              <a:spcAft>
                <a:spcPts val="0"/>
              </a:spcAft>
              <a:buClr>
                <a:schemeClr val="dk1"/>
              </a:buClr>
              <a:buSzPts val="3000"/>
              <a:buChar char="•"/>
            </a:pPr>
            <a:r>
              <a:rPr lang="en-US" sz="3000"/>
              <a:t>Who should regulate AI: companies or governments?</a:t>
            </a:r>
            <a:endParaRPr sz="3000"/>
          </a:p>
        </p:txBody>
      </p:sp>
      <p:pic>
        <p:nvPicPr>
          <p:cNvPr id="279" name="Google Shape;279;p14"/>
          <p:cNvPicPr preferRelativeResize="0"/>
          <p:nvPr/>
        </p:nvPicPr>
        <p:blipFill>
          <a:blip r:embed="rId4">
            <a:alphaModFix/>
          </a:blip>
          <a:stretch>
            <a:fillRect/>
          </a:stretch>
        </p:blipFill>
        <p:spPr>
          <a:xfrm>
            <a:off x="4572000" y="3951333"/>
            <a:ext cx="3818774" cy="27268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1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4400"/>
              <a:buFont typeface="Calibri"/>
              <a:buNone/>
            </a:pPr>
            <a:r>
              <a:rPr lang="en-US"/>
              <a:t>Conclusions</a:t>
            </a:r>
            <a:endParaRPr/>
          </a:p>
        </p:txBody>
      </p:sp>
      <p:sp>
        <p:nvSpPr>
          <p:cNvPr id="285" name="Google Shape;285;p15"/>
          <p:cNvSpPr txBox="1"/>
          <p:nvPr>
            <p:ph idx="1" type="body"/>
          </p:nvPr>
        </p:nvSpPr>
        <p:spPr>
          <a:xfrm>
            <a:off x="457200" y="996663"/>
            <a:ext cx="8229600" cy="4526100"/>
          </a:xfrm>
          <a:prstGeom prst="rect">
            <a:avLst/>
          </a:prstGeom>
          <a:noFill/>
          <a:ln>
            <a:noFill/>
          </a:ln>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sz="2800"/>
              <a:t>AI facial recognition presents serious ethical risks</a:t>
            </a:r>
            <a:endParaRPr sz="2800"/>
          </a:p>
          <a:p>
            <a:pPr indent="-406400" lvl="0" marL="457200" rtl="0" algn="l">
              <a:spcBef>
                <a:spcPts val="0"/>
              </a:spcBef>
              <a:spcAft>
                <a:spcPts val="0"/>
              </a:spcAft>
              <a:buSzPts val="2800"/>
              <a:buChar char="•"/>
            </a:pPr>
            <a:r>
              <a:rPr lang="en-US" sz="2800"/>
              <a:t>High error rates make real-time deployment dangerous</a:t>
            </a:r>
            <a:endParaRPr sz="2800"/>
          </a:p>
          <a:p>
            <a:pPr indent="-406400" lvl="0" marL="457200" rtl="0" algn="l">
              <a:spcBef>
                <a:spcPts val="0"/>
              </a:spcBef>
              <a:spcAft>
                <a:spcPts val="0"/>
              </a:spcAft>
              <a:buSzPts val="2800"/>
              <a:buChar char="•"/>
            </a:pPr>
            <a:r>
              <a:rPr lang="en-US" sz="2800"/>
              <a:t>Marginalized communities face disproportionate harm</a:t>
            </a:r>
            <a:endParaRPr sz="2800"/>
          </a:p>
          <a:p>
            <a:pPr indent="-406400" lvl="0" marL="457200" rtl="0" algn="l">
              <a:spcBef>
                <a:spcPts val="0"/>
              </a:spcBef>
              <a:spcAft>
                <a:spcPts val="0"/>
              </a:spcAft>
              <a:buSzPts val="2800"/>
              <a:buChar char="•"/>
            </a:pPr>
            <a:r>
              <a:rPr lang="en-US" sz="2800"/>
              <a:t>IEEE ethical principles require safety, fairness, and transparency</a:t>
            </a:r>
            <a:endParaRPr sz="2800"/>
          </a:p>
          <a:p>
            <a:pPr indent="-406400" lvl="0" marL="457200" rtl="0" algn="l">
              <a:spcBef>
                <a:spcPts val="0"/>
              </a:spcBef>
              <a:spcAft>
                <a:spcPts val="0"/>
              </a:spcAft>
              <a:buSzPts val="2800"/>
              <a:buChar char="•"/>
            </a:pPr>
            <a:r>
              <a:rPr lang="en-US" sz="2800"/>
              <a:t>Responsible innovation must balance:</a:t>
            </a:r>
            <a:endParaRPr sz="2800"/>
          </a:p>
          <a:p>
            <a:pPr indent="-406400" lvl="1" marL="914400" rtl="0" algn="l">
              <a:spcBef>
                <a:spcPts val="0"/>
              </a:spcBef>
              <a:spcAft>
                <a:spcPts val="0"/>
              </a:spcAft>
              <a:buSzPts val="2800"/>
              <a:buChar char="–"/>
            </a:pPr>
            <a:r>
              <a:rPr lang="en-US"/>
              <a:t>Public safety</a:t>
            </a:r>
            <a:endParaRPr/>
          </a:p>
          <a:p>
            <a:pPr indent="-406400" lvl="1" marL="914400" rtl="0" algn="l">
              <a:spcBef>
                <a:spcPts val="0"/>
              </a:spcBef>
              <a:spcAft>
                <a:spcPts val="0"/>
              </a:spcAft>
              <a:buSzPts val="2800"/>
              <a:buChar char="–"/>
            </a:pPr>
            <a:r>
              <a:rPr lang="en-US"/>
              <a:t>Civil liberties</a:t>
            </a:r>
            <a:endParaRPr/>
          </a:p>
          <a:p>
            <a:pPr indent="-406400" lvl="1" marL="914400" rtl="0" algn="l">
              <a:spcBef>
                <a:spcPts val="0"/>
              </a:spcBef>
              <a:spcAft>
                <a:spcPts val="0"/>
              </a:spcAft>
              <a:buSzPts val="2800"/>
              <a:buChar char="–"/>
            </a:pPr>
            <a:r>
              <a:rPr lang="en-US"/>
              <a:t>Ethical engineering practices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3c84d934487_0_0"/>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Questions?</a:t>
            </a:r>
            <a:endParaRPr/>
          </a:p>
        </p:txBody>
      </p:sp>
      <p:sp>
        <p:nvSpPr>
          <p:cNvPr id="291" name="Google Shape;291;g3c84d934487_0_0"/>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640"/>
              </a:spcBef>
              <a:spcAft>
                <a:spcPts val="0"/>
              </a:spcAft>
              <a:buNone/>
            </a:pPr>
            <a:r>
              <a:t/>
            </a:r>
            <a:endParaRPr/>
          </a:p>
        </p:txBody>
      </p:sp>
      <p:pic>
        <p:nvPicPr>
          <p:cNvPr descr="Question mark sign. isolated white (Provided by Getty Images)" id="292" name="Google Shape;292;g3c84d934487_0_0"/>
          <p:cNvPicPr preferRelativeResize="0"/>
          <p:nvPr/>
        </p:nvPicPr>
        <p:blipFill>
          <a:blip r:embed="rId3">
            <a:alphaModFix/>
          </a:blip>
          <a:stretch>
            <a:fillRect/>
          </a:stretch>
        </p:blipFill>
        <p:spPr>
          <a:xfrm>
            <a:off x="1963750" y="1779475"/>
            <a:ext cx="5216502" cy="39123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g3c8677718e0_0_18"/>
          <p:cNvSpPr txBox="1"/>
          <p:nvPr>
            <p:ph type="title"/>
          </p:nvPr>
        </p:nvSpPr>
        <p:spPr>
          <a:xfrm>
            <a:off x="457200" y="274638"/>
            <a:ext cx="8229600" cy="1143000"/>
          </a:xfrm>
          <a:prstGeom prst="rect">
            <a:avLst/>
          </a:prstGeom>
        </p:spPr>
        <p:txBody>
          <a:bodyPr anchorCtr="0" anchor="t" bIns="45700" lIns="91425" spcFirstLastPara="1" rIns="91425" wrap="square" tIns="45700">
            <a:noAutofit/>
          </a:bodyPr>
          <a:lstStyle/>
          <a:p>
            <a:pPr indent="0" lvl="0" marL="0" rtl="0" algn="ctr">
              <a:spcBef>
                <a:spcPts val="0"/>
              </a:spcBef>
              <a:spcAft>
                <a:spcPts val="0"/>
              </a:spcAft>
              <a:buNone/>
            </a:pPr>
            <a:r>
              <a:rPr lang="en-US"/>
              <a:t>References</a:t>
            </a:r>
            <a:endParaRPr/>
          </a:p>
        </p:txBody>
      </p:sp>
      <p:sp>
        <p:nvSpPr>
          <p:cNvPr id="298" name="Google Shape;298;g3c8677718e0_0_18"/>
          <p:cNvSpPr txBox="1"/>
          <p:nvPr>
            <p:ph idx="1" type="body"/>
          </p:nvPr>
        </p:nvSpPr>
        <p:spPr>
          <a:xfrm>
            <a:off x="140550" y="1600200"/>
            <a:ext cx="8546400" cy="4526100"/>
          </a:xfrm>
          <a:prstGeom prst="rect">
            <a:avLst/>
          </a:prstGeom>
        </p:spPr>
        <p:txBody>
          <a:bodyPr anchorCtr="0" anchor="t" bIns="45700" lIns="91425" spcFirstLastPara="1" rIns="91425" wrap="square" tIns="45700">
            <a:noAutofit/>
          </a:bodyPr>
          <a:lstStyle/>
          <a:p>
            <a:pPr indent="-330200" lvl="0" marL="457200" rtl="0" algn="l">
              <a:spcBef>
                <a:spcPts val="640"/>
              </a:spcBef>
              <a:spcAft>
                <a:spcPts val="0"/>
              </a:spcAft>
              <a:buSzPts val="1600"/>
              <a:buChar char="•"/>
            </a:pPr>
            <a:r>
              <a:rPr lang="en-US" sz="1600"/>
              <a:t>[1] IEEE Code of Ethics, </a:t>
            </a:r>
            <a:r>
              <a:rPr lang="en-US" sz="1600" u="sng">
                <a:solidFill>
                  <a:schemeClr val="hlink"/>
                </a:solidFill>
                <a:hlinkClick r:id="rId3"/>
              </a:rPr>
              <a:t>https://www.ieee.org/about/corporate/governance/p7-8</a:t>
            </a:r>
            <a:endParaRPr sz="1600"/>
          </a:p>
          <a:p>
            <a:pPr indent="-330200" lvl="0" marL="457200" rtl="0" algn="l">
              <a:spcBef>
                <a:spcPts val="0"/>
              </a:spcBef>
              <a:spcAft>
                <a:spcPts val="0"/>
              </a:spcAft>
              <a:buSzPts val="1600"/>
              <a:buChar char="•"/>
            </a:pPr>
            <a:r>
              <a:rPr lang="en-US" sz="1600"/>
              <a:t>[2] ICE to use immigrationsOS by Palantir, </a:t>
            </a:r>
            <a:r>
              <a:rPr lang="en-US" sz="1600" u="sng">
                <a:solidFill>
                  <a:schemeClr val="hlink"/>
                </a:solidFill>
                <a:hlinkClick r:id="rId4"/>
              </a:rPr>
              <a:t>https://www.americanimmigrationcouncil.org/blog/ice-immigrationos-palantir-ai-track-immigrants/</a:t>
            </a:r>
            <a:endParaRPr sz="1600"/>
          </a:p>
          <a:p>
            <a:pPr indent="-330200" lvl="0" marL="457200" rtl="0" algn="l">
              <a:spcBef>
                <a:spcPts val="0"/>
              </a:spcBef>
              <a:spcAft>
                <a:spcPts val="0"/>
              </a:spcAft>
              <a:buSzPts val="1600"/>
              <a:buChar char="•"/>
            </a:pPr>
            <a:r>
              <a:rPr lang="en-US" sz="1600"/>
              <a:t>[3] Documents offer </a:t>
            </a:r>
            <a:r>
              <a:rPr lang="en-US" sz="1600"/>
              <a:t>insights</a:t>
            </a:r>
            <a:r>
              <a:rPr lang="en-US" sz="1600"/>
              <a:t> on ICE-Palantir relationship, </a:t>
            </a:r>
            <a:r>
              <a:rPr lang="en-US" sz="1600" u="sng">
                <a:solidFill>
                  <a:schemeClr val="hlink"/>
                </a:solidFill>
                <a:hlinkClick r:id="rId5"/>
              </a:rPr>
              <a:t>https://www.theguardian.com/us-news/ng-interactive/2025/sep/22/ice-palantir-data</a:t>
            </a:r>
            <a:endParaRPr sz="1600"/>
          </a:p>
          <a:p>
            <a:pPr indent="-330200" lvl="0" marL="457200" rtl="0" algn="l">
              <a:spcBef>
                <a:spcPts val="0"/>
              </a:spcBef>
              <a:spcAft>
                <a:spcPts val="0"/>
              </a:spcAft>
              <a:buSzPts val="1600"/>
              <a:buChar char="•"/>
            </a:pPr>
            <a:r>
              <a:rPr lang="en-US" sz="1600"/>
              <a:t>[4] Palantir Technologies Contracts Raise Human Rights Concerns, </a:t>
            </a:r>
            <a:r>
              <a:rPr lang="en-US" sz="1600" u="sng">
                <a:solidFill>
                  <a:schemeClr val="hlink"/>
                </a:solidFill>
                <a:hlinkClick r:id="rId6"/>
              </a:rPr>
              <a:t>https://www.amnestyusa.org/press-releases/palantirs-contracts-with-ice-raise-human-rights-concerns-around-direct-listing/</a:t>
            </a:r>
            <a:endParaRPr sz="1600"/>
          </a:p>
          <a:p>
            <a:pPr indent="-330200" lvl="0" marL="457200" rtl="0" algn="l">
              <a:spcBef>
                <a:spcPts val="0"/>
              </a:spcBef>
              <a:spcAft>
                <a:spcPts val="0"/>
              </a:spcAft>
              <a:buSzPts val="1600"/>
              <a:buChar char="•"/>
            </a:pPr>
            <a:r>
              <a:rPr lang="en-US" sz="1600"/>
              <a:t>[5] FTC Says Ring Employees Illegally Surveilled Customers, </a:t>
            </a:r>
            <a:r>
              <a:rPr lang="en-US" sz="1600" u="sng">
                <a:solidFill>
                  <a:schemeClr val="hlink"/>
                </a:solidFill>
                <a:hlinkClick r:id="rId7"/>
              </a:rPr>
              <a:t>https://www.ftc.gov/news-events/news/press-releases/2023/05/ftc-says-ring-employees-illegally-surveilled-customers-failed-stop-hackers-taking-control-users</a:t>
            </a:r>
            <a:endParaRPr sz="1600"/>
          </a:p>
          <a:p>
            <a:pPr indent="0" lvl="0" marL="0" rtl="0" algn="l">
              <a:spcBef>
                <a:spcPts val="640"/>
              </a:spcBef>
              <a:spcAft>
                <a:spcPts val="0"/>
              </a:spcAft>
              <a:buNone/>
            </a:pPr>
            <a:r>
              <a:t/>
            </a:r>
            <a:endParaRPr sz="16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2012-01-25T17:16:42Z</dcterms:created>
  <dc:creator>Megan Hopkins</dc:creator>
</cp:coreProperties>
</file>